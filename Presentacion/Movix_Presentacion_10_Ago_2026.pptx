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ás Azofeifa" userId="a105d2f67a7af5de" providerId="LiveId" clId="{DFE61046-DF64-4E4A-8E75-50DE415B0D7F}"/>
    <pc:docChg chg="undo custSel modSld">
      <pc:chgData name="Tomás Azofeifa" userId="a105d2f67a7af5de" providerId="LiveId" clId="{DFE61046-DF64-4E4A-8E75-50DE415B0D7F}" dt="2026-08-10T01:33:21.628" v="97" actId="14100"/>
      <pc:docMkLst>
        <pc:docMk/>
      </pc:docMkLst>
      <pc:sldChg chg="delSp modSp mod">
        <pc:chgData name="Tomás Azofeifa" userId="a105d2f67a7af5de" providerId="LiveId" clId="{DFE61046-DF64-4E4A-8E75-50DE415B0D7F}" dt="2026-08-10T00:48:42.559" v="5" actId="403"/>
        <pc:sldMkLst>
          <pc:docMk/>
          <pc:sldMk cId="0" sldId="256"/>
        </pc:sldMkLst>
        <pc:spChg chg="del">
          <ac:chgData name="Tomás Azofeifa" userId="a105d2f67a7af5de" providerId="LiveId" clId="{DFE61046-DF64-4E4A-8E75-50DE415B0D7F}" dt="2026-08-10T00:48:15.412" v="2" actId="478"/>
          <ac:spMkLst>
            <pc:docMk/>
            <pc:sldMk cId="0" sldId="256"/>
            <ac:spMk id="7" creationId="{00000000-0000-0000-0000-000000000000}"/>
          </ac:spMkLst>
        </pc:spChg>
        <pc:spChg chg="del mod">
          <ac:chgData name="Tomás Azofeifa" userId="a105d2f67a7af5de" providerId="LiveId" clId="{DFE61046-DF64-4E4A-8E75-50DE415B0D7F}" dt="2026-08-10T00:48:13.936" v="1" actId="478"/>
          <ac:spMkLst>
            <pc:docMk/>
            <pc:sldMk cId="0" sldId="256"/>
            <ac:spMk id="8" creationId="{00000000-0000-0000-0000-000000000000}"/>
          </ac:spMkLst>
        </pc:spChg>
        <pc:spChg chg="mod">
          <ac:chgData name="Tomás Azofeifa" userId="a105d2f67a7af5de" providerId="LiveId" clId="{DFE61046-DF64-4E4A-8E75-50DE415B0D7F}" dt="2026-08-10T00:48:42.559" v="5" actId="403"/>
          <ac:spMkLst>
            <pc:docMk/>
            <pc:sldMk cId="0" sldId="256"/>
            <ac:spMk id="15" creationId="{00000000-0000-0000-0000-000000000000}"/>
          </ac:spMkLst>
        </pc:spChg>
        <pc:spChg chg="mod">
          <ac:chgData name="Tomás Azofeifa" userId="a105d2f67a7af5de" providerId="LiveId" clId="{DFE61046-DF64-4E4A-8E75-50DE415B0D7F}" dt="2026-08-10T00:48:24.373" v="3" actId="6549"/>
          <ac:spMkLst>
            <pc:docMk/>
            <pc:sldMk cId="0" sldId="256"/>
            <ac:spMk id="17" creationId="{00000000-0000-0000-0000-000000000000}"/>
          </ac:spMkLst>
        </pc:spChg>
        <pc:picChg chg="mod">
          <ac:chgData name="Tomás Azofeifa" userId="a105d2f67a7af5de" providerId="LiveId" clId="{DFE61046-DF64-4E4A-8E75-50DE415B0D7F}" dt="2026-08-10T00:48:30.730" v="4" actId="1076"/>
          <ac:picMkLst>
            <pc:docMk/>
            <pc:sldMk cId="0" sldId="256"/>
            <ac:picMk id="16" creationId="{00000000-0000-0000-0000-000000000000}"/>
          </ac:picMkLst>
        </pc:picChg>
      </pc:sldChg>
      <pc:sldChg chg="delSp modSp mod">
        <pc:chgData name="Tomás Azofeifa" userId="a105d2f67a7af5de" providerId="LiveId" clId="{DFE61046-DF64-4E4A-8E75-50DE415B0D7F}" dt="2026-08-10T01:32:27.978" v="92" actId="20577"/>
        <pc:sldMkLst>
          <pc:docMk/>
          <pc:sldMk cId="0" sldId="257"/>
        </pc:sldMkLst>
        <pc:spChg chg="mod">
          <ac:chgData name="Tomás Azofeifa" userId="a105d2f67a7af5de" providerId="LiveId" clId="{DFE61046-DF64-4E4A-8E75-50DE415B0D7F}" dt="2026-08-10T01:32:27.978" v="92" actId="20577"/>
          <ac:spMkLst>
            <pc:docMk/>
            <pc:sldMk cId="0" sldId="257"/>
            <ac:spMk id="2" creationId="{00000000-0000-0000-0000-000000000000}"/>
          </ac:spMkLst>
        </pc:spChg>
        <pc:spChg chg="mod">
          <ac:chgData name="Tomás Azofeifa" userId="a105d2f67a7af5de" providerId="LiveId" clId="{DFE61046-DF64-4E4A-8E75-50DE415B0D7F}" dt="2026-08-10T00:49:33.224" v="40" actId="207"/>
          <ac:spMkLst>
            <pc:docMk/>
            <pc:sldMk cId="0" sldId="257"/>
            <ac:spMk id="5" creationId="{00000000-0000-0000-0000-000000000000}"/>
          </ac:spMkLst>
        </pc:spChg>
        <pc:spChg chg="del">
          <ac:chgData name="Tomás Azofeifa" userId="a105d2f67a7af5de" providerId="LiveId" clId="{DFE61046-DF64-4E4A-8E75-50DE415B0D7F}" dt="2026-08-10T00:49:47.047" v="41" actId="478"/>
          <ac:spMkLst>
            <pc:docMk/>
            <pc:sldMk cId="0" sldId="257"/>
            <ac:spMk id="55" creationId="{00000000-0000-0000-0000-000000000000}"/>
          </ac:spMkLst>
        </pc:spChg>
      </pc:sldChg>
      <pc:sldChg chg="delSp modSp mod">
        <pc:chgData name="Tomás Azofeifa" userId="a105d2f67a7af5de" providerId="LiveId" clId="{DFE61046-DF64-4E4A-8E75-50DE415B0D7F}" dt="2026-08-10T01:32:33.803" v="94" actId="27636"/>
        <pc:sldMkLst>
          <pc:docMk/>
          <pc:sldMk cId="0" sldId="258"/>
        </pc:sldMkLst>
        <pc:spChg chg="mod">
          <ac:chgData name="Tomás Azofeifa" userId="a105d2f67a7af5de" providerId="LiveId" clId="{DFE61046-DF64-4E4A-8E75-50DE415B0D7F}" dt="2026-08-10T01:32:33.803" v="94" actId="27636"/>
          <ac:spMkLst>
            <pc:docMk/>
            <pc:sldMk cId="0" sldId="258"/>
            <ac:spMk id="2" creationId="{00000000-0000-0000-0000-000000000000}"/>
          </ac:spMkLst>
        </pc:spChg>
        <pc:spChg chg="del">
          <ac:chgData name="Tomás Azofeifa" userId="a105d2f67a7af5de" providerId="LiveId" clId="{DFE61046-DF64-4E4A-8E75-50DE415B0D7F}" dt="2026-08-10T00:53:18.266" v="65" actId="478"/>
          <ac:spMkLst>
            <pc:docMk/>
            <pc:sldMk cId="0" sldId="258"/>
            <ac:spMk id="54" creationId="{00000000-0000-0000-0000-000000000000}"/>
          </ac:spMkLst>
        </pc:spChg>
      </pc:sldChg>
      <pc:sldChg chg="delSp modSp mod">
        <pc:chgData name="Tomás Azofeifa" userId="a105d2f67a7af5de" providerId="LiveId" clId="{DFE61046-DF64-4E4A-8E75-50DE415B0D7F}" dt="2026-08-10T01:32:43.475" v="96" actId="14100"/>
        <pc:sldMkLst>
          <pc:docMk/>
          <pc:sldMk cId="0" sldId="259"/>
        </pc:sldMkLst>
        <pc:spChg chg="mod">
          <ac:chgData name="Tomás Azofeifa" userId="a105d2f67a7af5de" providerId="LiveId" clId="{DFE61046-DF64-4E4A-8E75-50DE415B0D7F}" dt="2026-08-10T01:32:43.475" v="96" actId="14100"/>
          <ac:spMkLst>
            <pc:docMk/>
            <pc:sldMk cId="0" sldId="259"/>
            <ac:spMk id="3" creationId="{00000000-0000-0000-0000-000000000000}"/>
          </ac:spMkLst>
        </pc:spChg>
        <pc:spChg chg="mod">
          <ac:chgData name="Tomás Azofeifa" userId="a105d2f67a7af5de" providerId="LiveId" clId="{DFE61046-DF64-4E4A-8E75-50DE415B0D7F}" dt="2026-08-10T01:32:38.851" v="95" actId="1076"/>
          <ac:spMkLst>
            <pc:docMk/>
            <pc:sldMk cId="0" sldId="259"/>
            <ac:spMk id="4" creationId="{00000000-0000-0000-0000-000000000000}"/>
          </ac:spMkLst>
        </pc:spChg>
        <pc:spChg chg="del">
          <ac:chgData name="Tomás Azofeifa" userId="a105d2f67a7af5de" providerId="LiveId" clId="{DFE61046-DF64-4E4A-8E75-50DE415B0D7F}" dt="2026-08-10T00:53:14.671" v="64" actId="478"/>
          <ac:spMkLst>
            <pc:docMk/>
            <pc:sldMk cId="0" sldId="259"/>
            <ac:spMk id="47" creationId="{00000000-0000-0000-0000-000000000000}"/>
          </ac:spMkLst>
        </pc:spChg>
      </pc:sldChg>
      <pc:sldChg chg="delSp modSp mod">
        <pc:chgData name="Tomás Azofeifa" userId="a105d2f67a7af5de" providerId="LiveId" clId="{DFE61046-DF64-4E4A-8E75-50DE415B0D7F}" dt="2026-08-10T00:55:53.771" v="89" actId="1036"/>
        <pc:sldMkLst>
          <pc:docMk/>
          <pc:sldMk cId="0" sldId="260"/>
        </pc:sldMkLst>
        <pc:spChg chg="mod">
          <ac:chgData name="Tomás Azofeifa" userId="a105d2f67a7af5de" providerId="LiveId" clId="{DFE61046-DF64-4E4A-8E75-50DE415B0D7F}" dt="2026-08-10T00:52:14.287" v="57"/>
          <ac:spMkLst>
            <pc:docMk/>
            <pc:sldMk cId="0" sldId="260"/>
            <ac:spMk id="3" creationId="{00000000-0000-0000-0000-000000000000}"/>
          </ac:spMkLst>
        </pc:spChg>
        <pc:spChg chg="mod">
          <ac:chgData name="Tomás Azofeifa" userId="a105d2f67a7af5de" providerId="LiveId" clId="{DFE61046-DF64-4E4A-8E75-50DE415B0D7F}" dt="2026-08-10T00:51:23.705" v="56" actId="207"/>
          <ac:spMkLst>
            <pc:docMk/>
            <pc:sldMk cId="0" sldId="260"/>
            <ac:spMk id="5" creationId="{00000000-0000-0000-0000-000000000000}"/>
          </ac:spMkLst>
        </pc:spChg>
        <pc:spChg chg="mod">
          <ac:chgData name="Tomás Azofeifa" userId="a105d2f67a7af5de" providerId="LiveId" clId="{DFE61046-DF64-4E4A-8E75-50DE415B0D7F}" dt="2026-08-10T00:51:13.371" v="54" actId="207"/>
          <ac:spMkLst>
            <pc:docMk/>
            <pc:sldMk cId="0" sldId="260"/>
            <ac:spMk id="6" creationId="{00000000-0000-0000-0000-000000000000}"/>
          </ac:spMkLst>
        </pc:spChg>
        <pc:spChg chg="mod">
          <ac:chgData name="Tomás Azofeifa" userId="a105d2f67a7af5de" providerId="LiveId" clId="{DFE61046-DF64-4E4A-8E75-50DE415B0D7F}" dt="2026-08-10T00:55:53.771" v="89" actId="1036"/>
          <ac:spMkLst>
            <pc:docMk/>
            <pc:sldMk cId="0" sldId="260"/>
            <ac:spMk id="31" creationId="{00000000-0000-0000-0000-000000000000}"/>
          </ac:spMkLst>
        </pc:spChg>
        <pc:spChg chg="del">
          <ac:chgData name="Tomás Azofeifa" userId="a105d2f67a7af5de" providerId="LiveId" clId="{DFE61046-DF64-4E4A-8E75-50DE415B0D7F}" dt="2026-08-10T00:52:26.782" v="58" actId="478"/>
          <ac:spMkLst>
            <pc:docMk/>
            <pc:sldMk cId="0" sldId="260"/>
            <ac:spMk id="32" creationId="{00000000-0000-0000-0000-000000000000}"/>
          </ac:spMkLst>
        </pc:spChg>
        <pc:spChg chg="del">
          <ac:chgData name="Tomás Azofeifa" userId="a105d2f67a7af5de" providerId="LiveId" clId="{DFE61046-DF64-4E4A-8E75-50DE415B0D7F}" dt="2026-08-10T00:53:09.712" v="63" actId="478"/>
          <ac:spMkLst>
            <pc:docMk/>
            <pc:sldMk cId="0" sldId="260"/>
            <ac:spMk id="33" creationId="{00000000-0000-0000-0000-000000000000}"/>
          </ac:spMkLst>
        </pc:spChg>
      </pc:sldChg>
      <pc:sldChg chg="delSp mod">
        <pc:chgData name="Tomás Azofeifa" userId="a105d2f67a7af5de" providerId="LiveId" clId="{DFE61046-DF64-4E4A-8E75-50DE415B0D7F}" dt="2026-08-10T00:53:04.412" v="62" actId="478"/>
        <pc:sldMkLst>
          <pc:docMk/>
          <pc:sldMk cId="0" sldId="261"/>
        </pc:sldMkLst>
        <pc:spChg chg="del">
          <ac:chgData name="Tomás Azofeifa" userId="a105d2f67a7af5de" providerId="LiveId" clId="{DFE61046-DF64-4E4A-8E75-50DE415B0D7F}" dt="2026-08-10T00:53:04.412" v="62" actId="478"/>
          <ac:spMkLst>
            <pc:docMk/>
            <pc:sldMk cId="0" sldId="261"/>
            <ac:spMk id="27" creationId="{00000000-0000-0000-0000-000000000000}"/>
          </ac:spMkLst>
        </pc:spChg>
      </pc:sldChg>
      <pc:sldChg chg="delSp mod">
        <pc:chgData name="Tomás Azofeifa" userId="a105d2f67a7af5de" providerId="LiveId" clId="{DFE61046-DF64-4E4A-8E75-50DE415B0D7F}" dt="2026-08-10T00:52:59.914" v="61" actId="478"/>
        <pc:sldMkLst>
          <pc:docMk/>
          <pc:sldMk cId="0" sldId="262"/>
        </pc:sldMkLst>
        <pc:spChg chg="del">
          <ac:chgData name="Tomás Azofeifa" userId="a105d2f67a7af5de" providerId="LiveId" clId="{DFE61046-DF64-4E4A-8E75-50DE415B0D7F}" dt="2026-08-10T00:52:59.914" v="61" actId="478"/>
          <ac:spMkLst>
            <pc:docMk/>
            <pc:sldMk cId="0" sldId="262"/>
            <ac:spMk id="50" creationId="{00000000-0000-0000-0000-000000000000}"/>
          </ac:spMkLst>
        </pc:spChg>
      </pc:sldChg>
      <pc:sldChg chg="delSp mod">
        <pc:chgData name="Tomás Azofeifa" userId="a105d2f67a7af5de" providerId="LiveId" clId="{DFE61046-DF64-4E4A-8E75-50DE415B0D7F}" dt="2026-08-10T00:52:55.595" v="60" actId="478"/>
        <pc:sldMkLst>
          <pc:docMk/>
          <pc:sldMk cId="0" sldId="263"/>
        </pc:sldMkLst>
        <pc:spChg chg="del">
          <ac:chgData name="Tomás Azofeifa" userId="a105d2f67a7af5de" providerId="LiveId" clId="{DFE61046-DF64-4E4A-8E75-50DE415B0D7F}" dt="2026-08-10T00:52:55.595" v="60" actId="478"/>
          <ac:spMkLst>
            <pc:docMk/>
            <pc:sldMk cId="0" sldId="263"/>
            <ac:spMk id="57" creationId="{00000000-0000-0000-0000-000000000000}"/>
          </ac:spMkLst>
        </pc:spChg>
      </pc:sldChg>
      <pc:sldChg chg="delSp modSp mod">
        <pc:chgData name="Tomás Azofeifa" userId="a105d2f67a7af5de" providerId="LiveId" clId="{DFE61046-DF64-4E4A-8E75-50DE415B0D7F}" dt="2026-08-10T01:33:21.628" v="97" actId="14100"/>
        <pc:sldMkLst>
          <pc:docMk/>
          <pc:sldMk cId="0" sldId="264"/>
        </pc:sldMkLst>
        <pc:spChg chg="mod">
          <ac:chgData name="Tomás Azofeifa" userId="a105d2f67a7af5de" providerId="LiveId" clId="{DFE61046-DF64-4E4A-8E75-50DE415B0D7F}" dt="2026-08-10T01:33:21.628" v="97" actId="14100"/>
          <ac:spMkLst>
            <pc:docMk/>
            <pc:sldMk cId="0" sldId="264"/>
            <ac:spMk id="2" creationId="{00000000-0000-0000-0000-000000000000}"/>
          </ac:spMkLst>
        </pc:spChg>
        <pc:spChg chg="del">
          <ac:chgData name="Tomás Azofeifa" userId="a105d2f67a7af5de" providerId="LiveId" clId="{DFE61046-DF64-4E4A-8E75-50DE415B0D7F}" dt="2026-08-10T00:52:50.989" v="59" actId="478"/>
          <ac:spMkLst>
            <pc:docMk/>
            <pc:sldMk cId="0" sldId="264"/>
            <ac:spMk id="27" creationId="{00000000-0000-0000-0000-000000000000}"/>
          </ac:spMkLst>
        </pc:spChg>
      </pc:sldChg>
      <pc:sldChg chg="delSp mod">
        <pc:chgData name="Tomás Azofeifa" userId="a105d2f67a7af5de" providerId="LiveId" clId="{DFE61046-DF64-4E4A-8E75-50DE415B0D7F}" dt="2026-08-10T00:53:55.942" v="66" actId="478"/>
        <pc:sldMkLst>
          <pc:docMk/>
          <pc:sldMk cId="0" sldId="265"/>
        </pc:sldMkLst>
        <pc:spChg chg="del">
          <ac:chgData name="Tomás Azofeifa" userId="a105d2f67a7af5de" providerId="LiveId" clId="{DFE61046-DF64-4E4A-8E75-50DE415B0D7F}" dt="2026-08-10T00:53:55.942" v="66" actId="478"/>
          <ac:spMkLst>
            <pc:docMk/>
            <pc:sldMk cId="0" sldId="265"/>
            <ac:spMk id="50" creationId="{00000000-0000-0000-0000-000000000000}"/>
          </ac:spMkLst>
        </pc:spChg>
      </pc:sldChg>
      <pc:sldChg chg="modSp mod">
        <pc:chgData name="Tomás Azofeifa" userId="a105d2f67a7af5de" providerId="LiveId" clId="{DFE61046-DF64-4E4A-8E75-50DE415B0D7F}" dt="2026-08-10T00:54:52.872" v="84" actId="1036"/>
        <pc:sldMkLst>
          <pc:docMk/>
          <pc:sldMk cId="0" sldId="266"/>
        </pc:sldMkLst>
        <pc:spChg chg="mod">
          <ac:chgData name="Tomás Azofeifa" userId="a105d2f67a7af5de" providerId="LiveId" clId="{DFE61046-DF64-4E4A-8E75-50DE415B0D7F}" dt="2026-08-10T00:54:50.670" v="80" actId="1036"/>
          <ac:spMkLst>
            <pc:docMk/>
            <pc:sldMk cId="0" sldId="266"/>
            <ac:spMk id="23" creationId="{00000000-0000-0000-0000-000000000000}"/>
          </ac:spMkLst>
        </pc:spChg>
        <pc:picChg chg="mod">
          <ac:chgData name="Tomás Azofeifa" userId="a105d2f67a7af5de" providerId="LiveId" clId="{DFE61046-DF64-4E4A-8E75-50DE415B0D7F}" dt="2026-08-10T00:54:52.872" v="84" actId="1036"/>
          <ac:picMkLst>
            <pc:docMk/>
            <pc:sldMk cId="0" sldId="266"/>
            <ac:picMk id="22"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7542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30 segundos.
Abrir con el propósito: Movix es una plataforma SaaS para gestionar transporte asistido en tres dominios de negocio, con foco en seguridad, trazabilidad, continuidad operativa y crecimiento.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1 minuto 30 segundos.
Explicar que Movix no es una aplicación aislada: centraliza la operación diaria de transporte asistido para tres dominios de negocio. Resaltar los actores y las capacidades compartidas: rutas, pasajeros, choferes, seguimiento, abordajes, entregas, incidentes, notificaciones y perfiles de emergencia.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1 minuto 30 segundos.
Presentar los objetivos de calidad como parte del valor del producto. Aclarar que el seguimiento GPS tiene un periodo máximo de 30 segundos, pero aquí se muestran los atributos principales. Destacar que las restricciones obligan a una arquitectura SaaS, multioperador, disponible 24/7 y con identidad externa.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1 minuto 30 segundos.
Explicar la lógica de las decisiones: microservicios para separar capacidades, SaaS multioperador para el modelo comercial, API Gateway como entrada única, REST y Kafka según el tipo de interacción, y una topología cloud-neutral para no amarrar el diseño a un proveedor específico.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45 segundos.
Esta diapositiva sirve como acceso al repositorio completo de diagramas C4. La explicación detallada será realizada por el compañero asignado. Antes de presentar, reemplazar el hipervínculo del botón por la URL definitiva de Draw.io.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1 minuto 30 segundos.
Explicar que la persistencia es políglota y distribuida por una necesidad concreta, no por usar más tecnologías. PostgreSQL sigue siendo el motor principal; WatermelonDB resuelve la operación local y offline; Kafka transporta eventos, pero no sustituye las bases de datos.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1 minuto 45 segundos.
Relacionar cada patrón con el problema que resuelve. Aclarar que la Saga está diferida: solo se utilizará cuando un proceso atraviese varios servicios y exista una compensación válida. También aclarar que la caché distribuida se incorpora cuando las métricas demuestren la necesidad.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1 minuto 45 segundos.
Contrastar los objetivos de cada entorno: desarrollo prioriza velocidad de iteración; producción prioriza disponibilidad, escalabilidad, seguridad y recuperación. No afirmar un proveedor específico: la topología es cloud-neutral y la selección de proveedor y región permanece como una decisión posterior.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1 minuto 30 segundos.
Recorrer el flujo de forma ejecutiva: autenticación, resolución del contexto, enrutamiento, nueva validación en el servicio y aplicación del operator_id en la persistencia. Destacar la defensa en profundidad y que Movix conserva referencias de identidad, no contraseñas.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1 minuto 15 segundos.
Presentar los ADR como la línea base aprobada. No profundizar en todos los riesgos; resumir el valor y el trade-off principal de cada decisión. Señalar que las tres decisiones se complementan: microservicios, multioperador y persistencia por dominio.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30 segundos antes de preguntas.
Cerrar con tres ideas: una plataforma para tres dominios, continuidad de operación incluso con conectividad limitada y una arquitectura preparada para crecer de forma segura. Abrir el espacio para preguntas de la Junta Directiva y el profesor.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OVIX_MASTER">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A5E8C"/>
          </a:solidFill>
          <a:ln w="12700">
            <a:solidFill>
              <a:srgbClr val="0A5E8C"/>
            </a:solidFill>
            <a:prstDash val="solid"/>
          </a:ln>
        </p:spPr>
      </p:sp>
      <p:sp>
        <p:nvSpPr>
          <p:cNvPr id="3" name="Text 1"/>
          <p:cNvSpPr/>
          <p:nvPr/>
        </p:nvSpPr>
        <p:spPr>
          <a:xfrm>
            <a:off x="411480" y="6537960"/>
            <a:ext cx="2468880" cy="164592"/>
          </a:xfrm>
          <a:prstGeom prst="rect">
            <a:avLst/>
          </a:prstGeom>
          <a:noFill/>
          <a:ln/>
        </p:spPr>
        <p:txBody>
          <a:bodyPr wrap="square" lIns="0" tIns="0" rIns="0" bIns="0" rtlCol="0" anchor="ctr"/>
          <a:lstStyle/>
          <a:p>
            <a:pPr marL="0" indent="0">
              <a:buNone/>
            </a:pPr>
            <a:r>
              <a:rPr lang="en-US" sz="800" b="1" dirty="0">
                <a:solidFill>
                  <a:srgbClr val="7A8E9D"/>
                </a:solidFill>
                <a:latin typeface="Aptos" pitchFamily="34" charset="0"/>
                <a:ea typeface="Aptos" pitchFamily="34" charset="-122"/>
                <a:cs typeface="Aptos" pitchFamily="34" charset="-120"/>
              </a:rPr>
              <a:t>MOVIX · DESIGN NEXUS</a:t>
            </a:r>
            <a:endParaRPr lang="en-US" sz="800" dirty="0"/>
          </a:p>
        </p:txBody>
      </p:sp>
      <p:sp>
        <p:nvSpPr>
          <p:cNvPr id="4" name="Text 2"/>
          <p:cNvSpPr/>
          <p:nvPr/>
        </p:nvSpPr>
        <p:spPr>
          <a:xfrm>
            <a:off x="8275320" y="6537960"/>
            <a:ext cx="3520440" cy="164592"/>
          </a:xfrm>
          <a:prstGeom prst="rect">
            <a:avLst/>
          </a:prstGeom>
          <a:noFill/>
          <a:ln/>
        </p:spPr>
        <p:txBody>
          <a:bodyPr wrap="square" lIns="0" tIns="0" rIns="0" bIns="0" rtlCol="0" anchor="ctr"/>
          <a:lstStyle/>
          <a:p>
            <a:pPr marL="0" indent="0" algn="r">
              <a:buNone/>
            </a:pPr>
            <a:r>
              <a:rPr lang="en-US" sz="800" dirty="0">
                <a:solidFill>
                  <a:srgbClr val="9AA9B5"/>
                </a:solidFill>
                <a:latin typeface="Aptos" pitchFamily="34" charset="0"/>
                <a:ea typeface="Aptos" pitchFamily="34" charset="-122"/>
                <a:cs typeface="Aptos" pitchFamily="34" charset="-120"/>
              </a:rPr>
              <a:t>Universidad CENFOTEC · Diseño de Sistemas de Software</a:t>
            </a:r>
            <a:endParaRPr lang="en-US" sz="800" dirty="0"/>
          </a:p>
        </p:txBody>
      </p:sp>
      <p:sp>
        <p:nvSpPr>
          <p:cNvPr id="25" name="Slide Number Placeholder 0"/>
          <p:cNvSpPr>
            <a:spLocks noGrp="1"/>
          </p:cNvSpPr>
          <p:nvPr>
            <p:ph type="sldNum" sz="quarter" idx="4294967295"/>
          </p:nvPr>
        </p:nvSpPr>
        <p:spPr>
          <a:xfrm>
            <a:off x="11823192"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AAB6C0"/>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823192"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AAB6C0"/>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 Id="rId14" Type="http://schemas.openxmlformats.org/officeDocument/2006/relationships/image" Target="../media/image13.svg"/></Relationships>
</file>

<file path=ppt/slides/_rels/slide3.xml.rels><?xml version="1.0" encoding="UTF-8" standalone="yes"?>
<Relationships xmlns="http://schemas.openxmlformats.org/package/2006/relationships"><Relationship Id="rId8" Type="http://schemas.openxmlformats.org/officeDocument/2006/relationships/image" Target="../media/image20.svg"/><Relationship Id="rId13" Type="http://schemas.openxmlformats.org/officeDocument/2006/relationships/image" Target="../media/image25.svg"/><Relationship Id="rId3" Type="http://schemas.openxmlformats.org/officeDocument/2006/relationships/image" Target="../media/image15.svg"/><Relationship Id="rId7" Type="http://schemas.openxmlformats.org/officeDocument/2006/relationships/image" Target="../media/image19.svg"/><Relationship Id="rId12" Type="http://schemas.openxmlformats.org/officeDocument/2006/relationships/image" Target="../media/image24.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8.svg"/><Relationship Id="rId11" Type="http://schemas.openxmlformats.org/officeDocument/2006/relationships/image" Target="../media/image23.svg"/><Relationship Id="rId5" Type="http://schemas.openxmlformats.org/officeDocument/2006/relationships/image" Target="../media/image17.sv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svg"/></Relationships>
</file>

<file path=ppt/slides/_rels/slide4.xml.rels><?xml version="1.0" encoding="UTF-8" standalone="yes"?>
<Relationships xmlns="http://schemas.openxmlformats.org/package/2006/relationships"><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27.svg"/></Relationships>
</file>

<file path=ppt/slides/_rels/slide5.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svg"/><Relationship Id="rId7" Type="http://schemas.openxmlformats.org/officeDocument/2006/relationships/image" Target="../media/image35.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4.svg"/><Relationship Id="rId5" Type="http://schemas.openxmlformats.org/officeDocument/2006/relationships/image" Target="../media/image33.svg"/><Relationship Id="rId4" Type="http://schemas.openxmlformats.org/officeDocument/2006/relationships/image" Target="../media/image32.svg"/><Relationship Id="rId9" Type="http://schemas.openxmlformats.org/officeDocument/2006/relationships/hyperlink" Target="https://app.diagrams.net/" TargetMode="External"/></Relationships>
</file>

<file path=ppt/slides/_rels/slide6.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7.png"/><Relationship Id="rId7" Type="http://schemas.openxmlformats.org/officeDocument/2006/relationships/image" Target="../media/image40.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9.svg"/><Relationship Id="rId5" Type="http://schemas.openxmlformats.org/officeDocument/2006/relationships/image" Target="../media/image24.svg"/><Relationship Id="rId4" Type="http://schemas.openxmlformats.org/officeDocument/2006/relationships/image" Target="../media/image38.svg"/><Relationship Id="rId9" Type="http://schemas.openxmlformats.org/officeDocument/2006/relationships/image" Target="../media/image42.svg"/></Relationships>
</file>

<file path=ppt/slides/_rels/slide7.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3.svg"/><Relationship Id="rId7" Type="http://schemas.openxmlformats.org/officeDocument/2006/relationships/image" Target="../media/image47.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6.svg"/><Relationship Id="rId5" Type="http://schemas.openxmlformats.org/officeDocument/2006/relationships/image" Target="../media/image45.svg"/><Relationship Id="rId4" Type="http://schemas.openxmlformats.org/officeDocument/2006/relationships/image" Target="../media/image44.svg"/><Relationship Id="rId9" Type="http://schemas.openxmlformats.org/officeDocument/2006/relationships/image" Target="../media/image49.svg"/></Relationships>
</file>

<file path=ppt/slides/_rels/slide8.xml.rels><?xml version="1.0" encoding="UTF-8" standalone="yes"?>
<Relationships xmlns="http://schemas.openxmlformats.org/package/2006/relationships"><Relationship Id="rId8" Type="http://schemas.openxmlformats.org/officeDocument/2006/relationships/image" Target="../media/image55.svg"/><Relationship Id="rId13" Type="http://schemas.openxmlformats.org/officeDocument/2006/relationships/image" Target="../media/image58.svg"/><Relationship Id="rId3" Type="http://schemas.openxmlformats.org/officeDocument/2006/relationships/image" Target="../media/image50.svg"/><Relationship Id="rId7" Type="http://schemas.openxmlformats.org/officeDocument/2006/relationships/image" Target="../media/image54.svg"/><Relationship Id="rId12" Type="http://schemas.openxmlformats.org/officeDocument/2006/relationships/image" Target="../media/image23.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3.svg"/><Relationship Id="rId11" Type="http://schemas.openxmlformats.org/officeDocument/2006/relationships/image" Target="../media/image57.svg"/><Relationship Id="rId5" Type="http://schemas.openxmlformats.org/officeDocument/2006/relationships/image" Target="../media/image52.svg"/><Relationship Id="rId10" Type="http://schemas.openxmlformats.org/officeDocument/2006/relationships/image" Target="../media/image42.svg"/><Relationship Id="rId4" Type="http://schemas.openxmlformats.org/officeDocument/2006/relationships/image" Target="../media/image51.svg"/><Relationship Id="rId9" Type="http://schemas.openxmlformats.org/officeDocument/2006/relationships/image" Target="../media/image56.svg"/><Relationship Id="rId14" Type="http://schemas.openxmlformats.org/officeDocument/2006/relationships/image" Target="../media/image59.svg"/></Relationships>
</file>

<file path=ppt/slides/_rels/slide9.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60.png"/><Relationship Id="rId7" Type="http://schemas.openxmlformats.org/officeDocument/2006/relationships/image" Target="../media/image18.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2.svg"/><Relationship Id="rId5" Type="http://schemas.openxmlformats.org/officeDocument/2006/relationships/image" Target="../media/image17.svg"/><Relationship Id="rId4" Type="http://schemas.openxmlformats.org/officeDocument/2006/relationships/image" Target="../media/image61.svg"/></Relationships>
</file>

<file path=ppt/slides/_rels/slide1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62.svg"/><Relationship Id="rId4" Type="http://schemas.openxmlformats.org/officeDocument/2006/relationships/image" Target="../media/image27.svg"/></Relationships>
</file>

<file path=ppt/slides/_rels/slide11.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7.svg"/><Relationship Id="rId5" Type="http://schemas.openxmlformats.org/officeDocument/2006/relationships/image" Target="../media/image66.svg"/><Relationship Id="rId4" Type="http://schemas.openxmlformats.org/officeDocument/2006/relationships/image" Target="../media/image65.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2A42"/>
        </a:solidFill>
        <a:effectLst/>
      </p:bgPr>
    </p:bg>
    <p:spTree>
      <p:nvGrpSpPr>
        <p:cNvPr id="1" name=""/>
        <p:cNvGrpSpPr/>
        <p:nvPr/>
      </p:nvGrpSpPr>
      <p:grpSpPr>
        <a:xfrm>
          <a:off x="0" y="0"/>
          <a:ext cx="0" cy="0"/>
          <a:chOff x="0" y="0"/>
          <a:chExt cx="0" cy="0"/>
        </a:xfrm>
      </p:grpSpPr>
      <p:sp>
        <p:nvSpPr>
          <p:cNvPr id="2" name="Shape 0"/>
          <p:cNvSpPr/>
          <p:nvPr/>
        </p:nvSpPr>
        <p:spPr>
          <a:xfrm>
            <a:off x="0" y="0"/>
            <a:ext cx="8001000" cy="6858000"/>
          </a:xfrm>
          <a:prstGeom prst="rect">
            <a:avLst/>
          </a:prstGeom>
          <a:solidFill>
            <a:srgbClr val="082A42"/>
          </a:solidFill>
          <a:ln w="12700">
            <a:solidFill>
              <a:srgbClr val="082A42"/>
            </a:solidFill>
            <a:prstDash val="solid"/>
          </a:ln>
        </p:spPr>
        <p:txBody>
          <a:bodyPr/>
          <a:lstStyle/>
          <a:p>
            <a:endParaRPr lang="en-US"/>
          </a:p>
        </p:txBody>
      </p:sp>
      <p:sp>
        <p:nvSpPr>
          <p:cNvPr id="3" name="Shape 1"/>
          <p:cNvSpPr/>
          <p:nvPr/>
        </p:nvSpPr>
        <p:spPr>
          <a:xfrm>
            <a:off x="8001000" y="0"/>
            <a:ext cx="4190695" cy="6858000"/>
          </a:xfrm>
          <a:prstGeom prst="rect">
            <a:avLst/>
          </a:prstGeom>
          <a:solidFill>
            <a:srgbClr val="0E3653"/>
          </a:solidFill>
          <a:ln w="12700">
            <a:solidFill>
              <a:srgbClr val="0E3653"/>
            </a:solidFill>
            <a:prstDash val="solid"/>
          </a:ln>
        </p:spPr>
        <p:txBody>
          <a:bodyPr/>
          <a:lstStyle/>
          <a:p>
            <a:endParaRPr lang="en-US"/>
          </a:p>
        </p:txBody>
      </p:sp>
      <p:sp>
        <p:nvSpPr>
          <p:cNvPr id="4" name="Shape 2"/>
          <p:cNvSpPr/>
          <p:nvPr/>
        </p:nvSpPr>
        <p:spPr>
          <a:xfrm>
            <a:off x="8641080" y="685800"/>
            <a:ext cx="2148840" cy="2148840"/>
          </a:xfrm>
          <a:prstGeom prst="ellipse">
            <a:avLst/>
          </a:prstGeom>
          <a:solidFill>
            <a:srgbClr val="0A5E8C"/>
          </a:solidFill>
          <a:ln w="12700">
            <a:solidFill>
              <a:srgbClr val="0A5E8C"/>
            </a:solidFill>
            <a:prstDash val="solid"/>
          </a:ln>
        </p:spPr>
        <p:txBody>
          <a:bodyPr/>
          <a:lstStyle/>
          <a:p>
            <a:endParaRPr lang="en-US"/>
          </a:p>
        </p:txBody>
      </p:sp>
      <p:sp>
        <p:nvSpPr>
          <p:cNvPr id="5" name="Shape 3"/>
          <p:cNvSpPr/>
          <p:nvPr/>
        </p:nvSpPr>
        <p:spPr>
          <a:xfrm>
            <a:off x="9235440" y="2148840"/>
            <a:ext cx="2057400" cy="2057400"/>
          </a:xfrm>
          <a:prstGeom prst="ellipse">
            <a:avLst/>
          </a:prstGeom>
          <a:solidFill>
            <a:srgbClr val="20A3B8">
              <a:alpha val="92000"/>
            </a:srgbClr>
          </a:solidFill>
          <a:ln w="12700">
            <a:solidFill>
              <a:srgbClr val="20A3B8">
                <a:alpha val="0"/>
              </a:srgbClr>
            </a:solidFill>
            <a:prstDash val="solid"/>
          </a:ln>
        </p:spPr>
        <p:txBody>
          <a:bodyPr/>
          <a:lstStyle/>
          <a:p>
            <a:endParaRPr lang="en-US"/>
          </a:p>
        </p:txBody>
      </p:sp>
      <p:sp>
        <p:nvSpPr>
          <p:cNvPr id="6" name="Shape 4"/>
          <p:cNvSpPr/>
          <p:nvPr/>
        </p:nvSpPr>
        <p:spPr>
          <a:xfrm>
            <a:off x="8275320" y="4251960"/>
            <a:ext cx="1508760" cy="1508760"/>
          </a:xfrm>
          <a:prstGeom prst="ellipse">
            <a:avLst/>
          </a:prstGeom>
          <a:solidFill>
            <a:srgbClr val="19A394">
              <a:alpha val="92000"/>
            </a:srgbClr>
          </a:solidFill>
          <a:ln w="12700">
            <a:solidFill>
              <a:srgbClr val="19A394">
                <a:alpha val="0"/>
              </a:srgbClr>
            </a:solidFill>
            <a:prstDash val="solid"/>
          </a:ln>
        </p:spPr>
        <p:txBody>
          <a:bodyPr/>
          <a:lstStyle/>
          <a:p>
            <a:endParaRPr lang="en-US"/>
          </a:p>
        </p:txBody>
      </p:sp>
      <p:sp>
        <p:nvSpPr>
          <p:cNvPr id="9" name="Text 7"/>
          <p:cNvSpPr txBox="1"/>
          <p:nvPr/>
        </p:nvSpPr>
        <p:spPr>
          <a:xfrm>
            <a:off x="640080" y="1325880"/>
            <a:ext cx="5577840" cy="566928"/>
          </a:xfrm>
          <a:prstGeom prst="rect">
            <a:avLst/>
          </a:prstGeom>
          <a:noFill/>
          <a:ln/>
        </p:spPr>
        <p:txBody>
          <a:bodyPr wrap="square" lIns="0" tIns="0" rIns="0" bIns="0" rtlCol="0" anchor="ctr">
            <a:normAutofit/>
          </a:bodyPr>
          <a:lstStyle/>
          <a:p>
            <a:pPr marL="0" indent="0" algn="l">
              <a:buNone/>
            </a:pPr>
            <a:r>
              <a:rPr lang="en-US" sz="3000" b="1" dirty="0">
                <a:solidFill>
                  <a:srgbClr val="FFFFFF"/>
                </a:solidFill>
                <a:latin typeface="Aptos" pitchFamily="34" charset="0"/>
                <a:ea typeface="Aptos" pitchFamily="34" charset="-122"/>
                <a:cs typeface="Aptos" pitchFamily="34" charset="-120"/>
              </a:rPr>
              <a:t>MOVIX</a:t>
            </a:r>
            <a:endParaRPr lang="en-US" sz="3000" dirty="0"/>
          </a:p>
        </p:txBody>
      </p:sp>
      <p:sp>
        <p:nvSpPr>
          <p:cNvPr id="10" name="Text 8"/>
          <p:cNvSpPr txBox="1"/>
          <p:nvPr/>
        </p:nvSpPr>
        <p:spPr>
          <a:xfrm>
            <a:off x="640080" y="1883664"/>
            <a:ext cx="6309360" cy="502920"/>
          </a:xfrm>
          <a:prstGeom prst="rect">
            <a:avLst/>
          </a:prstGeom>
          <a:noFill/>
          <a:ln/>
        </p:spPr>
        <p:txBody>
          <a:bodyPr wrap="square" lIns="0" tIns="0" rIns="0" bIns="0" rtlCol="0" anchor="ctr">
            <a:normAutofit/>
          </a:bodyPr>
          <a:lstStyle/>
          <a:p>
            <a:pPr marL="0" indent="0" algn="l">
              <a:buNone/>
            </a:pPr>
            <a:r>
              <a:rPr lang="en-US" sz="2400" b="1" dirty="0">
                <a:solidFill>
                  <a:srgbClr val="DDEAF2"/>
                </a:solidFill>
                <a:latin typeface="Aptos" pitchFamily="34" charset="0"/>
                <a:ea typeface="Aptos" pitchFamily="34" charset="-122"/>
                <a:cs typeface="Aptos" pitchFamily="34" charset="-120"/>
              </a:rPr>
              <a:t>Plataforma SaaS de transporte asistido</a:t>
            </a:r>
            <a:endParaRPr lang="en-US" sz="2400" dirty="0"/>
          </a:p>
        </p:txBody>
      </p:sp>
      <p:sp>
        <p:nvSpPr>
          <p:cNvPr id="11" name="Text 9"/>
          <p:cNvSpPr txBox="1"/>
          <p:nvPr/>
        </p:nvSpPr>
        <p:spPr>
          <a:xfrm>
            <a:off x="640080" y="2505456"/>
            <a:ext cx="6355080" cy="411480"/>
          </a:xfrm>
          <a:prstGeom prst="rect">
            <a:avLst/>
          </a:prstGeom>
          <a:noFill/>
          <a:ln/>
        </p:spPr>
        <p:txBody>
          <a:bodyPr wrap="square" lIns="0" tIns="0" rIns="0" bIns="0" rtlCol="0" anchor="ctr">
            <a:normAutofit/>
          </a:bodyPr>
          <a:lstStyle/>
          <a:p>
            <a:pPr marL="0" indent="0" algn="l">
              <a:buNone/>
            </a:pPr>
            <a:r>
              <a:rPr lang="en-US" sz="1600" dirty="0">
                <a:solidFill>
                  <a:srgbClr val="B9CFDC"/>
                </a:solidFill>
                <a:latin typeface="Aptos" pitchFamily="34" charset="0"/>
                <a:ea typeface="Aptos" pitchFamily="34" charset="-122"/>
                <a:cs typeface="Aptos" pitchFamily="34" charset="-120"/>
              </a:rPr>
              <a:t>Una operación segura, trazable y preparada para crecer.</a:t>
            </a:r>
            <a:endParaRPr lang="en-US" sz="1600" dirty="0"/>
          </a:p>
        </p:txBody>
      </p:sp>
      <p:sp>
        <p:nvSpPr>
          <p:cNvPr id="12" name="Text 10"/>
          <p:cNvSpPr txBox="1"/>
          <p:nvPr/>
        </p:nvSpPr>
        <p:spPr>
          <a:xfrm>
            <a:off x="640080" y="3154680"/>
            <a:ext cx="6583680" cy="310896"/>
          </a:xfrm>
          <a:prstGeom prst="rect">
            <a:avLst/>
          </a:prstGeom>
          <a:noFill/>
          <a:ln/>
        </p:spPr>
        <p:txBody>
          <a:bodyPr wrap="square" lIns="0" tIns="0" rIns="0" bIns="0" rtlCol="0" anchor="ctr">
            <a:normAutofit/>
          </a:bodyPr>
          <a:lstStyle/>
          <a:p>
            <a:pPr marL="0" indent="0" algn="l">
              <a:buNone/>
            </a:pPr>
            <a:r>
              <a:rPr lang="en-US" sz="1300" b="1" dirty="0">
                <a:solidFill>
                  <a:srgbClr val="70D2DB"/>
                </a:solidFill>
                <a:latin typeface="Aptos" pitchFamily="34" charset="0"/>
                <a:ea typeface="Aptos" pitchFamily="34" charset="-122"/>
                <a:cs typeface="Aptos" pitchFamily="34" charset="-120"/>
              </a:rPr>
              <a:t>Transporte escolar · Turismo grupal · Transporte de mascotas</a:t>
            </a:r>
            <a:endParaRPr lang="en-US" sz="1300" dirty="0"/>
          </a:p>
        </p:txBody>
      </p:sp>
      <p:sp>
        <p:nvSpPr>
          <p:cNvPr id="13" name="Shape 11"/>
          <p:cNvSpPr/>
          <p:nvPr/>
        </p:nvSpPr>
        <p:spPr>
          <a:xfrm>
            <a:off x="640080" y="3886200"/>
            <a:ext cx="6583680" cy="1143000"/>
          </a:xfrm>
          <a:prstGeom prst="roundRect">
            <a:avLst>
              <a:gd name="adj" fmla="val 9600"/>
            </a:avLst>
          </a:prstGeom>
          <a:solidFill>
            <a:srgbClr val="0C344F"/>
          </a:solidFill>
          <a:ln w="12700">
            <a:solidFill>
              <a:srgbClr val="1B506D"/>
            </a:solidFill>
            <a:prstDash val="solid"/>
          </a:ln>
        </p:spPr>
        <p:txBody>
          <a:bodyPr/>
          <a:lstStyle/>
          <a:p>
            <a:endParaRPr lang="en-US"/>
          </a:p>
        </p:txBody>
      </p:sp>
      <p:sp>
        <p:nvSpPr>
          <p:cNvPr id="14" name="Text 12"/>
          <p:cNvSpPr txBox="1"/>
          <p:nvPr/>
        </p:nvSpPr>
        <p:spPr>
          <a:xfrm>
            <a:off x="896112" y="4096512"/>
            <a:ext cx="2011680" cy="274320"/>
          </a:xfrm>
          <a:prstGeom prst="rect">
            <a:avLst/>
          </a:prstGeom>
          <a:noFill/>
          <a:ln/>
        </p:spPr>
        <p:txBody>
          <a:bodyPr wrap="square" lIns="0" tIns="0" rIns="0" bIns="0" rtlCol="0" anchor="ctr">
            <a:normAutofit/>
          </a:bodyPr>
          <a:lstStyle/>
          <a:p>
            <a:pPr marL="0" indent="0" algn="l">
              <a:buNone/>
            </a:pPr>
            <a:r>
              <a:rPr lang="en-US" sz="1600" b="1" dirty="0">
                <a:solidFill>
                  <a:srgbClr val="FFFFFF"/>
                </a:solidFill>
                <a:latin typeface="Aptos" pitchFamily="34" charset="0"/>
                <a:ea typeface="Aptos" pitchFamily="34" charset="-122"/>
                <a:cs typeface="Aptos" pitchFamily="34" charset="-120"/>
              </a:rPr>
              <a:t>Design Nexus</a:t>
            </a:r>
            <a:endParaRPr lang="en-US" sz="1600" dirty="0"/>
          </a:p>
        </p:txBody>
      </p:sp>
      <p:sp>
        <p:nvSpPr>
          <p:cNvPr id="15" name="Text 13"/>
          <p:cNvSpPr txBox="1"/>
          <p:nvPr/>
        </p:nvSpPr>
        <p:spPr>
          <a:xfrm>
            <a:off x="896112" y="4443984"/>
            <a:ext cx="5989320" cy="274320"/>
          </a:xfrm>
          <a:prstGeom prst="rect">
            <a:avLst/>
          </a:prstGeom>
          <a:noFill/>
          <a:ln/>
        </p:spPr>
        <p:txBody>
          <a:bodyPr wrap="square" lIns="0" tIns="0" rIns="0" bIns="0" rtlCol="0" anchor="ctr">
            <a:normAutofit/>
          </a:bodyPr>
          <a:lstStyle/>
          <a:p>
            <a:pPr marL="0" indent="0" algn="l">
              <a:buNone/>
            </a:pPr>
            <a:r>
              <a:rPr lang="en-US" sz="1200" dirty="0">
                <a:solidFill>
                  <a:srgbClr val="C5D7E1"/>
                </a:solidFill>
                <a:latin typeface="Aptos" pitchFamily="34" charset="0"/>
                <a:ea typeface="Aptos" pitchFamily="34" charset="-122"/>
                <a:cs typeface="Aptos" pitchFamily="34" charset="-120"/>
              </a:rPr>
              <a:t>Marco Vinicio Rodríguez Vargas · Tomás Azofeifa Quesada · Josué David Montero Madrigal</a:t>
            </a:r>
            <a:endParaRPr lang="en-US" sz="1200" dirty="0"/>
          </a:p>
        </p:txBody>
      </p:sp>
      <p:pic>
        <p:nvPicPr>
          <p:cNvPr id="16" name="Image 0" descr="/tmp/movixdoc/word/media/image1.png"/>
          <p:cNvPicPr>
            <a:picLocks noChangeAspect="1"/>
          </p:cNvPicPr>
          <p:nvPr/>
        </p:nvPicPr>
        <p:blipFill>
          <a:blip r:embed="rId3"/>
          <a:stretch>
            <a:fillRect/>
          </a:stretch>
        </p:blipFill>
        <p:spPr>
          <a:xfrm>
            <a:off x="9029700" y="5801775"/>
            <a:ext cx="2423160" cy="841248"/>
          </a:xfrm>
          <a:prstGeom prst="rect">
            <a:avLst/>
          </a:prstGeom>
        </p:spPr>
      </p:pic>
      <p:sp>
        <p:nvSpPr>
          <p:cNvPr id="17" name="Text 14"/>
          <p:cNvSpPr txBox="1"/>
          <p:nvPr/>
        </p:nvSpPr>
        <p:spPr>
          <a:xfrm>
            <a:off x="640080" y="6181344"/>
            <a:ext cx="7040880" cy="219456"/>
          </a:xfrm>
          <a:prstGeom prst="rect">
            <a:avLst/>
          </a:prstGeom>
          <a:noFill/>
          <a:ln/>
        </p:spPr>
        <p:txBody>
          <a:bodyPr wrap="square" lIns="0" tIns="0" rIns="0" bIns="0" rtlCol="0" anchor="ctr">
            <a:normAutofit/>
          </a:bodyPr>
          <a:lstStyle/>
          <a:p>
            <a:pPr marL="0" indent="0" algn="l">
              <a:buNone/>
            </a:pPr>
            <a:r>
              <a:rPr lang="en-US" sz="1050" dirty="0">
                <a:solidFill>
                  <a:srgbClr val="9FC1D0"/>
                </a:solidFill>
                <a:latin typeface="Aptos" pitchFamily="34" charset="0"/>
                <a:ea typeface="Aptos" pitchFamily="34" charset="-122"/>
                <a:cs typeface="Aptos" pitchFamily="34" charset="-120"/>
              </a:rPr>
              <a:t>10 de agosto de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292608"/>
            <a:ext cx="3017520" cy="201168"/>
          </a:xfrm>
          <a:prstGeom prst="rect">
            <a:avLst/>
          </a:prstGeom>
          <a:noFill/>
          <a:ln/>
        </p:spPr>
        <p:txBody>
          <a:bodyPr wrap="square" lIns="0" tIns="0" rIns="0" bIns="0" rtlCol="0" anchor="ctr">
            <a:normAutofit/>
          </a:bodyPr>
          <a:lstStyle/>
          <a:p>
            <a:pPr marL="0" indent="0" algn="l">
              <a:buNone/>
            </a:pPr>
            <a:r>
              <a:rPr lang="en-US" sz="900" b="1" kern="0" spc="120" dirty="0">
                <a:solidFill>
                  <a:srgbClr val="0A5E8C"/>
                </a:solidFill>
                <a:latin typeface="Aptos" pitchFamily="34" charset="0"/>
                <a:ea typeface="Aptos" pitchFamily="34" charset="-122"/>
                <a:cs typeface="Aptos" pitchFamily="34" charset="-120"/>
              </a:rPr>
              <a:t>01 · CONTEXTO</a:t>
            </a:r>
            <a:endParaRPr lang="en-US" sz="900" dirty="0"/>
          </a:p>
        </p:txBody>
      </p:sp>
      <p:sp>
        <p:nvSpPr>
          <p:cNvPr id="3" name="Text 1"/>
          <p:cNvSpPr txBox="1"/>
          <p:nvPr/>
        </p:nvSpPr>
        <p:spPr>
          <a:xfrm>
            <a:off x="502920" y="530352"/>
            <a:ext cx="11064240" cy="493776"/>
          </a:xfrm>
          <a:prstGeom prst="rect">
            <a:avLst/>
          </a:prstGeom>
          <a:noFill/>
          <a:ln/>
        </p:spPr>
        <p:txBody>
          <a:bodyPr wrap="square" lIns="0" tIns="0" rIns="0" bIns="0" rtlCol="0" anchor="ctr">
            <a:normAutofit/>
          </a:bodyPr>
          <a:lstStyle/>
          <a:p>
            <a:pPr marL="0" indent="0" algn="l">
              <a:buNone/>
            </a:pPr>
            <a:r>
              <a:rPr lang="en-US" sz="2700" b="1" dirty="0">
                <a:solidFill>
                  <a:srgbClr val="173042"/>
                </a:solidFill>
                <a:latin typeface="Aptos" pitchFamily="34" charset="0"/>
                <a:ea typeface="Aptos" pitchFamily="34" charset="-122"/>
                <a:cs typeface="Aptos" pitchFamily="34" charset="-120"/>
              </a:rPr>
              <a:t>Una sola plataforma para coordinar toda la operación asistida</a:t>
            </a:r>
            <a:endParaRPr lang="en-US" sz="2700" dirty="0"/>
          </a:p>
        </p:txBody>
      </p:sp>
      <p:sp>
        <p:nvSpPr>
          <p:cNvPr id="4" name="Text 2"/>
          <p:cNvSpPr txBox="1"/>
          <p:nvPr/>
        </p:nvSpPr>
        <p:spPr>
          <a:xfrm>
            <a:off x="502920" y="1024128"/>
            <a:ext cx="10972800" cy="384048"/>
          </a:xfrm>
          <a:prstGeom prst="rect">
            <a:avLst/>
          </a:prstGeom>
          <a:noFill/>
          <a:ln/>
        </p:spPr>
        <p:txBody>
          <a:bodyPr wrap="square" lIns="0" tIns="0" rIns="0" bIns="0" rtlCol="0" anchor="t">
            <a:normAutofit/>
          </a:bodyPr>
          <a:lstStyle/>
          <a:p>
            <a:pPr marL="0" indent="0" algn="l">
              <a:buNone/>
            </a:pPr>
            <a:r>
              <a:rPr lang="en-US" sz="1250" dirty="0">
                <a:solidFill>
                  <a:srgbClr val="5F7484"/>
                </a:solidFill>
                <a:latin typeface="Aptos" pitchFamily="34" charset="0"/>
                <a:ea typeface="Aptos" pitchFamily="34" charset="-122"/>
                <a:cs typeface="Aptos" pitchFamily="34" charset="-120"/>
              </a:rPr>
              <a:t>Movix conecta a operadores, choferes y clientes alrededor de rutas, pasajeros, incidencias y seguimiento en tiempo real.</a:t>
            </a:r>
            <a:endParaRPr lang="en-US" sz="1250" dirty="0"/>
          </a:p>
        </p:txBody>
      </p:sp>
      <p:sp>
        <p:nvSpPr>
          <p:cNvPr id="5" name="Shape 3"/>
          <p:cNvSpPr/>
          <p:nvPr/>
        </p:nvSpPr>
        <p:spPr>
          <a:xfrm>
            <a:off x="502920" y="1572768"/>
            <a:ext cx="2971800" cy="4434840"/>
          </a:xfrm>
          <a:prstGeom prst="roundRect">
            <a:avLst>
              <a:gd name="adj" fmla="val 3692"/>
            </a:avLst>
          </a:prstGeom>
          <a:solidFill>
            <a:srgbClr val="082A42">
              <a:alpha val="80000"/>
            </a:srgbClr>
          </a:solidFill>
          <a:ln w="12700">
            <a:solidFill>
              <a:srgbClr val="082A42"/>
            </a:solidFill>
            <a:prstDash val="solid"/>
          </a:ln>
        </p:spPr>
        <p:txBody>
          <a:bodyPr/>
          <a:lstStyle/>
          <a:p>
            <a:endParaRPr lang="en-US"/>
          </a:p>
        </p:txBody>
      </p:sp>
      <p:sp>
        <p:nvSpPr>
          <p:cNvPr id="6" name="Text 4"/>
          <p:cNvSpPr txBox="1"/>
          <p:nvPr/>
        </p:nvSpPr>
        <p:spPr>
          <a:xfrm>
            <a:off x="749808" y="1810512"/>
            <a:ext cx="2423160" cy="347472"/>
          </a:xfrm>
          <a:prstGeom prst="rect">
            <a:avLst/>
          </a:prstGeom>
          <a:noFill/>
          <a:ln/>
        </p:spPr>
        <p:txBody>
          <a:bodyPr wrap="square" lIns="0" tIns="0" rIns="0" bIns="0" rtlCol="0" anchor="ctr">
            <a:normAutofit/>
          </a:bodyPr>
          <a:lstStyle/>
          <a:p>
            <a:pPr marL="0" indent="0" algn="l">
              <a:buNone/>
            </a:pPr>
            <a:r>
              <a:rPr lang="en-US" sz="1700" b="1" dirty="0">
                <a:solidFill>
                  <a:srgbClr val="FFFFFF"/>
                </a:solidFill>
                <a:latin typeface="Aptos" pitchFamily="34" charset="0"/>
                <a:ea typeface="Aptos" pitchFamily="34" charset="-122"/>
                <a:cs typeface="Aptos" pitchFamily="34" charset="-120"/>
              </a:rPr>
              <a:t>¿Qué centraliza Movix?</a:t>
            </a:r>
            <a:endParaRPr lang="en-US" sz="170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8096" y="2267712"/>
            <a:ext cx="292608" cy="292608"/>
          </a:xfrm>
          <a:prstGeom prst="rect">
            <a:avLst/>
          </a:prstGeom>
        </p:spPr>
      </p:pic>
      <p:sp>
        <p:nvSpPr>
          <p:cNvPr id="8" name="Text 5"/>
          <p:cNvSpPr txBox="1"/>
          <p:nvPr/>
        </p:nvSpPr>
        <p:spPr>
          <a:xfrm>
            <a:off x="1143000" y="2258568"/>
            <a:ext cx="2084832" cy="310896"/>
          </a:xfrm>
          <a:prstGeom prst="rect">
            <a:avLst/>
          </a:prstGeom>
          <a:noFill/>
          <a:ln/>
        </p:spPr>
        <p:txBody>
          <a:bodyPr wrap="square" lIns="0" tIns="0" rIns="0" bIns="0" rtlCol="0" anchor="ctr">
            <a:normAutofit/>
          </a:bodyPr>
          <a:lstStyle/>
          <a:p>
            <a:pPr marL="0" indent="0" algn="l">
              <a:buNone/>
            </a:pPr>
            <a:r>
              <a:rPr lang="en-US" sz="1130" dirty="0">
                <a:solidFill>
                  <a:srgbClr val="D5E4EC"/>
                </a:solidFill>
                <a:latin typeface="Aptos" pitchFamily="34" charset="0"/>
                <a:ea typeface="Aptos" pitchFamily="34" charset="-122"/>
                <a:cs typeface="Aptos" pitchFamily="34" charset="-120"/>
              </a:rPr>
              <a:t>Operadores, usuarios y roles</a:t>
            </a:r>
            <a:endParaRPr lang="en-US" sz="113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8096" y="2743200"/>
            <a:ext cx="292608" cy="292608"/>
          </a:xfrm>
          <a:prstGeom prst="rect">
            <a:avLst/>
          </a:prstGeom>
        </p:spPr>
      </p:pic>
      <p:sp>
        <p:nvSpPr>
          <p:cNvPr id="10" name="Text 6"/>
          <p:cNvSpPr txBox="1"/>
          <p:nvPr/>
        </p:nvSpPr>
        <p:spPr>
          <a:xfrm>
            <a:off x="1143000" y="2734056"/>
            <a:ext cx="2084832" cy="310896"/>
          </a:xfrm>
          <a:prstGeom prst="rect">
            <a:avLst/>
          </a:prstGeom>
          <a:noFill/>
          <a:ln/>
        </p:spPr>
        <p:txBody>
          <a:bodyPr wrap="square" lIns="0" tIns="0" rIns="0" bIns="0" rtlCol="0" anchor="ctr">
            <a:normAutofit/>
          </a:bodyPr>
          <a:lstStyle/>
          <a:p>
            <a:pPr marL="0" indent="0" algn="l">
              <a:buNone/>
            </a:pPr>
            <a:r>
              <a:rPr lang="en-US" sz="1130" dirty="0">
                <a:solidFill>
                  <a:srgbClr val="D5E4EC"/>
                </a:solidFill>
                <a:latin typeface="Aptos" pitchFamily="34" charset="0"/>
                <a:ea typeface="Aptos" pitchFamily="34" charset="-122"/>
                <a:cs typeface="Aptos" pitchFamily="34" charset="-120"/>
              </a:rPr>
              <a:t>Rutas, choferes y pasajeros</a:t>
            </a:r>
            <a:endParaRPr lang="en-US" sz="113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8096" y="3218688"/>
            <a:ext cx="292608" cy="292608"/>
          </a:xfrm>
          <a:prstGeom prst="rect">
            <a:avLst/>
          </a:prstGeom>
        </p:spPr>
      </p:pic>
      <p:sp>
        <p:nvSpPr>
          <p:cNvPr id="12" name="Text 7"/>
          <p:cNvSpPr txBox="1"/>
          <p:nvPr/>
        </p:nvSpPr>
        <p:spPr>
          <a:xfrm>
            <a:off x="1143000" y="3209544"/>
            <a:ext cx="2084832" cy="310896"/>
          </a:xfrm>
          <a:prstGeom prst="rect">
            <a:avLst/>
          </a:prstGeom>
          <a:noFill/>
          <a:ln/>
        </p:spPr>
        <p:txBody>
          <a:bodyPr wrap="square" lIns="0" tIns="0" rIns="0" bIns="0" rtlCol="0" anchor="ctr">
            <a:normAutofit/>
          </a:bodyPr>
          <a:lstStyle/>
          <a:p>
            <a:pPr marL="0" indent="0" algn="l">
              <a:buNone/>
            </a:pPr>
            <a:r>
              <a:rPr lang="en-US" sz="1130" dirty="0">
                <a:solidFill>
                  <a:srgbClr val="D5E4EC"/>
                </a:solidFill>
                <a:latin typeface="Aptos" pitchFamily="34" charset="0"/>
                <a:ea typeface="Aptos" pitchFamily="34" charset="-122"/>
                <a:cs typeface="Aptos" pitchFamily="34" charset="-120"/>
              </a:rPr>
              <a:t>Monitoreo y ubicación en tiempo real</a:t>
            </a:r>
            <a:endParaRPr lang="en-US" sz="113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8096" y="3694176"/>
            <a:ext cx="292608" cy="292608"/>
          </a:xfrm>
          <a:prstGeom prst="rect">
            <a:avLst/>
          </a:prstGeom>
        </p:spPr>
      </p:pic>
      <p:sp>
        <p:nvSpPr>
          <p:cNvPr id="14" name="Text 8"/>
          <p:cNvSpPr txBox="1"/>
          <p:nvPr/>
        </p:nvSpPr>
        <p:spPr>
          <a:xfrm>
            <a:off x="1143000" y="3685032"/>
            <a:ext cx="2084832" cy="310896"/>
          </a:xfrm>
          <a:prstGeom prst="rect">
            <a:avLst/>
          </a:prstGeom>
          <a:noFill/>
          <a:ln/>
        </p:spPr>
        <p:txBody>
          <a:bodyPr wrap="square" lIns="0" tIns="0" rIns="0" bIns="0" rtlCol="0" anchor="ctr">
            <a:normAutofit/>
          </a:bodyPr>
          <a:lstStyle/>
          <a:p>
            <a:pPr marL="0" indent="0" algn="l">
              <a:buNone/>
            </a:pPr>
            <a:r>
              <a:rPr lang="en-US" sz="1130" dirty="0">
                <a:solidFill>
                  <a:srgbClr val="D5E4EC"/>
                </a:solidFill>
                <a:latin typeface="Aptos" pitchFamily="34" charset="0"/>
                <a:ea typeface="Aptos" pitchFamily="34" charset="-122"/>
                <a:cs typeface="Aptos" pitchFamily="34" charset="-120"/>
              </a:rPr>
              <a:t>Confirmaciones de abordaje y entrega</a:t>
            </a:r>
            <a:endParaRPr lang="en-US" sz="113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68096" y="4169664"/>
            <a:ext cx="292608" cy="292608"/>
          </a:xfrm>
          <a:prstGeom prst="rect">
            <a:avLst/>
          </a:prstGeom>
        </p:spPr>
      </p:pic>
      <p:sp>
        <p:nvSpPr>
          <p:cNvPr id="16" name="Text 9"/>
          <p:cNvSpPr txBox="1"/>
          <p:nvPr/>
        </p:nvSpPr>
        <p:spPr>
          <a:xfrm>
            <a:off x="1143000" y="4160520"/>
            <a:ext cx="2084832" cy="310896"/>
          </a:xfrm>
          <a:prstGeom prst="rect">
            <a:avLst/>
          </a:prstGeom>
          <a:noFill/>
          <a:ln/>
        </p:spPr>
        <p:txBody>
          <a:bodyPr wrap="square" lIns="0" tIns="0" rIns="0" bIns="0" rtlCol="0" anchor="ctr">
            <a:normAutofit/>
          </a:bodyPr>
          <a:lstStyle/>
          <a:p>
            <a:pPr marL="0" indent="0" algn="l">
              <a:buNone/>
            </a:pPr>
            <a:r>
              <a:rPr lang="en-US" sz="1130" dirty="0">
                <a:solidFill>
                  <a:srgbClr val="D5E4EC"/>
                </a:solidFill>
                <a:latin typeface="Aptos" pitchFamily="34" charset="0"/>
                <a:ea typeface="Aptos" pitchFamily="34" charset="-122"/>
                <a:cs typeface="Aptos" pitchFamily="34" charset="-120"/>
              </a:rPr>
              <a:t>Incidentes y solicitudes especiales</a:t>
            </a:r>
            <a:endParaRPr lang="en-US" sz="1130" dirty="0"/>
          </a:p>
        </p:txBody>
      </p:sp>
      <p:pic>
        <p:nvPicPr>
          <p:cNvPr id="17"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68096" y="4645152"/>
            <a:ext cx="292608" cy="292608"/>
          </a:xfrm>
          <a:prstGeom prst="rect">
            <a:avLst/>
          </a:prstGeom>
        </p:spPr>
      </p:pic>
      <p:sp>
        <p:nvSpPr>
          <p:cNvPr id="18" name="Text 10"/>
          <p:cNvSpPr txBox="1"/>
          <p:nvPr/>
        </p:nvSpPr>
        <p:spPr>
          <a:xfrm>
            <a:off x="1143000" y="4636008"/>
            <a:ext cx="2084832" cy="310896"/>
          </a:xfrm>
          <a:prstGeom prst="rect">
            <a:avLst/>
          </a:prstGeom>
          <a:noFill/>
          <a:ln/>
        </p:spPr>
        <p:txBody>
          <a:bodyPr wrap="square" lIns="0" tIns="0" rIns="0" bIns="0" rtlCol="0" anchor="ctr">
            <a:normAutofit/>
          </a:bodyPr>
          <a:lstStyle/>
          <a:p>
            <a:pPr marL="0" indent="0" algn="l">
              <a:buNone/>
            </a:pPr>
            <a:r>
              <a:rPr lang="en-US" sz="1130" dirty="0">
                <a:solidFill>
                  <a:srgbClr val="D5E4EC"/>
                </a:solidFill>
                <a:latin typeface="Aptos" pitchFamily="34" charset="0"/>
                <a:ea typeface="Aptos" pitchFamily="34" charset="-122"/>
                <a:cs typeface="Aptos" pitchFamily="34" charset="-120"/>
              </a:rPr>
              <a:t>Notificaciones y trazabilidad</a:t>
            </a:r>
            <a:endParaRPr lang="en-US" sz="1130" dirty="0"/>
          </a:p>
        </p:txBody>
      </p:sp>
      <p:pic>
        <p:nvPicPr>
          <p:cNvPr id="19"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68096" y="5120640"/>
            <a:ext cx="292608" cy="292608"/>
          </a:xfrm>
          <a:prstGeom prst="rect">
            <a:avLst/>
          </a:prstGeom>
        </p:spPr>
      </p:pic>
      <p:sp>
        <p:nvSpPr>
          <p:cNvPr id="20" name="Text 11"/>
          <p:cNvSpPr txBox="1"/>
          <p:nvPr/>
        </p:nvSpPr>
        <p:spPr>
          <a:xfrm>
            <a:off x="1143000" y="5111496"/>
            <a:ext cx="2084832" cy="310896"/>
          </a:xfrm>
          <a:prstGeom prst="rect">
            <a:avLst/>
          </a:prstGeom>
          <a:noFill/>
          <a:ln/>
        </p:spPr>
        <p:txBody>
          <a:bodyPr wrap="square" lIns="0" tIns="0" rIns="0" bIns="0" rtlCol="0" anchor="ctr">
            <a:normAutofit/>
          </a:bodyPr>
          <a:lstStyle/>
          <a:p>
            <a:pPr marL="0" indent="0" algn="l">
              <a:buNone/>
            </a:pPr>
            <a:r>
              <a:rPr lang="en-US" sz="1130" dirty="0">
                <a:solidFill>
                  <a:srgbClr val="D5E4EC"/>
                </a:solidFill>
                <a:latin typeface="Aptos" pitchFamily="34" charset="0"/>
                <a:ea typeface="Aptos" pitchFamily="34" charset="-122"/>
                <a:cs typeface="Aptos" pitchFamily="34" charset="-120"/>
              </a:rPr>
              <a:t>Perfiles médicos o veterinarios</a:t>
            </a:r>
            <a:endParaRPr lang="en-US" sz="1130" dirty="0"/>
          </a:p>
        </p:txBody>
      </p:sp>
      <p:sp>
        <p:nvSpPr>
          <p:cNvPr id="21" name="Shape 12"/>
          <p:cNvSpPr/>
          <p:nvPr/>
        </p:nvSpPr>
        <p:spPr>
          <a:xfrm>
            <a:off x="758952" y="5486400"/>
            <a:ext cx="2423160" cy="310896"/>
          </a:xfrm>
          <a:prstGeom prst="roundRect">
            <a:avLst>
              <a:gd name="adj" fmla="val 35294"/>
            </a:avLst>
          </a:prstGeom>
          <a:solidFill>
            <a:srgbClr val="0D6B93"/>
          </a:solidFill>
          <a:ln w="12700">
            <a:solidFill>
              <a:srgbClr val="0D6B93"/>
            </a:solidFill>
            <a:prstDash val="solid"/>
          </a:ln>
        </p:spPr>
        <p:txBody>
          <a:bodyPr/>
          <a:lstStyle/>
          <a:p>
            <a:endParaRPr lang="en-US"/>
          </a:p>
        </p:txBody>
      </p:sp>
      <p:sp>
        <p:nvSpPr>
          <p:cNvPr id="22" name="Text 13"/>
          <p:cNvSpPr txBox="1"/>
          <p:nvPr/>
        </p:nvSpPr>
        <p:spPr>
          <a:xfrm>
            <a:off x="832104" y="5495544"/>
            <a:ext cx="2276856" cy="274320"/>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MODELO SaaS MULTIOPERADOR</a:t>
            </a:r>
            <a:endParaRPr lang="en-US" sz="950" dirty="0"/>
          </a:p>
        </p:txBody>
      </p:sp>
      <p:sp>
        <p:nvSpPr>
          <p:cNvPr id="23" name="Text 14"/>
          <p:cNvSpPr txBox="1"/>
          <p:nvPr/>
        </p:nvSpPr>
        <p:spPr>
          <a:xfrm>
            <a:off x="3767328" y="1682496"/>
            <a:ext cx="3749040" cy="320040"/>
          </a:xfrm>
          <a:prstGeom prst="rect">
            <a:avLst/>
          </a:prstGeom>
          <a:noFill/>
          <a:ln/>
        </p:spPr>
        <p:txBody>
          <a:bodyPr wrap="square" lIns="0" tIns="0" rIns="0" bIns="0" rtlCol="0" anchor="ctr">
            <a:normAutofit/>
          </a:bodyPr>
          <a:lstStyle/>
          <a:p>
            <a:pPr marL="0" indent="0" algn="l">
              <a:buNone/>
            </a:pPr>
            <a:r>
              <a:rPr lang="en-US" sz="1650" b="1" dirty="0">
                <a:solidFill>
                  <a:srgbClr val="173042"/>
                </a:solidFill>
                <a:latin typeface="Aptos" pitchFamily="34" charset="0"/>
                <a:ea typeface="Aptos" pitchFamily="34" charset="-122"/>
                <a:cs typeface="Aptos" pitchFamily="34" charset="-120"/>
              </a:rPr>
              <a:t>Tres dominios de negocio</a:t>
            </a:r>
            <a:endParaRPr lang="en-US" sz="1650" dirty="0"/>
          </a:p>
        </p:txBody>
      </p:sp>
      <p:sp>
        <p:nvSpPr>
          <p:cNvPr id="24" name="Shape 15"/>
          <p:cNvSpPr/>
          <p:nvPr/>
        </p:nvSpPr>
        <p:spPr>
          <a:xfrm>
            <a:off x="3767328" y="2048256"/>
            <a:ext cx="2267712" cy="1993392"/>
          </a:xfrm>
          <a:prstGeom prst="roundRect">
            <a:avLst>
              <a:gd name="adj" fmla="val 5505"/>
            </a:avLst>
          </a:prstGeom>
          <a:solidFill>
            <a:srgbClr val="FFFFFF"/>
          </a:solidFill>
          <a:ln w="12700">
            <a:solidFill>
              <a:srgbClr val="D8E4EC"/>
            </a:solidFill>
            <a:prstDash val="solid"/>
          </a:ln>
        </p:spPr>
        <p:txBody>
          <a:bodyPr/>
          <a:lstStyle/>
          <a:p>
            <a:endParaRPr lang="en-US"/>
          </a:p>
        </p:txBody>
      </p:sp>
      <p:sp>
        <p:nvSpPr>
          <p:cNvPr id="25" name="Shape 16"/>
          <p:cNvSpPr/>
          <p:nvPr/>
        </p:nvSpPr>
        <p:spPr>
          <a:xfrm>
            <a:off x="3931920" y="2231136"/>
            <a:ext cx="512064" cy="512064"/>
          </a:xfrm>
          <a:prstGeom prst="ellipse">
            <a:avLst/>
          </a:prstGeom>
          <a:solidFill>
            <a:srgbClr val="0A5E8C"/>
          </a:solidFill>
          <a:ln w="12700">
            <a:solidFill>
              <a:srgbClr val="0A5E8C"/>
            </a:solidFill>
            <a:prstDash val="solid"/>
          </a:ln>
        </p:spPr>
        <p:txBody>
          <a:bodyPr/>
          <a:lstStyle/>
          <a:p>
            <a:endParaRPr lang="en-US"/>
          </a:p>
        </p:txBody>
      </p:sp>
      <p:pic>
        <p:nvPicPr>
          <p:cNvPr id="26"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059936" y="2359152"/>
            <a:ext cx="256032" cy="256032"/>
          </a:xfrm>
          <a:prstGeom prst="rect">
            <a:avLst/>
          </a:prstGeom>
        </p:spPr>
      </p:pic>
      <p:sp>
        <p:nvSpPr>
          <p:cNvPr id="27" name="Text 17"/>
          <p:cNvSpPr txBox="1"/>
          <p:nvPr/>
        </p:nvSpPr>
        <p:spPr>
          <a:xfrm>
            <a:off x="4526280" y="2249424"/>
            <a:ext cx="1188720" cy="274320"/>
          </a:xfrm>
          <a:prstGeom prst="rect">
            <a:avLst/>
          </a:prstGeom>
          <a:noFill/>
          <a:ln/>
        </p:spPr>
        <p:txBody>
          <a:bodyPr wrap="square" lIns="0" tIns="0" rIns="0" bIns="0" rtlCol="0" anchor="ctr">
            <a:normAutofit/>
          </a:bodyPr>
          <a:lstStyle/>
          <a:p>
            <a:pPr marL="0" indent="0" algn="l">
              <a:buNone/>
            </a:pPr>
            <a:r>
              <a:rPr lang="en-US" sz="1600" b="1" dirty="0">
                <a:solidFill>
                  <a:srgbClr val="0A5E8C"/>
                </a:solidFill>
                <a:latin typeface="Aptos" pitchFamily="34" charset="0"/>
                <a:ea typeface="Aptos" pitchFamily="34" charset="-122"/>
                <a:cs typeface="Aptos" pitchFamily="34" charset="-120"/>
              </a:rPr>
              <a:t>Escolar</a:t>
            </a:r>
            <a:endParaRPr lang="en-US" sz="1600" dirty="0"/>
          </a:p>
        </p:txBody>
      </p:sp>
      <p:sp>
        <p:nvSpPr>
          <p:cNvPr id="28" name="Text 18"/>
          <p:cNvSpPr txBox="1"/>
          <p:nvPr/>
        </p:nvSpPr>
        <p:spPr>
          <a:xfrm>
            <a:off x="3950208" y="2871216"/>
            <a:ext cx="1901952" cy="859536"/>
          </a:xfrm>
          <a:prstGeom prst="rect">
            <a:avLst/>
          </a:prstGeom>
          <a:noFill/>
          <a:ln/>
        </p:spPr>
        <p:txBody>
          <a:bodyPr wrap="square" lIns="0" tIns="0" rIns="0" bIns="0" rtlCol="0" anchor="t">
            <a:normAutofit/>
          </a:bodyPr>
          <a:lstStyle/>
          <a:p>
            <a:pPr marL="0" indent="0" algn="l">
              <a:buNone/>
            </a:pPr>
            <a:r>
              <a:rPr lang="en-US" sz="1110" dirty="0">
                <a:solidFill>
                  <a:srgbClr val="5F7484"/>
                </a:solidFill>
                <a:latin typeface="Aptos" pitchFamily="34" charset="0"/>
                <a:ea typeface="Aptos" pitchFamily="34" charset="-122"/>
                <a:cs typeface="Aptos" pitchFamily="34" charset="-120"/>
              </a:rPr>
              <a:t>Confirmaciones estrictas de abordaje y entrega de estudiantes.</a:t>
            </a:r>
            <a:endParaRPr lang="en-US" sz="1110" dirty="0"/>
          </a:p>
        </p:txBody>
      </p:sp>
      <p:sp>
        <p:nvSpPr>
          <p:cNvPr id="29" name="Shape 19"/>
          <p:cNvSpPr/>
          <p:nvPr/>
        </p:nvSpPr>
        <p:spPr>
          <a:xfrm>
            <a:off x="6336792" y="2048256"/>
            <a:ext cx="2267712" cy="1993392"/>
          </a:xfrm>
          <a:prstGeom prst="roundRect">
            <a:avLst>
              <a:gd name="adj" fmla="val 5505"/>
            </a:avLst>
          </a:prstGeom>
          <a:solidFill>
            <a:srgbClr val="FFFFFF"/>
          </a:solidFill>
          <a:ln w="12700">
            <a:solidFill>
              <a:srgbClr val="D8E4EC"/>
            </a:solidFill>
            <a:prstDash val="solid"/>
          </a:ln>
        </p:spPr>
        <p:txBody>
          <a:bodyPr/>
          <a:lstStyle/>
          <a:p>
            <a:endParaRPr lang="en-US"/>
          </a:p>
        </p:txBody>
      </p:sp>
      <p:sp>
        <p:nvSpPr>
          <p:cNvPr id="30" name="Shape 20"/>
          <p:cNvSpPr/>
          <p:nvPr/>
        </p:nvSpPr>
        <p:spPr>
          <a:xfrm>
            <a:off x="6501384" y="2231136"/>
            <a:ext cx="512064" cy="512064"/>
          </a:xfrm>
          <a:prstGeom prst="ellipse">
            <a:avLst/>
          </a:prstGeom>
          <a:solidFill>
            <a:srgbClr val="20A3B8"/>
          </a:solidFill>
          <a:ln w="12700">
            <a:solidFill>
              <a:srgbClr val="20A3B8"/>
            </a:solidFill>
            <a:prstDash val="solid"/>
          </a:ln>
        </p:spPr>
        <p:txBody>
          <a:bodyPr/>
          <a:lstStyle/>
          <a:p>
            <a:endParaRPr lang="en-US"/>
          </a:p>
        </p:txBody>
      </p:sp>
      <p:pic>
        <p:nvPicPr>
          <p:cNvPr id="31"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629400" y="2359152"/>
            <a:ext cx="256032" cy="256032"/>
          </a:xfrm>
          <a:prstGeom prst="rect">
            <a:avLst/>
          </a:prstGeom>
        </p:spPr>
      </p:pic>
      <p:sp>
        <p:nvSpPr>
          <p:cNvPr id="32" name="Text 21"/>
          <p:cNvSpPr txBox="1"/>
          <p:nvPr/>
        </p:nvSpPr>
        <p:spPr>
          <a:xfrm>
            <a:off x="7095744" y="2249424"/>
            <a:ext cx="1188720" cy="274320"/>
          </a:xfrm>
          <a:prstGeom prst="rect">
            <a:avLst/>
          </a:prstGeom>
          <a:noFill/>
          <a:ln/>
        </p:spPr>
        <p:txBody>
          <a:bodyPr wrap="square" lIns="0" tIns="0" rIns="0" bIns="0" rtlCol="0" anchor="ctr">
            <a:normAutofit/>
          </a:bodyPr>
          <a:lstStyle/>
          <a:p>
            <a:pPr marL="0" indent="0" algn="l">
              <a:buNone/>
            </a:pPr>
            <a:r>
              <a:rPr lang="en-US" sz="1600" b="1" dirty="0">
                <a:solidFill>
                  <a:srgbClr val="20A3B8"/>
                </a:solidFill>
                <a:latin typeface="Aptos" pitchFamily="34" charset="0"/>
                <a:ea typeface="Aptos" pitchFamily="34" charset="-122"/>
                <a:cs typeface="Aptos" pitchFamily="34" charset="-120"/>
              </a:rPr>
              <a:t>Turismo</a:t>
            </a:r>
            <a:endParaRPr lang="en-US" sz="1600" dirty="0"/>
          </a:p>
        </p:txBody>
      </p:sp>
      <p:sp>
        <p:nvSpPr>
          <p:cNvPr id="33" name="Text 22"/>
          <p:cNvSpPr txBox="1"/>
          <p:nvPr/>
        </p:nvSpPr>
        <p:spPr>
          <a:xfrm>
            <a:off x="6519672" y="2871216"/>
            <a:ext cx="1901952" cy="859536"/>
          </a:xfrm>
          <a:prstGeom prst="rect">
            <a:avLst/>
          </a:prstGeom>
          <a:noFill/>
          <a:ln/>
        </p:spPr>
        <p:txBody>
          <a:bodyPr wrap="square" lIns="0" tIns="0" rIns="0" bIns="0" rtlCol="0" anchor="t">
            <a:normAutofit/>
          </a:bodyPr>
          <a:lstStyle/>
          <a:p>
            <a:pPr marL="0" indent="0" algn="l">
              <a:buNone/>
            </a:pPr>
            <a:r>
              <a:rPr lang="en-US" sz="1110" dirty="0">
                <a:solidFill>
                  <a:srgbClr val="5F7484"/>
                </a:solidFill>
                <a:latin typeface="Aptos" pitchFamily="34" charset="0"/>
                <a:ea typeface="Aptos" pitchFamily="34" charset="-122"/>
                <a:cs typeface="Aptos" pitchFamily="34" charset="-120"/>
              </a:rPr>
              <a:t>Puntos de encuentro, seguimiento del recorrido y experiencia del pasajero.</a:t>
            </a:r>
            <a:endParaRPr lang="en-US" sz="1110" dirty="0"/>
          </a:p>
        </p:txBody>
      </p:sp>
      <p:sp>
        <p:nvSpPr>
          <p:cNvPr id="34" name="Shape 23"/>
          <p:cNvSpPr/>
          <p:nvPr/>
        </p:nvSpPr>
        <p:spPr>
          <a:xfrm>
            <a:off x="8906256" y="2048256"/>
            <a:ext cx="2267712" cy="1993392"/>
          </a:xfrm>
          <a:prstGeom prst="roundRect">
            <a:avLst>
              <a:gd name="adj" fmla="val 5505"/>
            </a:avLst>
          </a:prstGeom>
          <a:solidFill>
            <a:srgbClr val="FFFFFF"/>
          </a:solidFill>
          <a:ln w="12700">
            <a:solidFill>
              <a:srgbClr val="D8E4EC"/>
            </a:solidFill>
            <a:prstDash val="solid"/>
          </a:ln>
        </p:spPr>
        <p:txBody>
          <a:bodyPr/>
          <a:lstStyle/>
          <a:p>
            <a:endParaRPr lang="en-US"/>
          </a:p>
        </p:txBody>
      </p:sp>
      <p:sp>
        <p:nvSpPr>
          <p:cNvPr id="35" name="Shape 24"/>
          <p:cNvSpPr/>
          <p:nvPr/>
        </p:nvSpPr>
        <p:spPr>
          <a:xfrm>
            <a:off x="9070848" y="2231136"/>
            <a:ext cx="512064" cy="512064"/>
          </a:xfrm>
          <a:prstGeom prst="ellipse">
            <a:avLst/>
          </a:prstGeom>
          <a:solidFill>
            <a:srgbClr val="6B6FD8"/>
          </a:solidFill>
          <a:ln w="12700">
            <a:solidFill>
              <a:srgbClr val="6B6FD8"/>
            </a:solidFill>
            <a:prstDash val="solid"/>
          </a:ln>
        </p:spPr>
        <p:txBody>
          <a:bodyPr/>
          <a:lstStyle/>
          <a:p>
            <a:endParaRPr lang="en-US"/>
          </a:p>
        </p:txBody>
      </p:sp>
      <p:pic>
        <p:nvPicPr>
          <p:cNvPr id="36"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198864" y="2359152"/>
            <a:ext cx="256032" cy="256032"/>
          </a:xfrm>
          <a:prstGeom prst="rect">
            <a:avLst/>
          </a:prstGeom>
        </p:spPr>
      </p:pic>
      <p:sp>
        <p:nvSpPr>
          <p:cNvPr id="37" name="Text 25"/>
          <p:cNvSpPr txBox="1"/>
          <p:nvPr/>
        </p:nvSpPr>
        <p:spPr>
          <a:xfrm>
            <a:off x="9665208" y="2249424"/>
            <a:ext cx="1188720" cy="274320"/>
          </a:xfrm>
          <a:prstGeom prst="rect">
            <a:avLst/>
          </a:prstGeom>
          <a:noFill/>
          <a:ln/>
        </p:spPr>
        <p:txBody>
          <a:bodyPr wrap="square" lIns="0" tIns="0" rIns="0" bIns="0" rtlCol="0" anchor="ctr">
            <a:normAutofit/>
          </a:bodyPr>
          <a:lstStyle/>
          <a:p>
            <a:pPr marL="0" indent="0" algn="l">
              <a:buNone/>
            </a:pPr>
            <a:r>
              <a:rPr lang="en-US" sz="1600" b="1" dirty="0">
                <a:solidFill>
                  <a:srgbClr val="6B6FD8"/>
                </a:solidFill>
                <a:latin typeface="Aptos" pitchFamily="34" charset="0"/>
                <a:ea typeface="Aptos" pitchFamily="34" charset="-122"/>
                <a:cs typeface="Aptos" pitchFamily="34" charset="-120"/>
              </a:rPr>
              <a:t>Mascotas</a:t>
            </a:r>
            <a:endParaRPr lang="en-US" sz="1600" dirty="0"/>
          </a:p>
        </p:txBody>
      </p:sp>
      <p:sp>
        <p:nvSpPr>
          <p:cNvPr id="38" name="Text 26"/>
          <p:cNvSpPr txBox="1"/>
          <p:nvPr/>
        </p:nvSpPr>
        <p:spPr>
          <a:xfrm>
            <a:off x="9089136" y="2871216"/>
            <a:ext cx="1901952" cy="859536"/>
          </a:xfrm>
          <a:prstGeom prst="rect">
            <a:avLst/>
          </a:prstGeom>
          <a:noFill/>
          <a:ln/>
        </p:spPr>
        <p:txBody>
          <a:bodyPr wrap="square" lIns="0" tIns="0" rIns="0" bIns="0" rtlCol="0" anchor="t">
            <a:normAutofit/>
          </a:bodyPr>
          <a:lstStyle/>
          <a:p>
            <a:pPr marL="0" indent="0" algn="l">
              <a:buNone/>
            </a:pPr>
            <a:r>
              <a:rPr lang="en-US" sz="1110" dirty="0">
                <a:solidFill>
                  <a:srgbClr val="5F7484"/>
                </a:solidFill>
                <a:latin typeface="Aptos" pitchFamily="34" charset="0"/>
                <a:ea typeface="Aptos" pitchFamily="34" charset="-122"/>
                <a:cs typeface="Aptos" pitchFamily="34" charset="-120"/>
              </a:rPr>
              <a:t>Expediente veterinario, datos de manejo y confirmación de recepción.</a:t>
            </a:r>
            <a:endParaRPr lang="en-US" sz="1110" dirty="0"/>
          </a:p>
        </p:txBody>
      </p:sp>
      <p:sp>
        <p:nvSpPr>
          <p:cNvPr id="39" name="Text 27"/>
          <p:cNvSpPr txBox="1"/>
          <p:nvPr/>
        </p:nvSpPr>
        <p:spPr>
          <a:xfrm>
            <a:off x="3767328" y="4297680"/>
            <a:ext cx="2743200" cy="310896"/>
          </a:xfrm>
          <a:prstGeom prst="rect">
            <a:avLst/>
          </a:prstGeom>
          <a:noFill/>
          <a:ln/>
        </p:spPr>
        <p:txBody>
          <a:bodyPr wrap="square" lIns="0" tIns="0" rIns="0" bIns="0" rtlCol="0" anchor="ctr">
            <a:normAutofit/>
          </a:bodyPr>
          <a:lstStyle/>
          <a:p>
            <a:pPr marL="0" indent="0" algn="l">
              <a:buNone/>
            </a:pPr>
            <a:r>
              <a:rPr lang="en-US" sz="1650" b="1" dirty="0">
                <a:solidFill>
                  <a:srgbClr val="173042"/>
                </a:solidFill>
                <a:latin typeface="Aptos" pitchFamily="34" charset="0"/>
                <a:ea typeface="Aptos" pitchFamily="34" charset="-122"/>
                <a:cs typeface="Aptos" pitchFamily="34" charset="-120"/>
              </a:rPr>
              <a:t>Actores principales</a:t>
            </a:r>
            <a:endParaRPr lang="en-US" sz="1650" dirty="0"/>
          </a:p>
        </p:txBody>
      </p:sp>
      <p:sp>
        <p:nvSpPr>
          <p:cNvPr id="40" name="Shape 28"/>
          <p:cNvSpPr/>
          <p:nvPr/>
        </p:nvSpPr>
        <p:spPr>
          <a:xfrm>
            <a:off x="3767328" y="4645152"/>
            <a:ext cx="2267712" cy="1042416"/>
          </a:xfrm>
          <a:prstGeom prst="roundRect">
            <a:avLst>
              <a:gd name="adj" fmla="val 10526"/>
            </a:avLst>
          </a:prstGeom>
          <a:solidFill>
            <a:srgbClr val="F0F6FA"/>
          </a:solidFill>
          <a:ln w="12700">
            <a:solidFill>
              <a:srgbClr val="DCE8EF"/>
            </a:solidFill>
            <a:prstDash val="solid"/>
          </a:ln>
        </p:spPr>
        <p:txBody>
          <a:bodyPr/>
          <a:lstStyle/>
          <a:p>
            <a:endParaRPr lang="en-US"/>
          </a:p>
        </p:txBody>
      </p:sp>
      <p:sp>
        <p:nvSpPr>
          <p:cNvPr id="41" name="Shape 29"/>
          <p:cNvSpPr/>
          <p:nvPr/>
        </p:nvSpPr>
        <p:spPr>
          <a:xfrm>
            <a:off x="3931920" y="4855464"/>
            <a:ext cx="384048" cy="384048"/>
          </a:xfrm>
          <a:prstGeom prst="ellipse">
            <a:avLst/>
          </a:prstGeom>
          <a:solidFill>
            <a:srgbClr val="19A394"/>
          </a:solidFill>
          <a:ln w="12700">
            <a:solidFill>
              <a:srgbClr val="19A394"/>
            </a:solidFill>
            <a:prstDash val="solid"/>
          </a:ln>
        </p:spPr>
        <p:txBody>
          <a:bodyPr/>
          <a:lstStyle/>
          <a:p>
            <a:endParaRPr lang="en-US"/>
          </a:p>
        </p:txBody>
      </p:sp>
      <p:pic>
        <p:nvPicPr>
          <p:cNvPr id="42" name="Image 10" descr="preencoded.pn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027932" y="4951476"/>
            <a:ext cx="192024" cy="192024"/>
          </a:xfrm>
          <a:prstGeom prst="rect">
            <a:avLst/>
          </a:prstGeom>
        </p:spPr>
      </p:pic>
      <p:sp>
        <p:nvSpPr>
          <p:cNvPr id="43" name="Text 30"/>
          <p:cNvSpPr txBox="1"/>
          <p:nvPr/>
        </p:nvSpPr>
        <p:spPr>
          <a:xfrm>
            <a:off x="4407408" y="4800600"/>
            <a:ext cx="1371600" cy="256032"/>
          </a:xfrm>
          <a:prstGeom prst="rect">
            <a:avLst/>
          </a:prstGeom>
          <a:noFill/>
          <a:ln/>
        </p:spPr>
        <p:txBody>
          <a:bodyPr wrap="square" lIns="0" tIns="0" rIns="0" bIns="0" rtlCol="0" anchor="ctr">
            <a:normAutofit/>
          </a:bodyPr>
          <a:lstStyle/>
          <a:p>
            <a:pPr marL="0" indent="0" algn="l">
              <a:buNone/>
            </a:pPr>
            <a:r>
              <a:rPr lang="en-US" sz="1320" b="1" dirty="0">
                <a:solidFill>
                  <a:srgbClr val="173042"/>
                </a:solidFill>
                <a:latin typeface="Aptos" pitchFamily="34" charset="0"/>
                <a:ea typeface="Aptos" pitchFamily="34" charset="-122"/>
                <a:cs typeface="Aptos" pitchFamily="34" charset="-120"/>
              </a:rPr>
              <a:t>Administrador</a:t>
            </a:r>
            <a:endParaRPr lang="en-US" sz="1320" dirty="0"/>
          </a:p>
        </p:txBody>
      </p:sp>
      <p:sp>
        <p:nvSpPr>
          <p:cNvPr id="44" name="Text 31"/>
          <p:cNvSpPr txBox="1"/>
          <p:nvPr/>
        </p:nvSpPr>
        <p:spPr>
          <a:xfrm>
            <a:off x="4407408" y="5084064"/>
            <a:ext cx="1417320" cy="365760"/>
          </a:xfrm>
          <a:prstGeom prst="rect">
            <a:avLst/>
          </a:prstGeom>
          <a:noFill/>
          <a:ln/>
        </p:spPr>
        <p:txBody>
          <a:bodyPr wrap="square" lIns="0" tIns="0" rIns="0" bIns="0" rtlCol="0" anchor="t">
            <a:normAutofit/>
          </a:bodyPr>
          <a:lstStyle/>
          <a:p>
            <a:pPr marL="0" indent="0" algn="l">
              <a:buNone/>
            </a:pPr>
            <a:r>
              <a:rPr lang="en-US" sz="970" dirty="0">
                <a:solidFill>
                  <a:srgbClr val="5F7484"/>
                </a:solidFill>
                <a:latin typeface="Aptos" pitchFamily="34" charset="0"/>
                <a:ea typeface="Aptos" pitchFamily="34" charset="-122"/>
                <a:cs typeface="Aptos" pitchFamily="34" charset="-120"/>
              </a:rPr>
              <a:t>Configura y supervisa la operación.</a:t>
            </a:r>
            <a:endParaRPr lang="en-US" sz="970" dirty="0"/>
          </a:p>
        </p:txBody>
      </p:sp>
      <p:sp>
        <p:nvSpPr>
          <p:cNvPr id="45" name="Shape 32"/>
          <p:cNvSpPr/>
          <p:nvPr/>
        </p:nvSpPr>
        <p:spPr>
          <a:xfrm>
            <a:off x="6336792" y="4645152"/>
            <a:ext cx="2267712" cy="1042416"/>
          </a:xfrm>
          <a:prstGeom prst="roundRect">
            <a:avLst>
              <a:gd name="adj" fmla="val 10526"/>
            </a:avLst>
          </a:prstGeom>
          <a:solidFill>
            <a:srgbClr val="F0F6FA"/>
          </a:solidFill>
          <a:ln w="12700">
            <a:solidFill>
              <a:srgbClr val="DCE8EF"/>
            </a:solidFill>
            <a:prstDash val="solid"/>
          </a:ln>
        </p:spPr>
        <p:txBody>
          <a:bodyPr/>
          <a:lstStyle/>
          <a:p>
            <a:endParaRPr lang="en-US"/>
          </a:p>
        </p:txBody>
      </p:sp>
      <p:sp>
        <p:nvSpPr>
          <p:cNvPr id="46" name="Shape 33"/>
          <p:cNvSpPr/>
          <p:nvPr/>
        </p:nvSpPr>
        <p:spPr>
          <a:xfrm>
            <a:off x="6501384" y="4855464"/>
            <a:ext cx="384048" cy="384048"/>
          </a:xfrm>
          <a:prstGeom prst="ellipse">
            <a:avLst/>
          </a:prstGeom>
          <a:solidFill>
            <a:srgbClr val="19A394"/>
          </a:solidFill>
          <a:ln w="12700">
            <a:solidFill>
              <a:srgbClr val="19A394"/>
            </a:solidFill>
            <a:prstDash val="solid"/>
          </a:ln>
        </p:spPr>
        <p:txBody>
          <a:bodyPr/>
          <a:lstStyle/>
          <a:p>
            <a:endParaRPr lang="en-US"/>
          </a:p>
        </p:txBody>
      </p:sp>
      <p:pic>
        <p:nvPicPr>
          <p:cNvPr id="47" name="Image 11" descr="preencoded.png"/>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597396" y="4951476"/>
            <a:ext cx="192024" cy="192024"/>
          </a:xfrm>
          <a:prstGeom prst="rect">
            <a:avLst/>
          </a:prstGeom>
        </p:spPr>
      </p:pic>
      <p:sp>
        <p:nvSpPr>
          <p:cNvPr id="48" name="Text 34"/>
          <p:cNvSpPr txBox="1"/>
          <p:nvPr/>
        </p:nvSpPr>
        <p:spPr>
          <a:xfrm>
            <a:off x="6976872" y="4800600"/>
            <a:ext cx="1371600" cy="256032"/>
          </a:xfrm>
          <a:prstGeom prst="rect">
            <a:avLst/>
          </a:prstGeom>
          <a:noFill/>
          <a:ln/>
        </p:spPr>
        <p:txBody>
          <a:bodyPr wrap="square" lIns="0" tIns="0" rIns="0" bIns="0" rtlCol="0" anchor="ctr">
            <a:normAutofit/>
          </a:bodyPr>
          <a:lstStyle/>
          <a:p>
            <a:pPr marL="0" indent="0" algn="l">
              <a:buNone/>
            </a:pPr>
            <a:r>
              <a:rPr lang="en-US" sz="1320" b="1" dirty="0">
                <a:solidFill>
                  <a:srgbClr val="173042"/>
                </a:solidFill>
                <a:latin typeface="Aptos" pitchFamily="34" charset="0"/>
                <a:ea typeface="Aptos" pitchFamily="34" charset="-122"/>
                <a:cs typeface="Aptos" pitchFamily="34" charset="-120"/>
              </a:rPr>
              <a:t>Chofer</a:t>
            </a:r>
            <a:endParaRPr lang="en-US" sz="1320" dirty="0"/>
          </a:p>
        </p:txBody>
      </p:sp>
      <p:sp>
        <p:nvSpPr>
          <p:cNvPr id="49" name="Text 35"/>
          <p:cNvSpPr txBox="1"/>
          <p:nvPr/>
        </p:nvSpPr>
        <p:spPr>
          <a:xfrm>
            <a:off x="6976872" y="5084064"/>
            <a:ext cx="1417320" cy="365760"/>
          </a:xfrm>
          <a:prstGeom prst="rect">
            <a:avLst/>
          </a:prstGeom>
          <a:noFill/>
          <a:ln/>
        </p:spPr>
        <p:txBody>
          <a:bodyPr wrap="square" lIns="0" tIns="0" rIns="0" bIns="0" rtlCol="0" anchor="t">
            <a:normAutofit/>
          </a:bodyPr>
          <a:lstStyle/>
          <a:p>
            <a:pPr marL="0" indent="0" algn="l">
              <a:buNone/>
            </a:pPr>
            <a:r>
              <a:rPr lang="en-US" sz="970" dirty="0">
                <a:solidFill>
                  <a:srgbClr val="5F7484"/>
                </a:solidFill>
                <a:latin typeface="Aptos" pitchFamily="34" charset="0"/>
                <a:ea typeface="Aptos" pitchFamily="34" charset="-122"/>
                <a:cs typeface="Aptos" pitchFamily="34" charset="-120"/>
              </a:rPr>
              <a:t>Ejecuta rutas y registra eventos.</a:t>
            </a:r>
            <a:endParaRPr lang="en-US" sz="970" dirty="0"/>
          </a:p>
        </p:txBody>
      </p:sp>
      <p:sp>
        <p:nvSpPr>
          <p:cNvPr id="50" name="Shape 36"/>
          <p:cNvSpPr/>
          <p:nvPr/>
        </p:nvSpPr>
        <p:spPr>
          <a:xfrm>
            <a:off x="8906256" y="4645152"/>
            <a:ext cx="2267712" cy="1042416"/>
          </a:xfrm>
          <a:prstGeom prst="roundRect">
            <a:avLst>
              <a:gd name="adj" fmla="val 10526"/>
            </a:avLst>
          </a:prstGeom>
          <a:solidFill>
            <a:srgbClr val="F0F6FA"/>
          </a:solidFill>
          <a:ln w="12700">
            <a:solidFill>
              <a:srgbClr val="DCE8EF"/>
            </a:solidFill>
            <a:prstDash val="solid"/>
          </a:ln>
        </p:spPr>
        <p:txBody>
          <a:bodyPr/>
          <a:lstStyle/>
          <a:p>
            <a:endParaRPr lang="en-US"/>
          </a:p>
        </p:txBody>
      </p:sp>
      <p:sp>
        <p:nvSpPr>
          <p:cNvPr id="51" name="Shape 37"/>
          <p:cNvSpPr/>
          <p:nvPr/>
        </p:nvSpPr>
        <p:spPr>
          <a:xfrm>
            <a:off x="9070848" y="4855464"/>
            <a:ext cx="384048" cy="384048"/>
          </a:xfrm>
          <a:prstGeom prst="ellipse">
            <a:avLst/>
          </a:prstGeom>
          <a:solidFill>
            <a:srgbClr val="19A394"/>
          </a:solidFill>
          <a:ln w="12700">
            <a:solidFill>
              <a:srgbClr val="19A394"/>
            </a:solidFill>
            <a:prstDash val="solid"/>
          </a:ln>
        </p:spPr>
        <p:txBody>
          <a:bodyPr/>
          <a:lstStyle/>
          <a:p>
            <a:endParaRPr lang="en-US"/>
          </a:p>
        </p:txBody>
      </p:sp>
      <p:pic>
        <p:nvPicPr>
          <p:cNvPr id="52" name="Image 12" descr="preencoded.png"/>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9166860" y="4951476"/>
            <a:ext cx="192024" cy="192024"/>
          </a:xfrm>
          <a:prstGeom prst="rect">
            <a:avLst/>
          </a:prstGeom>
        </p:spPr>
      </p:pic>
      <p:sp>
        <p:nvSpPr>
          <p:cNvPr id="53" name="Text 38"/>
          <p:cNvSpPr txBox="1"/>
          <p:nvPr/>
        </p:nvSpPr>
        <p:spPr>
          <a:xfrm>
            <a:off x="9546336" y="4800600"/>
            <a:ext cx="1371600" cy="256032"/>
          </a:xfrm>
          <a:prstGeom prst="rect">
            <a:avLst/>
          </a:prstGeom>
          <a:noFill/>
          <a:ln/>
        </p:spPr>
        <p:txBody>
          <a:bodyPr wrap="square" lIns="0" tIns="0" rIns="0" bIns="0" rtlCol="0" anchor="ctr">
            <a:normAutofit/>
          </a:bodyPr>
          <a:lstStyle/>
          <a:p>
            <a:pPr marL="0" indent="0" algn="l">
              <a:buNone/>
            </a:pPr>
            <a:r>
              <a:rPr lang="en-US" sz="1320" b="1" dirty="0">
                <a:solidFill>
                  <a:srgbClr val="173042"/>
                </a:solidFill>
                <a:latin typeface="Aptos" pitchFamily="34" charset="0"/>
                <a:ea typeface="Aptos" pitchFamily="34" charset="-122"/>
                <a:cs typeface="Aptos" pitchFamily="34" charset="-120"/>
              </a:rPr>
              <a:t>Cliente</a:t>
            </a:r>
            <a:endParaRPr lang="en-US" sz="1320" dirty="0"/>
          </a:p>
        </p:txBody>
      </p:sp>
      <p:sp>
        <p:nvSpPr>
          <p:cNvPr id="54" name="Text 39"/>
          <p:cNvSpPr txBox="1"/>
          <p:nvPr/>
        </p:nvSpPr>
        <p:spPr>
          <a:xfrm>
            <a:off x="9546336" y="5084064"/>
            <a:ext cx="1417320" cy="365760"/>
          </a:xfrm>
          <a:prstGeom prst="rect">
            <a:avLst/>
          </a:prstGeom>
          <a:noFill/>
          <a:ln/>
        </p:spPr>
        <p:txBody>
          <a:bodyPr wrap="square" lIns="0" tIns="0" rIns="0" bIns="0" rtlCol="0" anchor="t">
            <a:normAutofit/>
          </a:bodyPr>
          <a:lstStyle/>
          <a:p>
            <a:pPr marL="0" indent="0" algn="l">
              <a:buNone/>
            </a:pPr>
            <a:r>
              <a:rPr lang="en-US" sz="970" dirty="0">
                <a:solidFill>
                  <a:srgbClr val="5F7484"/>
                </a:solidFill>
                <a:latin typeface="Aptos" pitchFamily="34" charset="0"/>
                <a:ea typeface="Aptos" pitchFamily="34" charset="-122"/>
                <a:cs typeface="Aptos" pitchFamily="34" charset="-120"/>
              </a:rPr>
              <a:t>Consulta, recibe alertas y solicita.</a:t>
            </a:r>
            <a:endParaRPr lang="en-US" sz="970" dirty="0"/>
          </a:p>
        </p:txBody>
      </p:sp>
      <p:sp>
        <p:nvSpPr>
          <p:cNvPr id="56" name="Slide Number Placeholder 0"/>
          <p:cNvSpPr>
            <a:spLocks noGrp="1"/>
          </p:cNvSpPr>
          <p:nvPr>
            <p:ph type="sldNum" sz="quarter" idx="4294967295"/>
          </p:nvPr>
        </p:nvSpPr>
        <p:spPr>
          <a:xfrm>
            <a:off x="11823192"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AAB6C0"/>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292608"/>
            <a:ext cx="4142232" cy="128016"/>
          </a:xfrm>
          <a:prstGeom prst="rect">
            <a:avLst/>
          </a:prstGeom>
          <a:noFill/>
          <a:ln/>
        </p:spPr>
        <p:txBody>
          <a:bodyPr wrap="square" lIns="0" tIns="0" rIns="0" bIns="0" rtlCol="0" anchor="ctr">
            <a:normAutofit lnSpcReduction="10000"/>
          </a:bodyPr>
          <a:lstStyle/>
          <a:p>
            <a:pPr marL="0" indent="0" algn="l">
              <a:buNone/>
            </a:pPr>
            <a:r>
              <a:rPr lang="en-US" sz="900" b="1" kern="0" spc="120" dirty="0">
                <a:solidFill>
                  <a:srgbClr val="0A5E8C"/>
                </a:solidFill>
                <a:latin typeface="Aptos" pitchFamily="34" charset="0"/>
                <a:ea typeface="Aptos" pitchFamily="34" charset="-122"/>
                <a:cs typeface="Aptos" pitchFamily="34" charset="-120"/>
              </a:rPr>
              <a:t>02 · OBJETIVOS DE CALIDAD Y RESTRICCIONES</a:t>
            </a:r>
            <a:endParaRPr lang="en-US" sz="900" dirty="0"/>
          </a:p>
        </p:txBody>
      </p:sp>
      <p:sp>
        <p:nvSpPr>
          <p:cNvPr id="3" name="Text 1"/>
          <p:cNvSpPr txBox="1"/>
          <p:nvPr/>
        </p:nvSpPr>
        <p:spPr>
          <a:xfrm>
            <a:off x="502920" y="530352"/>
            <a:ext cx="11064240" cy="493776"/>
          </a:xfrm>
          <a:prstGeom prst="rect">
            <a:avLst/>
          </a:prstGeom>
          <a:noFill/>
          <a:ln/>
        </p:spPr>
        <p:txBody>
          <a:bodyPr wrap="square" lIns="0" tIns="0" rIns="0" bIns="0" rtlCol="0" anchor="ctr">
            <a:normAutofit/>
          </a:bodyPr>
          <a:lstStyle/>
          <a:p>
            <a:pPr marL="0" indent="0" algn="l">
              <a:buNone/>
            </a:pPr>
            <a:r>
              <a:rPr lang="en-US" sz="2700" b="1" dirty="0">
                <a:solidFill>
                  <a:srgbClr val="173042"/>
                </a:solidFill>
                <a:latin typeface="Aptos" pitchFamily="34" charset="0"/>
                <a:ea typeface="Aptos" pitchFamily="34" charset="-122"/>
                <a:cs typeface="Aptos" pitchFamily="34" charset="-120"/>
              </a:rPr>
              <a:t>La promesa del producto depende de cinco atributos no negociables</a:t>
            </a:r>
            <a:endParaRPr lang="en-US" sz="2700" dirty="0"/>
          </a:p>
        </p:txBody>
      </p:sp>
      <p:sp>
        <p:nvSpPr>
          <p:cNvPr id="4" name="Text 2"/>
          <p:cNvSpPr txBox="1"/>
          <p:nvPr/>
        </p:nvSpPr>
        <p:spPr>
          <a:xfrm>
            <a:off x="502920" y="1024128"/>
            <a:ext cx="10972800" cy="384048"/>
          </a:xfrm>
          <a:prstGeom prst="rect">
            <a:avLst/>
          </a:prstGeom>
          <a:noFill/>
          <a:ln/>
        </p:spPr>
        <p:txBody>
          <a:bodyPr wrap="square" lIns="0" tIns="0" rIns="0" bIns="0" rtlCol="0" anchor="t">
            <a:normAutofit/>
          </a:bodyPr>
          <a:lstStyle/>
          <a:p>
            <a:pPr marL="0" indent="0" algn="l">
              <a:buNone/>
            </a:pPr>
            <a:r>
              <a:rPr lang="en-US" sz="1250" dirty="0">
                <a:solidFill>
                  <a:srgbClr val="5F7484"/>
                </a:solidFill>
                <a:latin typeface="Aptos" pitchFamily="34" charset="0"/>
                <a:ea typeface="Aptos" pitchFamily="34" charset="-122"/>
                <a:cs typeface="Aptos" pitchFamily="34" charset="-120"/>
              </a:rPr>
              <a:t>Los requerimientos funcionales solo generan valor si la plataforma permanece disponible, segura y trazable durante la operación.</a:t>
            </a:r>
            <a:endParaRPr lang="en-US" sz="1250" dirty="0"/>
          </a:p>
        </p:txBody>
      </p:sp>
      <p:sp>
        <p:nvSpPr>
          <p:cNvPr id="5" name="Shape 3"/>
          <p:cNvSpPr/>
          <p:nvPr/>
        </p:nvSpPr>
        <p:spPr>
          <a:xfrm>
            <a:off x="502920" y="1609344"/>
            <a:ext cx="1965960" cy="2121408"/>
          </a:xfrm>
          <a:prstGeom prst="roundRect">
            <a:avLst>
              <a:gd name="adj" fmla="val 5581"/>
            </a:avLst>
          </a:prstGeom>
          <a:solidFill>
            <a:srgbClr val="FFFFFF"/>
          </a:solidFill>
          <a:ln w="12700">
            <a:solidFill>
              <a:srgbClr val="D8E4EC"/>
            </a:solidFill>
            <a:prstDash val="solid"/>
          </a:ln>
        </p:spPr>
        <p:txBody>
          <a:bodyPr/>
          <a:lstStyle/>
          <a:p>
            <a:endParaRPr lang="en-US"/>
          </a:p>
        </p:txBody>
      </p:sp>
      <p:sp>
        <p:nvSpPr>
          <p:cNvPr id="6" name="Shape 4"/>
          <p:cNvSpPr/>
          <p:nvPr/>
        </p:nvSpPr>
        <p:spPr>
          <a:xfrm>
            <a:off x="649224" y="1792224"/>
            <a:ext cx="438912" cy="438912"/>
          </a:xfrm>
          <a:prstGeom prst="ellipse">
            <a:avLst/>
          </a:prstGeom>
          <a:solidFill>
            <a:srgbClr val="0A5E8C"/>
          </a:solidFill>
          <a:ln w="12700">
            <a:solidFill>
              <a:srgbClr val="0A5E8C"/>
            </a:solidFill>
            <a:prstDash val="solid"/>
          </a:ln>
        </p:spPr>
        <p:txBody>
          <a:bodyPr/>
          <a:lstStyle/>
          <a:p>
            <a:endParaRPr lang="en-US"/>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8952" y="1901952"/>
            <a:ext cx="219456" cy="219456"/>
          </a:xfrm>
          <a:prstGeom prst="rect">
            <a:avLst/>
          </a:prstGeom>
        </p:spPr>
      </p:pic>
      <p:sp>
        <p:nvSpPr>
          <p:cNvPr id="8" name="Text 5"/>
          <p:cNvSpPr txBox="1"/>
          <p:nvPr/>
        </p:nvSpPr>
        <p:spPr>
          <a:xfrm>
            <a:off x="1188720" y="1792224"/>
            <a:ext cx="1060704" cy="237744"/>
          </a:xfrm>
          <a:prstGeom prst="rect">
            <a:avLst/>
          </a:prstGeom>
          <a:noFill/>
          <a:ln/>
        </p:spPr>
        <p:txBody>
          <a:bodyPr wrap="square" lIns="0" tIns="0" rIns="0" bIns="0" rtlCol="0" anchor="ctr">
            <a:normAutofit/>
          </a:bodyPr>
          <a:lstStyle/>
          <a:p>
            <a:pPr marL="0" indent="0" algn="r">
              <a:buNone/>
            </a:pPr>
            <a:r>
              <a:rPr lang="en-US" sz="1500" b="1" dirty="0">
                <a:solidFill>
                  <a:srgbClr val="0A5E8C"/>
                </a:solidFill>
                <a:latin typeface="Aptos" pitchFamily="34" charset="0"/>
                <a:ea typeface="Aptos" pitchFamily="34" charset="-122"/>
                <a:cs typeface="Aptos" pitchFamily="34" charset="-120"/>
              </a:rPr>
              <a:t>24/7</a:t>
            </a:r>
            <a:endParaRPr lang="en-US" sz="1500" dirty="0"/>
          </a:p>
        </p:txBody>
      </p:sp>
      <p:sp>
        <p:nvSpPr>
          <p:cNvPr id="9" name="Text 6"/>
          <p:cNvSpPr txBox="1"/>
          <p:nvPr/>
        </p:nvSpPr>
        <p:spPr>
          <a:xfrm>
            <a:off x="649224" y="2350008"/>
            <a:ext cx="1682496" cy="310896"/>
          </a:xfrm>
          <a:prstGeom prst="rect">
            <a:avLst/>
          </a:prstGeom>
          <a:noFill/>
          <a:ln/>
        </p:spPr>
        <p:txBody>
          <a:bodyPr wrap="square" lIns="0" tIns="0" rIns="0" bIns="0" rtlCol="0" anchor="ctr">
            <a:normAutofit/>
          </a:bodyPr>
          <a:lstStyle/>
          <a:p>
            <a:pPr marL="0" indent="0" algn="l">
              <a:buNone/>
            </a:pPr>
            <a:r>
              <a:rPr lang="en-US" sz="1420" b="1" dirty="0">
                <a:solidFill>
                  <a:srgbClr val="173042"/>
                </a:solidFill>
                <a:latin typeface="Aptos" pitchFamily="34" charset="0"/>
                <a:ea typeface="Aptos" pitchFamily="34" charset="-122"/>
                <a:cs typeface="Aptos" pitchFamily="34" charset="-120"/>
              </a:rPr>
              <a:t>Disponibilidad</a:t>
            </a:r>
            <a:endParaRPr lang="en-US" sz="1420" dirty="0"/>
          </a:p>
        </p:txBody>
      </p:sp>
      <p:sp>
        <p:nvSpPr>
          <p:cNvPr id="10" name="Text 7"/>
          <p:cNvSpPr txBox="1"/>
          <p:nvPr/>
        </p:nvSpPr>
        <p:spPr>
          <a:xfrm>
            <a:off x="649224" y="2715768"/>
            <a:ext cx="1682496" cy="694944"/>
          </a:xfrm>
          <a:prstGeom prst="rect">
            <a:avLst/>
          </a:prstGeom>
          <a:noFill/>
          <a:ln/>
        </p:spPr>
        <p:txBody>
          <a:bodyPr wrap="square" lIns="0" tIns="0" rIns="0" bIns="0" rtlCol="0" anchor="t">
            <a:normAutofit/>
          </a:bodyPr>
          <a:lstStyle/>
          <a:p>
            <a:pPr marL="0" indent="0" algn="l">
              <a:buNone/>
            </a:pPr>
            <a:r>
              <a:rPr lang="en-US" sz="990" dirty="0">
                <a:solidFill>
                  <a:srgbClr val="5F7484"/>
                </a:solidFill>
                <a:latin typeface="Aptos" pitchFamily="34" charset="0"/>
                <a:ea typeface="Aptos" pitchFamily="34" charset="-122"/>
                <a:cs typeface="Aptos" pitchFamily="34" charset="-120"/>
              </a:rPr>
              <a:t>Operación continua para usuarios en distintas zonas horarias.</a:t>
            </a:r>
            <a:endParaRPr lang="en-US" sz="990" dirty="0"/>
          </a:p>
        </p:txBody>
      </p:sp>
      <p:sp>
        <p:nvSpPr>
          <p:cNvPr id="11" name="Shape 8"/>
          <p:cNvSpPr/>
          <p:nvPr/>
        </p:nvSpPr>
        <p:spPr>
          <a:xfrm>
            <a:off x="2816352" y="1609344"/>
            <a:ext cx="1965960" cy="2121408"/>
          </a:xfrm>
          <a:prstGeom prst="roundRect">
            <a:avLst>
              <a:gd name="adj" fmla="val 5581"/>
            </a:avLst>
          </a:prstGeom>
          <a:solidFill>
            <a:srgbClr val="FFFFFF"/>
          </a:solidFill>
          <a:ln w="12700">
            <a:solidFill>
              <a:srgbClr val="D8E4EC"/>
            </a:solidFill>
            <a:prstDash val="solid"/>
          </a:ln>
        </p:spPr>
        <p:txBody>
          <a:bodyPr/>
          <a:lstStyle/>
          <a:p>
            <a:endParaRPr lang="en-US"/>
          </a:p>
        </p:txBody>
      </p:sp>
      <p:sp>
        <p:nvSpPr>
          <p:cNvPr id="12" name="Shape 9"/>
          <p:cNvSpPr/>
          <p:nvPr/>
        </p:nvSpPr>
        <p:spPr>
          <a:xfrm>
            <a:off x="2962656" y="1792224"/>
            <a:ext cx="438912" cy="438912"/>
          </a:xfrm>
          <a:prstGeom prst="ellipse">
            <a:avLst/>
          </a:prstGeom>
          <a:solidFill>
            <a:srgbClr val="20A3B8"/>
          </a:solidFill>
          <a:ln w="12700">
            <a:solidFill>
              <a:srgbClr val="20A3B8"/>
            </a:solidFill>
            <a:prstDash val="solid"/>
          </a:ln>
        </p:spPr>
        <p:txBody>
          <a:bodyPr/>
          <a:lstStyle/>
          <a:p>
            <a:endParaRPr lang="en-US"/>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2384" y="1901952"/>
            <a:ext cx="219456" cy="219456"/>
          </a:xfrm>
          <a:prstGeom prst="rect">
            <a:avLst/>
          </a:prstGeom>
        </p:spPr>
      </p:pic>
      <p:sp>
        <p:nvSpPr>
          <p:cNvPr id="14" name="Text 10"/>
          <p:cNvSpPr txBox="1"/>
          <p:nvPr/>
        </p:nvSpPr>
        <p:spPr>
          <a:xfrm>
            <a:off x="3502152" y="1792224"/>
            <a:ext cx="1060704" cy="237744"/>
          </a:xfrm>
          <a:prstGeom prst="rect">
            <a:avLst/>
          </a:prstGeom>
          <a:noFill/>
          <a:ln/>
        </p:spPr>
        <p:txBody>
          <a:bodyPr wrap="square" lIns="0" tIns="0" rIns="0" bIns="0" rtlCol="0" anchor="ctr">
            <a:normAutofit/>
          </a:bodyPr>
          <a:lstStyle/>
          <a:p>
            <a:pPr marL="0" indent="0" algn="r">
              <a:buNone/>
            </a:pPr>
            <a:r>
              <a:rPr lang="en-US" sz="1500" b="1" dirty="0">
                <a:solidFill>
                  <a:srgbClr val="20A3B8"/>
                </a:solidFill>
                <a:latin typeface="Aptos" pitchFamily="34" charset="0"/>
                <a:ea typeface="Aptos" pitchFamily="34" charset="-122"/>
                <a:cs typeface="Aptos" pitchFamily="34" charset="-120"/>
              </a:rPr>
              <a:t>x2..n</a:t>
            </a:r>
            <a:endParaRPr lang="en-US" sz="1500" dirty="0"/>
          </a:p>
        </p:txBody>
      </p:sp>
      <p:sp>
        <p:nvSpPr>
          <p:cNvPr id="15" name="Text 11"/>
          <p:cNvSpPr txBox="1"/>
          <p:nvPr/>
        </p:nvSpPr>
        <p:spPr>
          <a:xfrm>
            <a:off x="2962656" y="2350008"/>
            <a:ext cx="1682496" cy="310896"/>
          </a:xfrm>
          <a:prstGeom prst="rect">
            <a:avLst/>
          </a:prstGeom>
          <a:noFill/>
          <a:ln/>
        </p:spPr>
        <p:txBody>
          <a:bodyPr wrap="square" lIns="0" tIns="0" rIns="0" bIns="0" rtlCol="0" anchor="ctr">
            <a:normAutofit/>
          </a:bodyPr>
          <a:lstStyle/>
          <a:p>
            <a:pPr marL="0" indent="0" algn="l">
              <a:buNone/>
            </a:pPr>
            <a:r>
              <a:rPr lang="en-US" sz="1420" b="1" dirty="0">
                <a:solidFill>
                  <a:srgbClr val="173042"/>
                </a:solidFill>
                <a:latin typeface="Aptos" pitchFamily="34" charset="0"/>
                <a:ea typeface="Aptos" pitchFamily="34" charset="-122"/>
                <a:cs typeface="Aptos" pitchFamily="34" charset="-120"/>
              </a:rPr>
              <a:t>Escalabilidad</a:t>
            </a:r>
            <a:endParaRPr lang="en-US" sz="1420" dirty="0"/>
          </a:p>
        </p:txBody>
      </p:sp>
      <p:sp>
        <p:nvSpPr>
          <p:cNvPr id="16" name="Text 12"/>
          <p:cNvSpPr txBox="1"/>
          <p:nvPr/>
        </p:nvSpPr>
        <p:spPr>
          <a:xfrm>
            <a:off x="2962656" y="2715768"/>
            <a:ext cx="1682496" cy="694944"/>
          </a:xfrm>
          <a:prstGeom prst="rect">
            <a:avLst/>
          </a:prstGeom>
          <a:noFill/>
          <a:ln/>
        </p:spPr>
        <p:txBody>
          <a:bodyPr wrap="square" lIns="0" tIns="0" rIns="0" bIns="0" rtlCol="0" anchor="t">
            <a:normAutofit/>
          </a:bodyPr>
          <a:lstStyle/>
          <a:p>
            <a:pPr marL="0" indent="0" algn="l">
              <a:buNone/>
            </a:pPr>
            <a:r>
              <a:rPr lang="en-US" sz="990" dirty="0">
                <a:solidFill>
                  <a:srgbClr val="5F7484"/>
                </a:solidFill>
                <a:latin typeface="Aptos" pitchFamily="34" charset="0"/>
                <a:ea typeface="Aptos" pitchFamily="34" charset="-122"/>
                <a:cs typeface="Aptos" pitchFamily="34" charset="-120"/>
              </a:rPr>
              <a:t>Capacidad independiente según la carga de cada servicio.</a:t>
            </a:r>
            <a:endParaRPr lang="en-US" sz="990" dirty="0"/>
          </a:p>
        </p:txBody>
      </p:sp>
      <p:sp>
        <p:nvSpPr>
          <p:cNvPr id="17" name="Shape 13"/>
          <p:cNvSpPr/>
          <p:nvPr/>
        </p:nvSpPr>
        <p:spPr>
          <a:xfrm>
            <a:off x="5129784" y="1609344"/>
            <a:ext cx="1965960" cy="2121408"/>
          </a:xfrm>
          <a:prstGeom prst="roundRect">
            <a:avLst>
              <a:gd name="adj" fmla="val 5581"/>
            </a:avLst>
          </a:prstGeom>
          <a:solidFill>
            <a:srgbClr val="FFFFFF"/>
          </a:solidFill>
          <a:ln w="12700">
            <a:solidFill>
              <a:srgbClr val="D8E4EC"/>
            </a:solidFill>
            <a:prstDash val="solid"/>
          </a:ln>
        </p:spPr>
        <p:txBody>
          <a:bodyPr/>
          <a:lstStyle/>
          <a:p>
            <a:endParaRPr lang="en-US"/>
          </a:p>
        </p:txBody>
      </p:sp>
      <p:sp>
        <p:nvSpPr>
          <p:cNvPr id="18" name="Shape 14"/>
          <p:cNvSpPr/>
          <p:nvPr/>
        </p:nvSpPr>
        <p:spPr>
          <a:xfrm>
            <a:off x="5276088" y="1792224"/>
            <a:ext cx="438912" cy="438912"/>
          </a:xfrm>
          <a:prstGeom prst="ellipse">
            <a:avLst/>
          </a:prstGeom>
          <a:solidFill>
            <a:srgbClr val="D85B63"/>
          </a:solidFill>
          <a:ln w="12700">
            <a:solidFill>
              <a:srgbClr val="D85B63"/>
            </a:solidFill>
            <a:prstDash val="solid"/>
          </a:ln>
        </p:spPr>
        <p:txBody>
          <a:bodyPr/>
          <a:lstStyle/>
          <a:p>
            <a:endParaRPr lang="en-US"/>
          </a:p>
        </p:txBody>
      </p:sp>
      <p:pic>
        <p:nvPicPr>
          <p:cNvPr id="1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85816" y="1901952"/>
            <a:ext cx="219456" cy="219456"/>
          </a:xfrm>
          <a:prstGeom prst="rect">
            <a:avLst/>
          </a:prstGeom>
        </p:spPr>
      </p:pic>
      <p:sp>
        <p:nvSpPr>
          <p:cNvPr id="20" name="Text 15"/>
          <p:cNvSpPr txBox="1"/>
          <p:nvPr/>
        </p:nvSpPr>
        <p:spPr>
          <a:xfrm>
            <a:off x="5815584" y="1792224"/>
            <a:ext cx="1060704" cy="237744"/>
          </a:xfrm>
          <a:prstGeom prst="rect">
            <a:avLst/>
          </a:prstGeom>
          <a:noFill/>
          <a:ln/>
        </p:spPr>
        <p:txBody>
          <a:bodyPr wrap="square" lIns="0" tIns="0" rIns="0" bIns="0" rtlCol="0" anchor="ctr">
            <a:normAutofit/>
          </a:bodyPr>
          <a:lstStyle/>
          <a:p>
            <a:pPr marL="0" indent="0" algn="r">
              <a:buNone/>
            </a:pPr>
            <a:r>
              <a:rPr lang="en-US" sz="1500" b="1" dirty="0">
                <a:solidFill>
                  <a:srgbClr val="D85B63"/>
                </a:solidFill>
                <a:latin typeface="Aptos" pitchFamily="34" charset="0"/>
                <a:ea typeface="Aptos" pitchFamily="34" charset="-122"/>
                <a:cs typeface="Aptos" pitchFamily="34" charset="-120"/>
              </a:rPr>
              <a:t>Estricto</a:t>
            </a:r>
            <a:endParaRPr lang="en-US" sz="1500" dirty="0"/>
          </a:p>
        </p:txBody>
      </p:sp>
      <p:sp>
        <p:nvSpPr>
          <p:cNvPr id="21" name="Text 16"/>
          <p:cNvSpPr txBox="1"/>
          <p:nvPr/>
        </p:nvSpPr>
        <p:spPr>
          <a:xfrm>
            <a:off x="5276088" y="2350008"/>
            <a:ext cx="1682496" cy="310896"/>
          </a:xfrm>
          <a:prstGeom prst="rect">
            <a:avLst/>
          </a:prstGeom>
          <a:noFill/>
          <a:ln/>
        </p:spPr>
        <p:txBody>
          <a:bodyPr wrap="square" lIns="0" tIns="0" rIns="0" bIns="0" rtlCol="0" anchor="ctr">
            <a:normAutofit/>
          </a:bodyPr>
          <a:lstStyle/>
          <a:p>
            <a:pPr marL="0" indent="0" algn="l">
              <a:buNone/>
            </a:pPr>
            <a:r>
              <a:rPr lang="en-US" sz="1420" b="1" dirty="0">
                <a:solidFill>
                  <a:srgbClr val="173042"/>
                </a:solidFill>
                <a:latin typeface="Aptos" pitchFamily="34" charset="0"/>
                <a:ea typeface="Aptos" pitchFamily="34" charset="-122"/>
                <a:cs typeface="Aptos" pitchFamily="34" charset="-120"/>
              </a:rPr>
              <a:t>Seguridad</a:t>
            </a:r>
            <a:endParaRPr lang="en-US" sz="1420" dirty="0"/>
          </a:p>
        </p:txBody>
      </p:sp>
      <p:sp>
        <p:nvSpPr>
          <p:cNvPr id="22" name="Text 17"/>
          <p:cNvSpPr txBox="1"/>
          <p:nvPr/>
        </p:nvSpPr>
        <p:spPr>
          <a:xfrm>
            <a:off x="5276088" y="2715768"/>
            <a:ext cx="1682496" cy="694944"/>
          </a:xfrm>
          <a:prstGeom prst="rect">
            <a:avLst/>
          </a:prstGeom>
          <a:noFill/>
          <a:ln/>
        </p:spPr>
        <p:txBody>
          <a:bodyPr wrap="square" lIns="0" tIns="0" rIns="0" bIns="0" rtlCol="0" anchor="t">
            <a:normAutofit/>
          </a:bodyPr>
          <a:lstStyle/>
          <a:p>
            <a:pPr marL="0" indent="0" algn="l">
              <a:buNone/>
            </a:pPr>
            <a:r>
              <a:rPr lang="en-US" sz="990" dirty="0">
                <a:solidFill>
                  <a:srgbClr val="5F7484"/>
                </a:solidFill>
                <a:latin typeface="Aptos" pitchFamily="34" charset="0"/>
                <a:ea typeface="Aptos" pitchFamily="34" charset="-122"/>
                <a:cs typeface="Aptos" pitchFamily="34" charset="-120"/>
              </a:rPr>
              <a:t>Identidad externa, autorización y aislamiento multioperador.</a:t>
            </a:r>
            <a:endParaRPr lang="en-US" sz="990" dirty="0"/>
          </a:p>
        </p:txBody>
      </p:sp>
      <p:sp>
        <p:nvSpPr>
          <p:cNvPr id="23" name="Shape 18"/>
          <p:cNvSpPr/>
          <p:nvPr/>
        </p:nvSpPr>
        <p:spPr>
          <a:xfrm>
            <a:off x="7443216" y="1609344"/>
            <a:ext cx="1965960" cy="2121408"/>
          </a:xfrm>
          <a:prstGeom prst="roundRect">
            <a:avLst>
              <a:gd name="adj" fmla="val 5581"/>
            </a:avLst>
          </a:prstGeom>
          <a:solidFill>
            <a:srgbClr val="FFFFFF"/>
          </a:solidFill>
          <a:ln w="12700">
            <a:solidFill>
              <a:srgbClr val="D8E4EC"/>
            </a:solidFill>
            <a:prstDash val="solid"/>
          </a:ln>
        </p:spPr>
        <p:txBody>
          <a:bodyPr/>
          <a:lstStyle/>
          <a:p>
            <a:endParaRPr lang="en-US"/>
          </a:p>
        </p:txBody>
      </p:sp>
      <p:sp>
        <p:nvSpPr>
          <p:cNvPr id="24" name="Shape 19"/>
          <p:cNvSpPr/>
          <p:nvPr/>
        </p:nvSpPr>
        <p:spPr>
          <a:xfrm>
            <a:off x="7589520" y="1792224"/>
            <a:ext cx="438912" cy="438912"/>
          </a:xfrm>
          <a:prstGeom prst="ellipse">
            <a:avLst/>
          </a:prstGeom>
          <a:solidFill>
            <a:srgbClr val="6B6FD8"/>
          </a:solidFill>
          <a:ln w="12700">
            <a:solidFill>
              <a:srgbClr val="6B6FD8"/>
            </a:solidFill>
            <a:prstDash val="solid"/>
          </a:ln>
        </p:spPr>
        <p:txBody>
          <a:bodyPr/>
          <a:lstStyle/>
          <a:p>
            <a:endParaRPr lang="en-US"/>
          </a:p>
        </p:txBody>
      </p:sp>
      <p:pic>
        <p:nvPicPr>
          <p:cNvPr id="2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99248" y="1901952"/>
            <a:ext cx="219456" cy="219456"/>
          </a:xfrm>
          <a:prstGeom prst="rect">
            <a:avLst/>
          </a:prstGeom>
        </p:spPr>
      </p:pic>
      <p:sp>
        <p:nvSpPr>
          <p:cNvPr id="26" name="Text 20"/>
          <p:cNvSpPr txBox="1"/>
          <p:nvPr/>
        </p:nvSpPr>
        <p:spPr>
          <a:xfrm>
            <a:off x="8129016" y="1792224"/>
            <a:ext cx="1060704" cy="237744"/>
          </a:xfrm>
          <a:prstGeom prst="rect">
            <a:avLst/>
          </a:prstGeom>
          <a:noFill/>
          <a:ln/>
        </p:spPr>
        <p:txBody>
          <a:bodyPr wrap="square" lIns="0" tIns="0" rIns="0" bIns="0" rtlCol="0" anchor="ctr">
            <a:normAutofit/>
          </a:bodyPr>
          <a:lstStyle/>
          <a:p>
            <a:pPr marL="0" indent="0" algn="r">
              <a:buNone/>
            </a:pPr>
            <a:r>
              <a:rPr lang="en-US" sz="1500" b="1" dirty="0">
                <a:solidFill>
                  <a:srgbClr val="6B6FD8"/>
                </a:solidFill>
                <a:latin typeface="Aptos" pitchFamily="34" charset="0"/>
                <a:ea typeface="Aptos" pitchFamily="34" charset="-122"/>
                <a:cs typeface="Aptos" pitchFamily="34" charset="-120"/>
              </a:rPr>
              <a:t>Auditable</a:t>
            </a:r>
            <a:endParaRPr lang="en-US" sz="1500" dirty="0"/>
          </a:p>
        </p:txBody>
      </p:sp>
      <p:sp>
        <p:nvSpPr>
          <p:cNvPr id="27" name="Text 21"/>
          <p:cNvSpPr txBox="1"/>
          <p:nvPr/>
        </p:nvSpPr>
        <p:spPr>
          <a:xfrm>
            <a:off x="7589520" y="2350008"/>
            <a:ext cx="1682496" cy="310896"/>
          </a:xfrm>
          <a:prstGeom prst="rect">
            <a:avLst/>
          </a:prstGeom>
          <a:noFill/>
          <a:ln/>
        </p:spPr>
        <p:txBody>
          <a:bodyPr wrap="square" lIns="0" tIns="0" rIns="0" bIns="0" rtlCol="0" anchor="ctr">
            <a:normAutofit/>
          </a:bodyPr>
          <a:lstStyle/>
          <a:p>
            <a:pPr marL="0" indent="0" algn="l">
              <a:buNone/>
            </a:pPr>
            <a:r>
              <a:rPr lang="en-US" sz="1420" b="1" dirty="0">
                <a:solidFill>
                  <a:srgbClr val="173042"/>
                </a:solidFill>
                <a:latin typeface="Aptos" pitchFamily="34" charset="0"/>
                <a:ea typeface="Aptos" pitchFamily="34" charset="-122"/>
                <a:cs typeface="Aptos" pitchFamily="34" charset="-120"/>
              </a:rPr>
              <a:t>Trazabilidad</a:t>
            </a:r>
            <a:endParaRPr lang="en-US" sz="1420" dirty="0"/>
          </a:p>
        </p:txBody>
      </p:sp>
      <p:sp>
        <p:nvSpPr>
          <p:cNvPr id="28" name="Text 22"/>
          <p:cNvSpPr txBox="1"/>
          <p:nvPr/>
        </p:nvSpPr>
        <p:spPr>
          <a:xfrm>
            <a:off x="7589520" y="2715768"/>
            <a:ext cx="1682496" cy="694944"/>
          </a:xfrm>
          <a:prstGeom prst="rect">
            <a:avLst/>
          </a:prstGeom>
          <a:noFill/>
          <a:ln/>
        </p:spPr>
        <p:txBody>
          <a:bodyPr wrap="square" lIns="0" tIns="0" rIns="0" bIns="0" rtlCol="0" anchor="t">
            <a:normAutofit/>
          </a:bodyPr>
          <a:lstStyle/>
          <a:p>
            <a:pPr marL="0" indent="0" algn="l">
              <a:buNone/>
            </a:pPr>
            <a:r>
              <a:rPr lang="en-US" sz="990" dirty="0">
                <a:solidFill>
                  <a:srgbClr val="5F7484"/>
                </a:solidFill>
                <a:latin typeface="Aptos" pitchFamily="34" charset="0"/>
                <a:ea typeface="Aptos" pitchFamily="34" charset="-122"/>
                <a:cs typeface="Aptos" pitchFamily="34" charset="-120"/>
              </a:rPr>
              <a:t>Abordajes, entregas, incidentes y cambios reconstruibles.</a:t>
            </a:r>
            <a:endParaRPr lang="en-US" sz="990" dirty="0"/>
          </a:p>
        </p:txBody>
      </p:sp>
      <p:sp>
        <p:nvSpPr>
          <p:cNvPr id="29" name="Shape 23"/>
          <p:cNvSpPr/>
          <p:nvPr/>
        </p:nvSpPr>
        <p:spPr>
          <a:xfrm>
            <a:off x="9756648" y="1609344"/>
            <a:ext cx="1965960" cy="2121408"/>
          </a:xfrm>
          <a:prstGeom prst="roundRect">
            <a:avLst>
              <a:gd name="adj" fmla="val 5581"/>
            </a:avLst>
          </a:prstGeom>
          <a:solidFill>
            <a:srgbClr val="FFFFFF"/>
          </a:solidFill>
          <a:ln w="12700">
            <a:solidFill>
              <a:srgbClr val="D8E4EC"/>
            </a:solidFill>
            <a:prstDash val="solid"/>
          </a:ln>
        </p:spPr>
        <p:txBody>
          <a:bodyPr/>
          <a:lstStyle/>
          <a:p>
            <a:endParaRPr lang="en-US"/>
          </a:p>
        </p:txBody>
      </p:sp>
      <p:sp>
        <p:nvSpPr>
          <p:cNvPr id="30" name="Shape 24"/>
          <p:cNvSpPr/>
          <p:nvPr/>
        </p:nvSpPr>
        <p:spPr>
          <a:xfrm>
            <a:off x="9902952" y="1792224"/>
            <a:ext cx="438912" cy="438912"/>
          </a:xfrm>
          <a:prstGeom prst="ellipse">
            <a:avLst/>
          </a:prstGeom>
          <a:solidFill>
            <a:srgbClr val="2F9D68"/>
          </a:solidFill>
          <a:ln w="12700">
            <a:solidFill>
              <a:srgbClr val="2F9D68"/>
            </a:solidFill>
            <a:prstDash val="solid"/>
          </a:ln>
        </p:spPr>
        <p:txBody>
          <a:bodyPr/>
          <a:lstStyle/>
          <a:p>
            <a:endParaRPr lang="en-US"/>
          </a:p>
        </p:txBody>
      </p:sp>
      <p:pic>
        <p:nvPicPr>
          <p:cNvPr id="3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012680" y="1901952"/>
            <a:ext cx="219456" cy="219456"/>
          </a:xfrm>
          <a:prstGeom prst="rect">
            <a:avLst/>
          </a:prstGeom>
        </p:spPr>
      </p:pic>
      <p:sp>
        <p:nvSpPr>
          <p:cNvPr id="32" name="Text 25"/>
          <p:cNvSpPr txBox="1"/>
          <p:nvPr/>
        </p:nvSpPr>
        <p:spPr>
          <a:xfrm>
            <a:off x="10442448" y="1792224"/>
            <a:ext cx="1060704" cy="237744"/>
          </a:xfrm>
          <a:prstGeom prst="rect">
            <a:avLst/>
          </a:prstGeom>
          <a:noFill/>
          <a:ln/>
        </p:spPr>
        <p:txBody>
          <a:bodyPr wrap="square" lIns="0" tIns="0" rIns="0" bIns="0" rtlCol="0" anchor="ctr">
            <a:normAutofit/>
          </a:bodyPr>
          <a:lstStyle/>
          <a:p>
            <a:pPr marL="0" indent="0" algn="r">
              <a:buNone/>
            </a:pPr>
            <a:r>
              <a:rPr lang="en-US" sz="1500" b="1" dirty="0">
                <a:solidFill>
                  <a:srgbClr val="2F9D68"/>
                </a:solidFill>
                <a:latin typeface="Aptos" pitchFamily="34" charset="0"/>
                <a:ea typeface="Aptos" pitchFamily="34" charset="-122"/>
                <a:cs typeface="Aptos" pitchFamily="34" charset="-120"/>
              </a:rPr>
              <a:t>En campo</a:t>
            </a:r>
            <a:endParaRPr lang="en-US" sz="1500" dirty="0"/>
          </a:p>
        </p:txBody>
      </p:sp>
      <p:sp>
        <p:nvSpPr>
          <p:cNvPr id="33" name="Text 26"/>
          <p:cNvSpPr txBox="1"/>
          <p:nvPr/>
        </p:nvSpPr>
        <p:spPr>
          <a:xfrm>
            <a:off x="9902952" y="2350008"/>
            <a:ext cx="1682496" cy="310896"/>
          </a:xfrm>
          <a:prstGeom prst="rect">
            <a:avLst/>
          </a:prstGeom>
          <a:noFill/>
          <a:ln/>
        </p:spPr>
        <p:txBody>
          <a:bodyPr wrap="square" lIns="0" tIns="0" rIns="0" bIns="0" rtlCol="0" anchor="ctr">
            <a:normAutofit/>
          </a:bodyPr>
          <a:lstStyle/>
          <a:p>
            <a:pPr marL="0" indent="0" algn="l">
              <a:buNone/>
            </a:pPr>
            <a:r>
              <a:rPr lang="en-US" sz="1420" b="1" dirty="0">
                <a:solidFill>
                  <a:srgbClr val="173042"/>
                </a:solidFill>
                <a:latin typeface="Aptos" pitchFamily="34" charset="0"/>
                <a:ea typeface="Aptos" pitchFamily="34" charset="-122"/>
                <a:cs typeface="Aptos" pitchFamily="34" charset="-120"/>
              </a:rPr>
              <a:t>Usabilidad</a:t>
            </a:r>
            <a:endParaRPr lang="en-US" sz="1420" dirty="0"/>
          </a:p>
        </p:txBody>
      </p:sp>
      <p:sp>
        <p:nvSpPr>
          <p:cNvPr id="34" name="Text 27"/>
          <p:cNvSpPr txBox="1"/>
          <p:nvPr/>
        </p:nvSpPr>
        <p:spPr>
          <a:xfrm>
            <a:off x="9902952" y="2715768"/>
            <a:ext cx="1682496" cy="694944"/>
          </a:xfrm>
          <a:prstGeom prst="rect">
            <a:avLst/>
          </a:prstGeom>
          <a:noFill/>
          <a:ln/>
        </p:spPr>
        <p:txBody>
          <a:bodyPr wrap="square" lIns="0" tIns="0" rIns="0" bIns="0" rtlCol="0" anchor="t">
            <a:normAutofit/>
          </a:bodyPr>
          <a:lstStyle/>
          <a:p>
            <a:pPr marL="0" indent="0" algn="l">
              <a:buNone/>
            </a:pPr>
            <a:r>
              <a:rPr lang="en-US" sz="990" dirty="0">
                <a:solidFill>
                  <a:srgbClr val="5F7484"/>
                </a:solidFill>
                <a:latin typeface="Aptos" pitchFamily="34" charset="0"/>
                <a:ea typeface="Aptos" pitchFamily="34" charset="-122"/>
                <a:cs typeface="Aptos" pitchFamily="34" charset="-120"/>
              </a:rPr>
              <a:t>Experiencia confiable para usuarios no técnicos.</a:t>
            </a:r>
            <a:endParaRPr lang="en-US" sz="990" dirty="0"/>
          </a:p>
        </p:txBody>
      </p:sp>
      <p:sp>
        <p:nvSpPr>
          <p:cNvPr id="35" name="Text 28"/>
          <p:cNvSpPr txBox="1"/>
          <p:nvPr/>
        </p:nvSpPr>
        <p:spPr>
          <a:xfrm>
            <a:off x="502920" y="4096512"/>
            <a:ext cx="4754880" cy="329184"/>
          </a:xfrm>
          <a:prstGeom prst="rect">
            <a:avLst/>
          </a:prstGeom>
          <a:noFill/>
          <a:ln/>
        </p:spPr>
        <p:txBody>
          <a:bodyPr wrap="square" lIns="0" tIns="0" rIns="0" bIns="0" rtlCol="0" anchor="ctr">
            <a:normAutofit/>
          </a:bodyPr>
          <a:lstStyle/>
          <a:p>
            <a:pPr marL="0" indent="0" algn="l">
              <a:buNone/>
            </a:pPr>
            <a:r>
              <a:rPr lang="en-US" sz="1650" b="1" dirty="0">
                <a:solidFill>
                  <a:srgbClr val="173042"/>
                </a:solidFill>
                <a:latin typeface="Aptos" pitchFamily="34" charset="0"/>
                <a:ea typeface="Aptos" pitchFamily="34" charset="-122"/>
                <a:cs typeface="Aptos" pitchFamily="34" charset="-120"/>
              </a:rPr>
              <a:t>Restricciones que condicionan el diseño</a:t>
            </a:r>
            <a:endParaRPr lang="en-US" sz="1650" dirty="0"/>
          </a:p>
        </p:txBody>
      </p:sp>
      <p:sp>
        <p:nvSpPr>
          <p:cNvPr id="36" name="Shape 29"/>
          <p:cNvSpPr/>
          <p:nvPr/>
        </p:nvSpPr>
        <p:spPr>
          <a:xfrm>
            <a:off x="502920" y="4535424"/>
            <a:ext cx="3456432" cy="566928"/>
          </a:xfrm>
          <a:prstGeom prst="roundRect">
            <a:avLst>
              <a:gd name="adj" fmla="val 19355"/>
            </a:avLst>
          </a:prstGeom>
          <a:solidFill>
            <a:srgbClr val="EEF5F9"/>
          </a:solidFill>
          <a:ln w="12700">
            <a:solidFill>
              <a:srgbClr val="DCE8EF"/>
            </a:solidFill>
            <a:prstDash val="solid"/>
          </a:ln>
        </p:spPr>
        <p:txBody>
          <a:bodyPr/>
          <a:lstStyle/>
          <a:p>
            <a:endParaRPr lang="en-US"/>
          </a:p>
        </p:txBody>
      </p:sp>
      <p:pic>
        <p:nvPicPr>
          <p:cNvPr id="37"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12648" y="4654296"/>
            <a:ext cx="310896" cy="310896"/>
          </a:xfrm>
          <a:prstGeom prst="rect">
            <a:avLst/>
          </a:prstGeom>
        </p:spPr>
      </p:pic>
      <p:sp>
        <p:nvSpPr>
          <p:cNvPr id="38" name="Text 30"/>
          <p:cNvSpPr txBox="1"/>
          <p:nvPr/>
        </p:nvSpPr>
        <p:spPr>
          <a:xfrm>
            <a:off x="1014984" y="4636008"/>
            <a:ext cx="2761488" cy="329184"/>
          </a:xfrm>
          <a:prstGeom prst="rect">
            <a:avLst/>
          </a:prstGeom>
          <a:noFill/>
          <a:ln/>
        </p:spPr>
        <p:txBody>
          <a:bodyPr wrap="square" lIns="0" tIns="0" rIns="0" bIns="0" rtlCol="0" anchor="ctr">
            <a:normAutofit/>
          </a:bodyPr>
          <a:lstStyle/>
          <a:p>
            <a:pPr marL="0" indent="0" algn="l">
              <a:buNone/>
            </a:pPr>
            <a:r>
              <a:rPr lang="en-US" sz="1110" b="1" dirty="0">
                <a:solidFill>
                  <a:srgbClr val="173042"/>
                </a:solidFill>
                <a:latin typeface="Aptos" pitchFamily="34" charset="0"/>
                <a:ea typeface="Aptos" pitchFamily="34" charset="-122"/>
                <a:cs typeface="Aptos" pitchFamily="34" charset="-120"/>
              </a:rPr>
              <a:t>SaaS en la nube</a:t>
            </a:r>
            <a:endParaRPr lang="en-US" sz="1110" dirty="0"/>
          </a:p>
        </p:txBody>
      </p:sp>
      <p:sp>
        <p:nvSpPr>
          <p:cNvPr id="39" name="Shape 31"/>
          <p:cNvSpPr/>
          <p:nvPr/>
        </p:nvSpPr>
        <p:spPr>
          <a:xfrm>
            <a:off x="4325112" y="4535424"/>
            <a:ext cx="3456432" cy="566928"/>
          </a:xfrm>
          <a:prstGeom prst="roundRect">
            <a:avLst>
              <a:gd name="adj" fmla="val 19355"/>
            </a:avLst>
          </a:prstGeom>
          <a:solidFill>
            <a:srgbClr val="EEF5F9"/>
          </a:solidFill>
          <a:ln w="12700">
            <a:solidFill>
              <a:srgbClr val="DCE8EF"/>
            </a:solidFill>
            <a:prstDash val="solid"/>
          </a:ln>
        </p:spPr>
        <p:txBody>
          <a:bodyPr/>
          <a:lstStyle/>
          <a:p>
            <a:endParaRPr lang="en-US"/>
          </a:p>
        </p:txBody>
      </p:sp>
      <p:pic>
        <p:nvPicPr>
          <p:cNvPr id="40"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434840" y="4654296"/>
            <a:ext cx="310896" cy="310896"/>
          </a:xfrm>
          <a:prstGeom prst="rect">
            <a:avLst/>
          </a:prstGeom>
        </p:spPr>
      </p:pic>
      <p:sp>
        <p:nvSpPr>
          <p:cNvPr id="41" name="Text 32"/>
          <p:cNvSpPr txBox="1"/>
          <p:nvPr/>
        </p:nvSpPr>
        <p:spPr>
          <a:xfrm>
            <a:off x="4837176" y="4636008"/>
            <a:ext cx="2761488" cy="329184"/>
          </a:xfrm>
          <a:prstGeom prst="rect">
            <a:avLst/>
          </a:prstGeom>
          <a:noFill/>
          <a:ln/>
        </p:spPr>
        <p:txBody>
          <a:bodyPr wrap="square" lIns="0" tIns="0" rIns="0" bIns="0" rtlCol="0" anchor="ctr">
            <a:normAutofit/>
          </a:bodyPr>
          <a:lstStyle/>
          <a:p>
            <a:pPr marL="0" indent="0" algn="l">
              <a:buNone/>
            </a:pPr>
            <a:r>
              <a:rPr lang="en-US" sz="1110" b="1" dirty="0">
                <a:solidFill>
                  <a:srgbClr val="173042"/>
                </a:solidFill>
                <a:latin typeface="Aptos" pitchFamily="34" charset="0"/>
                <a:ea typeface="Aptos" pitchFamily="34" charset="-122"/>
                <a:cs typeface="Aptos" pitchFamily="34" charset="-120"/>
              </a:rPr>
              <a:t>Autoescalado</a:t>
            </a:r>
            <a:endParaRPr lang="en-US" sz="1110" dirty="0"/>
          </a:p>
        </p:txBody>
      </p:sp>
      <p:sp>
        <p:nvSpPr>
          <p:cNvPr id="42" name="Shape 33"/>
          <p:cNvSpPr/>
          <p:nvPr/>
        </p:nvSpPr>
        <p:spPr>
          <a:xfrm>
            <a:off x="8147304" y="4535424"/>
            <a:ext cx="3456432" cy="566928"/>
          </a:xfrm>
          <a:prstGeom prst="roundRect">
            <a:avLst>
              <a:gd name="adj" fmla="val 19355"/>
            </a:avLst>
          </a:prstGeom>
          <a:solidFill>
            <a:srgbClr val="EEF5F9"/>
          </a:solidFill>
          <a:ln w="12700">
            <a:solidFill>
              <a:srgbClr val="DCE8EF"/>
            </a:solidFill>
            <a:prstDash val="solid"/>
          </a:ln>
        </p:spPr>
        <p:txBody>
          <a:bodyPr/>
          <a:lstStyle/>
          <a:p>
            <a:endParaRPr lang="en-US"/>
          </a:p>
        </p:txBody>
      </p:sp>
      <p:pic>
        <p:nvPicPr>
          <p:cNvPr id="43"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257032" y="4654296"/>
            <a:ext cx="310896" cy="310896"/>
          </a:xfrm>
          <a:prstGeom prst="rect">
            <a:avLst/>
          </a:prstGeom>
        </p:spPr>
      </p:pic>
      <p:sp>
        <p:nvSpPr>
          <p:cNvPr id="44" name="Text 34"/>
          <p:cNvSpPr txBox="1"/>
          <p:nvPr/>
        </p:nvSpPr>
        <p:spPr>
          <a:xfrm>
            <a:off x="8659368" y="4636008"/>
            <a:ext cx="2761488" cy="329184"/>
          </a:xfrm>
          <a:prstGeom prst="rect">
            <a:avLst/>
          </a:prstGeom>
          <a:noFill/>
          <a:ln/>
        </p:spPr>
        <p:txBody>
          <a:bodyPr wrap="square" lIns="0" tIns="0" rIns="0" bIns="0" rtlCol="0" anchor="ctr">
            <a:normAutofit/>
          </a:bodyPr>
          <a:lstStyle/>
          <a:p>
            <a:pPr marL="0" indent="0" algn="l">
              <a:buNone/>
            </a:pPr>
            <a:r>
              <a:rPr lang="en-US" sz="1110" b="1" dirty="0">
                <a:solidFill>
                  <a:srgbClr val="173042"/>
                </a:solidFill>
                <a:latin typeface="Aptos" pitchFamily="34" charset="0"/>
                <a:ea typeface="Aptos" pitchFamily="34" charset="-122"/>
                <a:cs typeface="Aptos" pitchFamily="34" charset="-120"/>
              </a:rPr>
              <a:t>Idiomas, zonas horarias y normativas</a:t>
            </a:r>
            <a:endParaRPr lang="en-US" sz="1110" dirty="0"/>
          </a:p>
        </p:txBody>
      </p:sp>
      <p:sp>
        <p:nvSpPr>
          <p:cNvPr id="45" name="Shape 35"/>
          <p:cNvSpPr/>
          <p:nvPr/>
        </p:nvSpPr>
        <p:spPr>
          <a:xfrm>
            <a:off x="502920" y="5248656"/>
            <a:ext cx="3456432" cy="566928"/>
          </a:xfrm>
          <a:prstGeom prst="roundRect">
            <a:avLst>
              <a:gd name="adj" fmla="val 19355"/>
            </a:avLst>
          </a:prstGeom>
          <a:solidFill>
            <a:srgbClr val="EEF5F9"/>
          </a:solidFill>
          <a:ln w="12700">
            <a:solidFill>
              <a:srgbClr val="DCE8EF"/>
            </a:solidFill>
            <a:prstDash val="solid"/>
          </a:ln>
        </p:spPr>
        <p:txBody>
          <a:bodyPr/>
          <a:lstStyle/>
          <a:p>
            <a:endParaRPr lang="en-US"/>
          </a:p>
        </p:txBody>
      </p:sp>
      <p:pic>
        <p:nvPicPr>
          <p:cNvPr id="46"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12648" y="5367528"/>
            <a:ext cx="310896" cy="310896"/>
          </a:xfrm>
          <a:prstGeom prst="rect">
            <a:avLst/>
          </a:prstGeom>
        </p:spPr>
      </p:pic>
      <p:sp>
        <p:nvSpPr>
          <p:cNvPr id="47" name="Text 36"/>
          <p:cNvSpPr txBox="1"/>
          <p:nvPr/>
        </p:nvSpPr>
        <p:spPr>
          <a:xfrm>
            <a:off x="1014984" y="5349240"/>
            <a:ext cx="2761488" cy="329184"/>
          </a:xfrm>
          <a:prstGeom prst="rect">
            <a:avLst/>
          </a:prstGeom>
          <a:noFill/>
          <a:ln/>
        </p:spPr>
        <p:txBody>
          <a:bodyPr wrap="square" lIns="0" tIns="0" rIns="0" bIns="0" rtlCol="0" anchor="ctr">
            <a:normAutofit/>
          </a:bodyPr>
          <a:lstStyle/>
          <a:p>
            <a:pPr marL="0" indent="0" algn="l">
              <a:buNone/>
            </a:pPr>
            <a:r>
              <a:rPr lang="en-US" sz="1110" b="1" dirty="0">
                <a:solidFill>
                  <a:srgbClr val="173042"/>
                </a:solidFill>
                <a:latin typeface="Aptos" pitchFamily="34" charset="0"/>
                <a:ea typeface="Aptos" pitchFamily="34" charset="-122"/>
                <a:cs typeface="Aptos" pitchFamily="34" charset="-120"/>
              </a:rPr>
              <a:t>Identidad externa</a:t>
            </a:r>
            <a:endParaRPr lang="en-US" sz="1110" dirty="0"/>
          </a:p>
        </p:txBody>
      </p:sp>
      <p:sp>
        <p:nvSpPr>
          <p:cNvPr id="48" name="Shape 37"/>
          <p:cNvSpPr/>
          <p:nvPr/>
        </p:nvSpPr>
        <p:spPr>
          <a:xfrm>
            <a:off x="4325112" y="5248656"/>
            <a:ext cx="3456432" cy="566928"/>
          </a:xfrm>
          <a:prstGeom prst="roundRect">
            <a:avLst>
              <a:gd name="adj" fmla="val 19355"/>
            </a:avLst>
          </a:prstGeom>
          <a:solidFill>
            <a:srgbClr val="EEF5F9"/>
          </a:solidFill>
          <a:ln w="12700">
            <a:solidFill>
              <a:srgbClr val="DCE8EF"/>
            </a:solidFill>
            <a:prstDash val="solid"/>
          </a:ln>
        </p:spPr>
        <p:txBody>
          <a:bodyPr/>
          <a:lstStyle/>
          <a:p>
            <a:endParaRPr lang="en-US"/>
          </a:p>
        </p:txBody>
      </p:sp>
      <p:pic>
        <p:nvPicPr>
          <p:cNvPr id="49"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434840" y="5367528"/>
            <a:ext cx="310896" cy="310896"/>
          </a:xfrm>
          <a:prstGeom prst="rect">
            <a:avLst/>
          </a:prstGeom>
        </p:spPr>
      </p:pic>
      <p:sp>
        <p:nvSpPr>
          <p:cNvPr id="50" name="Text 38"/>
          <p:cNvSpPr txBox="1"/>
          <p:nvPr/>
        </p:nvSpPr>
        <p:spPr>
          <a:xfrm>
            <a:off x="4837176" y="5349240"/>
            <a:ext cx="2761488" cy="329184"/>
          </a:xfrm>
          <a:prstGeom prst="rect">
            <a:avLst/>
          </a:prstGeom>
          <a:noFill/>
          <a:ln/>
        </p:spPr>
        <p:txBody>
          <a:bodyPr wrap="square" lIns="0" tIns="0" rIns="0" bIns="0" rtlCol="0" anchor="ctr">
            <a:normAutofit/>
          </a:bodyPr>
          <a:lstStyle/>
          <a:p>
            <a:pPr marL="0" indent="0" algn="l">
              <a:buNone/>
            </a:pPr>
            <a:r>
              <a:rPr lang="en-US" sz="1110" b="1" dirty="0">
                <a:solidFill>
                  <a:srgbClr val="173042"/>
                </a:solidFill>
                <a:latin typeface="Aptos" pitchFamily="34" charset="0"/>
                <a:ea typeface="Aptos" pitchFamily="34" charset="-122"/>
                <a:cs typeface="Aptos" pitchFamily="34" charset="-120"/>
              </a:rPr>
              <a:t>Separación estricta de datos</a:t>
            </a:r>
            <a:endParaRPr lang="en-US" sz="1110" dirty="0"/>
          </a:p>
        </p:txBody>
      </p:sp>
      <p:sp>
        <p:nvSpPr>
          <p:cNvPr id="51" name="Shape 39"/>
          <p:cNvSpPr/>
          <p:nvPr/>
        </p:nvSpPr>
        <p:spPr>
          <a:xfrm>
            <a:off x="8147304" y="5248656"/>
            <a:ext cx="3456432" cy="566928"/>
          </a:xfrm>
          <a:prstGeom prst="roundRect">
            <a:avLst>
              <a:gd name="adj" fmla="val 19355"/>
            </a:avLst>
          </a:prstGeom>
          <a:solidFill>
            <a:srgbClr val="EEF5F9"/>
          </a:solidFill>
          <a:ln w="12700">
            <a:solidFill>
              <a:srgbClr val="DCE8EF"/>
            </a:solidFill>
            <a:prstDash val="solid"/>
          </a:ln>
        </p:spPr>
        <p:txBody>
          <a:bodyPr/>
          <a:lstStyle/>
          <a:p>
            <a:endParaRPr lang="en-US"/>
          </a:p>
        </p:txBody>
      </p:sp>
      <p:pic>
        <p:nvPicPr>
          <p:cNvPr id="52" name="Image 10" descr="preencoded.pn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257032" y="5367528"/>
            <a:ext cx="310896" cy="310896"/>
          </a:xfrm>
          <a:prstGeom prst="rect">
            <a:avLst/>
          </a:prstGeom>
        </p:spPr>
      </p:pic>
      <p:sp>
        <p:nvSpPr>
          <p:cNvPr id="53" name="Text 40"/>
          <p:cNvSpPr txBox="1"/>
          <p:nvPr/>
        </p:nvSpPr>
        <p:spPr>
          <a:xfrm>
            <a:off x="8659368" y="5349240"/>
            <a:ext cx="2761488" cy="329184"/>
          </a:xfrm>
          <a:prstGeom prst="rect">
            <a:avLst/>
          </a:prstGeom>
          <a:noFill/>
          <a:ln/>
        </p:spPr>
        <p:txBody>
          <a:bodyPr wrap="square" lIns="0" tIns="0" rIns="0" bIns="0" rtlCol="0" anchor="ctr">
            <a:normAutofit/>
          </a:bodyPr>
          <a:lstStyle/>
          <a:p>
            <a:pPr marL="0" indent="0" algn="l">
              <a:buNone/>
            </a:pPr>
            <a:r>
              <a:rPr lang="en-US" sz="1110" b="1" dirty="0">
                <a:solidFill>
                  <a:srgbClr val="173042"/>
                </a:solidFill>
                <a:latin typeface="Aptos" pitchFamily="34" charset="0"/>
                <a:ea typeface="Aptos" pitchFamily="34" charset="-122"/>
                <a:cs typeface="Aptos" pitchFamily="34" charset="-120"/>
              </a:rPr>
              <a:t>Eventos críticos inmutables</a:t>
            </a:r>
            <a:endParaRPr lang="en-US" sz="1110" dirty="0"/>
          </a:p>
        </p:txBody>
      </p:sp>
      <p:sp>
        <p:nvSpPr>
          <p:cNvPr id="55" name="Slide Number Placeholder 0"/>
          <p:cNvSpPr>
            <a:spLocks noGrp="1"/>
          </p:cNvSpPr>
          <p:nvPr>
            <p:ph type="sldNum" sz="quarter" idx="4294967295"/>
          </p:nvPr>
        </p:nvSpPr>
        <p:spPr>
          <a:xfrm>
            <a:off x="11823192"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AAB6C0"/>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292608"/>
            <a:ext cx="3017520" cy="201168"/>
          </a:xfrm>
          <a:prstGeom prst="rect">
            <a:avLst/>
          </a:prstGeom>
          <a:noFill/>
          <a:ln/>
        </p:spPr>
        <p:txBody>
          <a:bodyPr wrap="square" lIns="0" tIns="0" rIns="0" bIns="0" rtlCol="0" anchor="ctr">
            <a:normAutofit/>
          </a:bodyPr>
          <a:lstStyle/>
          <a:p>
            <a:pPr marL="0" indent="0" algn="l">
              <a:buNone/>
            </a:pPr>
            <a:r>
              <a:rPr lang="en-US" sz="900" b="1" kern="0" spc="120" dirty="0">
                <a:solidFill>
                  <a:srgbClr val="0A5E8C"/>
                </a:solidFill>
                <a:latin typeface="Aptos" pitchFamily="34" charset="0"/>
                <a:ea typeface="Aptos" pitchFamily="34" charset="-122"/>
                <a:cs typeface="Aptos" pitchFamily="34" charset="-120"/>
              </a:rPr>
              <a:t>03 · ESTRATEGIA ARQUITECTÓNICA</a:t>
            </a:r>
            <a:endParaRPr lang="en-US" sz="900" dirty="0"/>
          </a:p>
        </p:txBody>
      </p:sp>
      <p:sp>
        <p:nvSpPr>
          <p:cNvPr id="3" name="Text 1"/>
          <p:cNvSpPr txBox="1"/>
          <p:nvPr/>
        </p:nvSpPr>
        <p:spPr>
          <a:xfrm>
            <a:off x="502920" y="530352"/>
            <a:ext cx="11320272" cy="493776"/>
          </a:xfrm>
          <a:prstGeom prst="rect">
            <a:avLst/>
          </a:prstGeom>
          <a:noFill/>
          <a:ln/>
        </p:spPr>
        <p:txBody>
          <a:bodyPr wrap="square" lIns="0" tIns="0" rIns="0" bIns="0" rtlCol="0" anchor="ctr">
            <a:normAutofit/>
          </a:bodyPr>
          <a:lstStyle/>
          <a:p>
            <a:pPr marL="0" indent="0" algn="l">
              <a:buNone/>
            </a:pPr>
            <a:r>
              <a:rPr lang="en-US" sz="2700" b="1" dirty="0">
                <a:solidFill>
                  <a:srgbClr val="173042"/>
                </a:solidFill>
                <a:latin typeface="Aptos" pitchFamily="34" charset="0"/>
                <a:ea typeface="Aptos" pitchFamily="34" charset="-122"/>
                <a:cs typeface="Aptos" pitchFamily="34" charset="-120"/>
              </a:rPr>
              <a:t>Cinco decisiones que convierten el alcance en una plataforma escalable</a:t>
            </a:r>
            <a:endParaRPr lang="en-US" sz="2700" dirty="0"/>
          </a:p>
        </p:txBody>
      </p:sp>
      <p:sp>
        <p:nvSpPr>
          <p:cNvPr id="4" name="Text 2"/>
          <p:cNvSpPr txBox="1"/>
          <p:nvPr/>
        </p:nvSpPr>
        <p:spPr>
          <a:xfrm>
            <a:off x="502920" y="1175004"/>
            <a:ext cx="10972800" cy="384048"/>
          </a:xfrm>
          <a:prstGeom prst="rect">
            <a:avLst/>
          </a:prstGeom>
          <a:noFill/>
          <a:ln/>
        </p:spPr>
        <p:txBody>
          <a:bodyPr wrap="square" lIns="0" tIns="0" rIns="0" bIns="0" rtlCol="0" anchor="t">
            <a:normAutofit/>
          </a:bodyPr>
          <a:lstStyle/>
          <a:p>
            <a:pPr marL="0" indent="0" algn="l">
              <a:buNone/>
            </a:pPr>
            <a:r>
              <a:rPr lang="en-US" sz="1250" dirty="0">
                <a:solidFill>
                  <a:srgbClr val="5F7484"/>
                </a:solidFill>
                <a:latin typeface="Aptos" pitchFamily="34" charset="0"/>
                <a:ea typeface="Aptos" pitchFamily="34" charset="-122"/>
                <a:cs typeface="Aptos" pitchFamily="34" charset="-120"/>
              </a:rPr>
              <a:t>La arquitectura distribuye responsabilidades, protege el contexto del operador y desacopla los flujos críticos de los efectos secundarios.</a:t>
            </a:r>
            <a:endParaRPr lang="en-US" sz="1250" dirty="0"/>
          </a:p>
        </p:txBody>
      </p:sp>
      <p:sp>
        <p:nvSpPr>
          <p:cNvPr id="5" name="Shape 3"/>
          <p:cNvSpPr/>
          <p:nvPr/>
        </p:nvSpPr>
        <p:spPr>
          <a:xfrm>
            <a:off x="502920" y="1664208"/>
            <a:ext cx="2011680" cy="3438144"/>
          </a:xfrm>
          <a:prstGeom prst="roundRect">
            <a:avLst>
              <a:gd name="adj" fmla="val 5455"/>
            </a:avLst>
          </a:prstGeom>
          <a:solidFill>
            <a:srgbClr val="FFFFFF"/>
          </a:solidFill>
          <a:ln w="12700">
            <a:solidFill>
              <a:srgbClr val="D8E4EC"/>
            </a:solidFill>
            <a:prstDash val="solid"/>
          </a:ln>
        </p:spPr>
        <p:txBody>
          <a:bodyPr/>
          <a:lstStyle/>
          <a:p>
            <a:endParaRPr lang="en-US"/>
          </a:p>
        </p:txBody>
      </p:sp>
      <p:sp>
        <p:nvSpPr>
          <p:cNvPr id="6" name="Text 4"/>
          <p:cNvSpPr txBox="1"/>
          <p:nvPr/>
        </p:nvSpPr>
        <p:spPr>
          <a:xfrm>
            <a:off x="630936" y="1837944"/>
            <a:ext cx="420624" cy="256032"/>
          </a:xfrm>
          <a:prstGeom prst="rect">
            <a:avLst/>
          </a:prstGeom>
          <a:solidFill>
            <a:srgbClr val="0A5E8C"/>
          </a:solidFill>
          <a:ln/>
        </p:spPr>
        <p:txBody>
          <a:bodyPr wrap="square" lIns="762" tIns="762" rIns="762" bIns="762"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01</a:t>
            </a:r>
            <a:endParaRPr lang="en-US" sz="1000" dirty="0"/>
          </a:p>
        </p:txBody>
      </p:sp>
      <p:sp>
        <p:nvSpPr>
          <p:cNvPr id="7" name="Shape 5"/>
          <p:cNvSpPr/>
          <p:nvPr/>
        </p:nvSpPr>
        <p:spPr>
          <a:xfrm>
            <a:off x="1124712" y="2212848"/>
            <a:ext cx="768096" cy="768096"/>
          </a:xfrm>
          <a:prstGeom prst="ellipse">
            <a:avLst/>
          </a:prstGeom>
          <a:solidFill>
            <a:srgbClr val="0A5E8C"/>
          </a:solidFill>
          <a:ln w="12700">
            <a:solidFill>
              <a:srgbClr val="0A5E8C"/>
            </a:solidFill>
            <a:prstDash val="solid"/>
          </a:ln>
        </p:spPr>
        <p:txBody>
          <a:bodyPr/>
          <a:lstStyle/>
          <a:p>
            <a:endParaRPr lang="en-US"/>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6736" y="2404872"/>
            <a:ext cx="384048" cy="384048"/>
          </a:xfrm>
          <a:prstGeom prst="rect">
            <a:avLst/>
          </a:prstGeom>
        </p:spPr>
      </p:pic>
      <p:sp>
        <p:nvSpPr>
          <p:cNvPr id="9" name="Text 6"/>
          <p:cNvSpPr txBox="1"/>
          <p:nvPr/>
        </p:nvSpPr>
        <p:spPr>
          <a:xfrm>
            <a:off x="630936" y="3154680"/>
            <a:ext cx="1755648" cy="512064"/>
          </a:xfrm>
          <a:prstGeom prst="rect">
            <a:avLst/>
          </a:prstGeom>
          <a:noFill/>
          <a:ln/>
        </p:spPr>
        <p:txBody>
          <a:bodyPr wrap="square" lIns="0" tIns="0" rIns="0" bIns="0" rtlCol="0" anchor="ctr">
            <a:normAutofit/>
          </a:bodyPr>
          <a:lstStyle/>
          <a:p>
            <a:pPr marL="0" indent="0" algn="ctr">
              <a:buNone/>
            </a:pPr>
            <a:r>
              <a:rPr lang="en-US" sz="1520" b="1" dirty="0">
                <a:solidFill>
                  <a:srgbClr val="173042"/>
                </a:solidFill>
                <a:latin typeface="Aptos" pitchFamily="34" charset="0"/>
                <a:ea typeface="Aptos" pitchFamily="34" charset="-122"/>
                <a:cs typeface="Aptos" pitchFamily="34" charset="-120"/>
              </a:rPr>
              <a:t>Microservicios</a:t>
            </a:r>
            <a:endParaRPr lang="en-US" sz="1520" dirty="0"/>
          </a:p>
        </p:txBody>
      </p:sp>
      <p:sp>
        <p:nvSpPr>
          <p:cNvPr id="10" name="Text 7"/>
          <p:cNvSpPr txBox="1"/>
          <p:nvPr/>
        </p:nvSpPr>
        <p:spPr>
          <a:xfrm>
            <a:off x="667512" y="3749040"/>
            <a:ext cx="1682496" cy="969264"/>
          </a:xfrm>
          <a:prstGeom prst="rect">
            <a:avLst/>
          </a:prstGeom>
          <a:noFill/>
          <a:ln/>
        </p:spPr>
        <p:txBody>
          <a:bodyPr wrap="square" lIns="0" tIns="0" rIns="0" bIns="0" rtlCol="0" anchor="t">
            <a:normAutofit/>
          </a:bodyPr>
          <a:lstStyle/>
          <a:p>
            <a:pPr marL="0" indent="0" algn="ctr">
              <a:buNone/>
            </a:pPr>
            <a:r>
              <a:rPr lang="en-US" sz="1010" dirty="0">
                <a:solidFill>
                  <a:srgbClr val="5F7484"/>
                </a:solidFill>
                <a:latin typeface="Aptos" pitchFamily="34" charset="0"/>
                <a:ea typeface="Aptos" pitchFamily="34" charset="-122"/>
                <a:cs typeface="Aptos" pitchFamily="34" charset="-120"/>
              </a:rPr>
              <a:t>Servicios autónomos por capacidad de negocio, con despliegue y escalamiento independiente.</a:t>
            </a:r>
            <a:endParaRPr lang="en-US" sz="1010" dirty="0"/>
          </a:p>
        </p:txBody>
      </p:sp>
      <p:sp>
        <p:nvSpPr>
          <p:cNvPr id="11" name="Shape 8"/>
          <p:cNvSpPr/>
          <p:nvPr/>
        </p:nvSpPr>
        <p:spPr>
          <a:xfrm>
            <a:off x="786384" y="4709160"/>
            <a:ext cx="1444752" cy="310896"/>
          </a:xfrm>
          <a:prstGeom prst="roundRect">
            <a:avLst>
              <a:gd name="adj" fmla="val 35294"/>
            </a:avLst>
          </a:prstGeom>
          <a:solidFill>
            <a:srgbClr val="F3F7FA"/>
          </a:solidFill>
          <a:ln w="12700">
            <a:solidFill>
              <a:srgbClr val="F3F7FA"/>
            </a:solidFill>
            <a:prstDash val="solid"/>
          </a:ln>
        </p:spPr>
        <p:txBody>
          <a:bodyPr/>
          <a:lstStyle/>
          <a:p>
            <a:endParaRPr lang="en-US"/>
          </a:p>
        </p:txBody>
      </p:sp>
      <p:sp>
        <p:nvSpPr>
          <p:cNvPr id="12" name="Text 9"/>
          <p:cNvSpPr txBox="1"/>
          <p:nvPr/>
        </p:nvSpPr>
        <p:spPr>
          <a:xfrm>
            <a:off x="859536" y="4718304"/>
            <a:ext cx="1298448" cy="274320"/>
          </a:xfrm>
          <a:prstGeom prst="rect">
            <a:avLst/>
          </a:prstGeom>
          <a:noFill/>
          <a:ln/>
        </p:spPr>
        <p:txBody>
          <a:bodyPr wrap="square" lIns="0" tIns="0" rIns="0" bIns="0" rtlCol="0" anchor="ctr">
            <a:normAutofit/>
          </a:bodyPr>
          <a:lstStyle/>
          <a:p>
            <a:pPr marL="0" indent="0" algn="ctr">
              <a:buNone/>
            </a:pPr>
            <a:r>
              <a:rPr lang="en-US" sz="950" b="1" dirty="0">
                <a:solidFill>
                  <a:srgbClr val="0A5E8C"/>
                </a:solidFill>
                <a:latin typeface="Aptos" pitchFamily="34" charset="0"/>
                <a:ea typeface="Aptos" pitchFamily="34" charset="-122"/>
                <a:cs typeface="Aptos" pitchFamily="34" charset="-120"/>
              </a:rPr>
              <a:t>Decisión aprobada</a:t>
            </a:r>
            <a:endParaRPr lang="en-US" sz="950" dirty="0"/>
          </a:p>
        </p:txBody>
      </p:sp>
      <p:sp>
        <p:nvSpPr>
          <p:cNvPr id="13" name="Shape 10"/>
          <p:cNvSpPr/>
          <p:nvPr/>
        </p:nvSpPr>
        <p:spPr>
          <a:xfrm>
            <a:off x="2798064" y="1664208"/>
            <a:ext cx="2011680" cy="3438144"/>
          </a:xfrm>
          <a:prstGeom prst="roundRect">
            <a:avLst>
              <a:gd name="adj" fmla="val 5455"/>
            </a:avLst>
          </a:prstGeom>
          <a:solidFill>
            <a:srgbClr val="FFFFFF"/>
          </a:solidFill>
          <a:ln w="12700">
            <a:solidFill>
              <a:srgbClr val="D8E4EC"/>
            </a:solidFill>
            <a:prstDash val="solid"/>
          </a:ln>
        </p:spPr>
        <p:txBody>
          <a:bodyPr/>
          <a:lstStyle/>
          <a:p>
            <a:endParaRPr lang="en-US"/>
          </a:p>
        </p:txBody>
      </p:sp>
      <p:sp>
        <p:nvSpPr>
          <p:cNvPr id="14" name="Text 11"/>
          <p:cNvSpPr txBox="1"/>
          <p:nvPr/>
        </p:nvSpPr>
        <p:spPr>
          <a:xfrm>
            <a:off x="2926080" y="1837944"/>
            <a:ext cx="420624" cy="256032"/>
          </a:xfrm>
          <a:prstGeom prst="rect">
            <a:avLst/>
          </a:prstGeom>
          <a:solidFill>
            <a:srgbClr val="19A394"/>
          </a:solidFill>
          <a:ln/>
        </p:spPr>
        <p:txBody>
          <a:bodyPr wrap="square" lIns="762" tIns="762" rIns="762" bIns="762"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02</a:t>
            </a:r>
            <a:endParaRPr lang="en-US" sz="1000" dirty="0"/>
          </a:p>
        </p:txBody>
      </p:sp>
      <p:sp>
        <p:nvSpPr>
          <p:cNvPr id="15" name="Shape 12"/>
          <p:cNvSpPr/>
          <p:nvPr/>
        </p:nvSpPr>
        <p:spPr>
          <a:xfrm>
            <a:off x="3419856" y="2212848"/>
            <a:ext cx="768096" cy="768096"/>
          </a:xfrm>
          <a:prstGeom prst="ellipse">
            <a:avLst/>
          </a:prstGeom>
          <a:solidFill>
            <a:srgbClr val="19A394"/>
          </a:solidFill>
          <a:ln w="12700">
            <a:solidFill>
              <a:srgbClr val="19A394"/>
            </a:solidFill>
            <a:prstDash val="solid"/>
          </a:ln>
        </p:spPr>
        <p:txBody>
          <a:bodyPr/>
          <a:lstStyle/>
          <a:p>
            <a:endParaRPr lang="en-US"/>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11880" y="2404872"/>
            <a:ext cx="384048" cy="384048"/>
          </a:xfrm>
          <a:prstGeom prst="rect">
            <a:avLst/>
          </a:prstGeom>
        </p:spPr>
      </p:pic>
      <p:sp>
        <p:nvSpPr>
          <p:cNvPr id="17" name="Text 13"/>
          <p:cNvSpPr txBox="1"/>
          <p:nvPr/>
        </p:nvSpPr>
        <p:spPr>
          <a:xfrm>
            <a:off x="2926080" y="3154680"/>
            <a:ext cx="1755648" cy="512064"/>
          </a:xfrm>
          <a:prstGeom prst="rect">
            <a:avLst/>
          </a:prstGeom>
          <a:noFill/>
          <a:ln/>
        </p:spPr>
        <p:txBody>
          <a:bodyPr wrap="square" lIns="0" tIns="0" rIns="0" bIns="0" rtlCol="0" anchor="ctr">
            <a:normAutofit/>
          </a:bodyPr>
          <a:lstStyle/>
          <a:p>
            <a:pPr marL="0" indent="0" algn="ctr">
              <a:buNone/>
            </a:pPr>
            <a:r>
              <a:rPr lang="en-US" sz="1520" b="1" dirty="0">
                <a:solidFill>
                  <a:srgbClr val="173042"/>
                </a:solidFill>
                <a:latin typeface="Aptos" pitchFamily="34" charset="0"/>
                <a:ea typeface="Aptos" pitchFamily="34" charset="-122"/>
                <a:cs typeface="Aptos" pitchFamily="34" charset="-120"/>
              </a:rPr>
              <a:t>SaaS multioperador</a:t>
            </a:r>
            <a:endParaRPr lang="en-US" sz="1520" dirty="0"/>
          </a:p>
        </p:txBody>
      </p:sp>
      <p:sp>
        <p:nvSpPr>
          <p:cNvPr id="18" name="Text 14"/>
          <p:cNvSpPr txBox="1"/>
          <p:nvPr/>
        </p:nvSpPr>
        <p:spPr>
          <a:xfrm>
            <a:off x="2962656" y="3749040"/>
            <a:ext cx="1682496" cy="969264"/>
          </a:xfrm>
          <a:prstGeom prst="rect">
            <a:avLst/>
          </a:prstGeom>
          <a:noFill/>
          <a:ln/>
        </p:spPr>
        <p:txBody>
          <a:bodyPr wrap="square" lIns="0" tIns="0" rIns="0" bIns="0" rtlCol="0" anchor="t">
            <a:normAutofit/>
          </a:bodyPr>
          <a:lstStyle/>
          <a:p>
            <a:pPr marL="0" indent="0" algn="ctr">
              <a:buNone/>
            </a:pPr>
            <a:r>
              <a:rPr lang="en-US" sz="1010" dirty="0">
                <a:solidFill>
                  <a:srgbClr val="5F7484"/>
                </a:solidFill>
                <a:latin typeface="Aptos" pitchFamily="34" charset="0"/>
                <a:ea typeface="Aptos" pitchFamily="34" charset="-122"/>
                <a:cs typeface="Aptos" pitchFamily="34" charset="-120"/>
              </a:rPr>
              <a:t>Una plataforma compartida con contexto y datos aislados por operador.</a:t>
            </a:r>
            <a:endParaRPr lang="en-US" sz="1010" dirty="0"/>
          </a:p>
        </p:txBody>
      </p:sp>
      <p:sp>
        <p:nvSpPr>
          <p:cNvPr id="19" name="Shape 15"/>
          <p:cNvSpPr/>
          <p:nvPr/>
        </p:nvSpPr>
        <p:spPr>
          <a:xfrm>
            <a:off x="3081528" y="4709160"/>
            <a:ext cx="1444752" cy="310896"/>
          </a:xfrm>
          <a:prstGeom prst="roundRect">
            <a:avLst>
              <a:gd name="adj" fmla="val 35294"/>
            </a:avLst>
          </a:prstGeom>
          <a:solidFill>
            <a:srgbClr val="F3F7FA"/>
          </a:solidFill>
          <a:ln w="12700">
            <a:solidFill>
              <a:srgbClr val="F3F7FA"/>
            </a:solidFill>
            <a:prstDash val="solid"/>
          </a:ln>
        </p:spPr>
        <p:txBody>
          <a:bodyPr/>
          <a:lstStyle/>
          <a:p>
            <a:endParaRPr lang="en-US"/>
          </a:p>
        </p:txBody>
      </p:sp>
      <p:sp>
        <p:nvSpPr>
          <p:cNvPr id="20" name="Text 16"/>
          <p:cNvSpPr txBox="1"/>
          <p:nvPr/>
        </p:nvSpPr>
        <p:spPr>
          <a:xfrm>
            <a:off x="3154680" y="4718304"/>
            <a:ext cx="1298448" cy="274320"/>
          </a:xfrm>
          <a:prstGeom prst="rect">
            <a:avLst/>
          </a:prstGeom>
          <a:noFill/>
          <a:ln/>
        </p:spPr>
        <p:txBody>
          <a:bodyPr wrap="square" lIns="0" tIns="0" rIns="0" bIns="0" rtlCol="0" anchor="ctr">
            <a:normAutofit/>
          </a:bodyPr>
          <a:lstStyle/>
          <a:p>
            <a:pPr marL="0" indent="0" algn="ctr">
              <a:buNone/>
            </a:pPr>
            <a:r>
              <a:rPr lang="en-US" sz="950" b="1" dirty="0">
                <a:solidFill>
                  <a:srgbClr val="19A394"/>
                </a:solidFill>
                <a:latin typeface="Aptos" pitchFamily="34" charset="0"/>
                <a:ea typeface="Aptos" pitchFamily="34" charset="-122"/>
                <a:cs typeface="Aptos" pitchFamily="34" charset="-120"/>
              </a:rPr>
              <a:t>Decisión aprobada</a:t>
            </a:r>
            <a:endParaRPr lang="en-US" sz="950" dirty="0"/>
          </a:p>
        </p:txBody>
      </p:sp>
      <p:sp>
        <p:nvSpPr>
          <p:cNvPr id="21" name="Shape 17"/>
          <p:cNvSpPr/>
          <p:nvPr/>
        </p:nvSpPr>
        <p:spPr>
          <a:xfrm>
            <a:off x="5093208" y="1664208"/>
            <a:ext cx="2011680" cy="3438144"/>
          </a:xfrm>
          <a:prstGeom prst="roundRect">
            <a:avLst>
              <a:gd name="adj" fmla="val 5455"/>
            </a:avLst>
          </a:prstGeom>
          <a:solidFill>
            <a:srgbClr val="FFFFFF"/>
          </a:solidFill>
          <a:ln w="12700">
            <a:solidFill>
              <a:srgbClr val="D8E4EC"/>
            </a:solidFill>
            <a:prstDash val="solid"/>
          </a:ln>
        </p:spPr>
        <p:txBody>
          <a:bodyPr/>
          <a:lstStyle/>
          <a:p>
            <a:endParaRPr lang="en-US"/>
          </a:p>
        </p:txBody>
      </p:sp>
      <p:sp>
        <p:nvSpPr>
          <p:cNvPr id="22" name="Text 18"/>
          <p:cNvSpPr txBox="1"/>
          <p:nvPr/>
        </p:nvSpPr>
        <p:spPr>
          <a:xfrm>
            <a:off x="5221224" y="1837944"/>
            <a:ext cx="420624" cy="256032"/>
          </a:xfrm>
          <a:prstGeom prst="rect">
            <a:avLst/>
          </a:prstGeom>
          <a:solidFill>
            <a:srgbClr val="6B6FD8"/>
          </a:solidFill>
          <a:ln/>
        </p:spPr>
        <p:txBody>
          <a:bodyPr wrap="square" lIns="762" tIns="762" rIns="762" bIns="762"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03</a:t>
            </a:r>
            <a:endParaRPr lang="en-US" sz="1000" dirty="0"/>
          </a:p>
        </p:txBody>
      </p:sp>
      <p:sp>
        <p:nvSpPr>
          <p:cNvPr id="23" name="Shape 19"/>
          <p:cNvSpPr/>
          <p:nvPr/>
        </p:nvSpPr>
        <p:spPr>
          <a:xfrm>
            <a:off x="5715000" y="2212848"/>
            <a:ext cx="768096" cy="768096"/>
          </a:xfrm>
          <a:prstGeom prst="ellipse">
            <a:avLst/>
          </a:prstGeom>
          <a:solidFill>
            <a:srgbClr val="6B6FD8"/>
          </a:solidFill>
          <a:ln w="12700">
            <a:solidFill>
              <a:srgbClr val="6B6FD8"/>
            </a:solidFill>
            <a:prstDash val="solid"/>
          </a:ln>
        </p:spPr>
        <p:txBody>
          <a:bodyPr/>
          <a:lstStyle/>
          <a:p>
            <a:endParaRPr lang="en-US"/>
          </a:p>
        </p:txBody>
      </p:sp>
      <p:pic>
        <p:nvPicPr>
          <p:cNvPr id="2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07024" y="2404872"/>
            <a:ext cx="384048" cy="384048"/>
          </a:xfrm>
          <a:prstGeom prst="rect">
            <a:avLst/>
          </a:prstGeom>
        </p:spPr>
      </p:pic>
      <p:sp>
        <p:nvSpPr>
          <p:cNvPr id="25" name="Text 20"/>
          <p:cNvSpPr txBox="1"/>
          <p:nvPr/>
        </p:nvSpPr>
        <p:spPr>
          <a:xfrm>
            <a:off x="5221224" y="3154680"/>
            <a:ext cx="1755648" cy="512064"/>
          </a:xfrm>
          <a:prstGeom prst="rect">
            <a:avLst/>
          </a:prstGeom>
          <a:noFill/>
          <a:ln/>
        </p:spPr>
        <p:txBody>
          <a:bodyPr wrap="square" lIns="0" tIns="0" rIns="0" bIns="0" rtlCol="0" anchor="ctr">
            <a:normAutofit/>
          </a:bodyPr>
          <a:lstStyle/>
          <a:p>
            <a:pPr marL="0" indent="0" algn="ctr">
              <a:buNone/>
            </a:pPr>
            <a:r>
              <a:rPr lang="en-US" sz="1520" b="1" dirty="0">
                <a:solidFill>
                  <a:srgbClr val="173042"/>
                </a:solidFill>
                <a:latin typeface="Aptos" pitchFamily="34" charset="0"/>
                <a:ea typeface="Aptos" pitchFamily="34" charset="-122"/>
                <a:cs typeface="Aptos" pitchFamily="34" charset="-120"/>
              </a:rPr>
              <a:t>API Gateway</a:t>
            </a:r>
            <a:endParaRPr lang="en-US" sz="1520" dirty="0"/>
          </a:p>
        </p:txBody>
      </p:sp>
      <p:sp>
        <p:nvSpPr>
          <p:cNvPr id="26" name="Text 21"/>
          <p:cNvSpPr txBox="1"/>
          <p:nvPr/>
        </p:nvSpPr>
        <p:spPr>
          <a:xfrm>
            <a:off x="5257800" y="3749040"/>
            <a:ext cx="1682496" cy="969264"/>
          </a:xfrm>
          <a:prstGeom prst="rect">
            <a:avLst/>
          </a:prstGeom>
          <a:noFill/>
          <a:ln/>
        </p:spPr>
        <p:txBody>
          <a:bodyPr wrap="square" lIns="0" tIns="0" rIns="0" bIns="0" rtlCol="0" anchor="t">
            <a:normAutofit/>
          </a:bodyPr>
          <a:lstStyle/>
          <a:p>
            <a:pPr marL="0" indent="0" algn="ctr">
              <a:buNone/>
            </a:pPr>
            <a:r>
              <a:rPr lang="en-US" sz="1010" dirty="0">
                <a:solidFill>
                  <a:srgbClr val="5F7484"/>
                </a:solidFill>
                <a:latin typeface="Aptos" pitchFamily="34" charset="0"/>
                <a:ea typeface="Aptos" pitchFamily="34" charset="-122"/>
                <a:cs typeface="Aptos" pitchFamily="34" charset="-120"/>
              </a:rPr>
              <a:t>Punto único de entrada para autenticación, autorización, cuotas y enrutamiento.</a:t>
            </a:r>
            <a:endParaRPr lang="en-US" sz="1010" dirty="0"/>
          </a:p>
        </p:txBody>
      </p:sp>
      <p:sp>
        <p:nvSpPr>
          <p:cNvPr id="27" name="Shape 22"/>
          <p:cNvSpPr/>
          <p:nvPr/>
        </p:nvSpPr>
        <p:spPr>
          <a:xfrm>
            <a:off x="5376672" y="4709160"/>
            <a:ext cx="1444752" cy="310896"/>
          </a:xfrm>
          <a:prstGeom prst="roundRect">
            <a:avLst>
              <a:gd name="adj" fmla="val 35294"/>
            </a:avLst>
          </a:prstGeom>
          <a:solidFill>
            <a:srgbClr val="F3F7FA"/>
          </a:solidFill>
          <a:ln w="12700">
            <a:solidFill>
              <a:srgbClr val="F3F7FA"/>
            </a:solidFill>
            <a:prstDash val="solid"/>
          </a:ln>
        </p:spPr>
        <p:txBody>
          <a:bodyPr/>
          <a:lstStyle/>
          <a:p>
            <a:endParaRPr lang="en-US"/>
          </a:p>
        </p:txBody>
      </p:sp>
      <p:sp>
        <p:nvSpPr>
          <p:cNvPr id="28" name="Text 23"/>
          <p:cNvSpPr txBox="1"/>
          <p:nvPr/>
        </p:nvSpPr>
        <p:spPr>
          <a:xfrm>
            <a:off x="5449824" y="4718304"/>
            <a:ext cx="1298448" cy="274320"/>
          </a:xfrm>
          <a:prstGeom prst="rect">
            <a:avLst/>
          </a:prstGeom>
          <a:noFill/>
          <a:ln/>
        </p:spPr>
        <p:txBody>
          <a:bodyPr wrap="square" lIns="0" tIns="0" rIns="0" bIns="0" rtlCol="0" anchor="ctr">
            <a:normAutofit/>
          </a:bodyPr>
          <a:lstStyle/>
          <a:p>
            <a:pPr marL="0" indent="0" algn="ctr">
              <a:buNone/>
            </a:pPr>
            <a:r>
              <a:rPr lang="en-US" sz="950" b="1" dirty="0">
                <a:solidFill>
                  <a:srgbClr val="6B6FD8"/>
                </a:solidFill>
                <a:latin typeface="Aptos" pitchFamily="34" charset="0"/>
                <a:ea typeface="Aptos" pitchFamily="34" charset="-122"/>
                <a:cs typeface="Aptos" pitchFamily="34" charset="-120"/>
              </a:rPr>
              <a:t>Decisión aprobada</a:t>
            </a:r>
            <a:endParaRPr lang="en-US" sz="950" dirty="0"/>
          </a:p>
        </p:txBody>
      </p:sp>
      <p:sp>
        <p:nvSpPr>
          <p:cNvPr id="29" name="Shape 24"/>
          <p:cNvSpPr/>
          <p:nvPr/>
        </p:nvSpPr>
        <p:spPr>
          <a:xfrm>
            <a:off x="7388352" y="1664208"/>
            <a:ext cx="2011680" cy="3438144"/>
          </a:xfrm>
          <a:prstGeom prst="roundRect">
            <a:avLst>
              <a:gd name="adj" fmla="val 5455"/>
            </a:avLst>
          </a:prstGeom>
          <a:solidFill>
            <a:srgbClr val="FFFFFF"/>
          </a:solidFill>
          <a:ln w="12700">
            <a:solidFill>
              <a:srgbClr val="D8E4EC"/>
            </a:solidFill>
            <a:prstDash val="solid"/>
          </a:ln>
        </p:spPr>
        <p:txBody>
          <a:bodyPr/>
          <a:lstStyle/>
          <a:p>
            <a:endParaRPr lang="en-US"/>
          </a:p>
        </p:txBody>
      </p:sp>
      <p:sp>
        <p:nvSpPr>
          <p:cNvPr id="30" name="Text 25"/>
          <p:cNvSpPr txBox="1"/>
          <p:nvPr/>
        </p:nvSpPr>
        <p:spPr>
          <a:xfrm>
            <a:off x="7516368" y="1837944"/>
            <a:ext cx="420624" cy="256032"/>
          </a:xfrm>
          <a:prstGeom prst="rect">
            <a:avLst/>
          </a:prstGeom>
          <a:solidFill>
            <a:srgbClr val="20A3B8"/>
          </a:solidFill>
          <a:ln/>
        </p:spPr>
        <p:txBody>
          <a:bodyPr wrap="square" lIns="762" tIns="762" rIns="762" bIns="762"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04</a:t>
            </a:r>
            <a:endParaRPr lang="en-US" sz="1000" dirty="0"/>
          </a:p>
        </p:txBody>
      </p:sp>
      <p:sp>
        <p:nvSpPr>
          <p:cNvPr id="31" name="Shape 26"/>
          <p:cNvSpPr/>
          <p:nvPr/>
        </p:nvSpPr>
        <p:spPr>
          <a:xfrm>
            <a:off x="8010144" y="2212848"/>
            <a:ext cx="768096" cy="768096"/>
          </a:xfrm>
          <a:prstGeom prst="ellipse">
            <a:avLst/>
          </a:prstGeom>
          <a:solidFill>
            <a:srgbClr val="20A3B8"/>
          </a:solidFill>
          <a:ln w="12700">
            <a:solidFill>
              <a:srgbClr val="20A3B8"/>
            </a:solidFill>
            <a:prstDash val="solid"/>
          </a:ln>
        </p:spPr>
        <p:txBody>
          <a:bodyPr/>
          <a:lstStyle/>
          <a:p>
            <a:endParaRPr lang="en-US"/>
          </a:p>
        </p:txBody>
      </p:sp>
      <p:pic>
        <p:nvPicPr>
          <p:cNvPr id="3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02168" y="2404872"/>
            <a:ext cx="384048" cy="384048"/>
          </a:xfrm>
          <a:prstGeom prst="rect">
            <a:avLst/>
          </a:prstGeom>
        </p:spPr>
      </p:pic>
      <p:sp>
        <p:nvSpPr>
          <p:cNvPr id="33" name="Text 27"/>
          <p:cNvSpPr txBox="1"/>
          <p:nvPr/>
        </p:nvSpPr>
        <p:spPr>
          <a:xfrm>
            <a:off x="7516368" y="3154680"/>
            <a:ext cx="1755648" cy="512064"/>
          </a:xfrm>
          <a:prstGeom prst="rect">
            <a:avLst/>
          </a:prstGeom>
          <a:noFill/>
          <a:ln/>
        </p:spPr>
        <p:txBody>
          <a:bodyPr wrap="square" lIns="0" tIns="0" rIns="0" bIns="0" rtlCol="0" anchor="ctr">
            <a:normAutofit/>
          </a:bodyPr>
          <a:lstStyle/>
          <a:p>
            <a:pPr marL="0" indent="0" algn="ctr">
              <a:buNone/>
            </a:pPr>
            <a:r>
              <a:rPr lang="en-US" sz="1520" b="1" dirty="0">
                <a:solidFill>
                  <a:srgbClr val="173042"/>
                </a:solidFill>
                <a:latin typeface="Aptos" pitchFamily="34" charset="0"/>
                <a:ea typeface="Aptos" pitchFamily="34" charset="-122"/>
                <a:cs typeface="Aptos" pitchFamily="34" charset="-120"/>
              </a:rPr>
              <a:t>REST + eventos</a:t>
            </a:r>
            <a:endParaRPr lang="en-US" sz="1520" dirty="0"/>
          </a:p>
        </p:txBody>
      </p:sp>
      <p:sp>
        <p:nvSpPr>
          <p:cNvPr id="34" name="Text 28"/>
          <p:cNvSpPr txBox="1"/>
          <p:nvPr/>
        </p:nvSpPr>
        <p:spPr>
          <a:xfrm>
            <a:off x="7552944" y="3749040"/>
            <a:ext cx="1682496" cy="969264"/>
          </a:xfrm>
          <a:prstGeom prst="rect">
            <a:avLst/>
          </a:prstGeom>
          <a:noFill/>
          <a:ln/>
        </p:spPr>
        <p:txBody>
          <a:bodyPr wrap="square" lIns="0" tIns="0" rIns="0" bIns="0" rtlCol="0" anchor="t">
            <a:normAutofit/>
          </a:bodyPr>
          <a:lstStyle/>
          <a:p>
            <a:pPr marL="0" indent="0" algn="ctr">
              <a:buNone/>
            </a:pPr>
            <a:r>
              <a:rPr lang="en-US" sz="1010" dirty="0">
                <a:solidFill>
                  <a:srgbClr val="5F7484"/>
                </a:solidFill>
                <a:latin typeface="Aptos" pitchFamily="34" charset="0"/>
                <a:ea typeface="Aptos" pitchFamily="34" charset="-122"/>
                <a:cs typeface="Aptos" pitchFamily="34" charset="-120"/>
              </a:rPr>
              <a:t>REST para respuesta inmediata; Kafka para integración asíncrona y desacoplada.</a:t>
            </a:r>
            <a:endParaRPr lang="en-US" sz="1010" dirty="0"/>
          </a:p>
        </p:txBody>
      </p:sp>
      <p:sp>
        <p:nvSpPr>
          <p:cNvPr id="35" name="Shape 29"/>
          <p:cNvSpPr/>
          <p:nvPr/>
        </p:nvSpPr>
        <p:spPr>
          <a:xfrm>
            <a:off x="7671816" y="4709160"/>
            <a:ext cx="1444752" cy="310896"/>
          </a:xfrm>
          <a:prstGeom prst="roundRect">
            <a:avLst>
              <a:gd name="adj" fmla="val 35294"/>
            </a:avLst>
          </a:prstGeom>
          <a:solidFill>
            <a:srgbClr val="F3F7FA"/>
          </a:solidFill>
          <a:ln w="12700">
            <a:solidFill>
              <a:srgbClr val="F3F7FA"/>
            </a:solidFill>
            <a:prstDash val="solid"/>
          </a:ln>
        </p:spPr>
        <p:txBody>
          <a:bodyPr/>
          <a:lstStyle/>
          <a:p>
            <a:endParaRPr lang="en-US"/>
          </a:p>
        </p:txBody>
      </p:sp>
      <p:sp>
        <p:nvSpPr>
          <p:cNvPr id="36" name="Text 30"/>
          <p:cNvSpPr txBox="1"/>
          <p:nvPr/>
        </p:nvSpPr>
        <p:spPr>
          <a:xfrm>
            <a:off x="7744968" y="4718304"/>
            <a:ext cx="1298448" cy="274320"/>
          </a:xfrm>
          <a:prstGeom prst="rect">
            <a:avLst/>
          </a:prstGeom>
          <a:noFill/>
          <a:ln/>
        </p:spPr>
        <p:txBody>
          <a:bodyPr wrap="square" lIns="0" tIns="0" rIns="0" bIns="0" rtlCol="0" anchor="ctr">
            <a:normAutofit/>
          </a:bodyPr>
          <a:lstStyle/>
          <a:p>
            <a:pPr marL="0" indent="0" algn="ctr">
              <a:buNone/>
            </a:pPr>
            <a:r>
              <a:rPr lang="en-US" sz="950" b="1" dirty="0">
                <a:solidFill>
                  <a:srgbClr val="20A3B8"/>
                </a:solidFill>
                <a:latin typeface="Aptos" pitchFamily="34" charset="0"/>
                <a:ea typeface="Aptos" pitchFamily="34" charset="-122"/>
                <a:cs typeface="Aptos" pitchFamily="34" charset="-120"/>
              </a:rPr>
              <a:t>Decisión aprobada</a:t>
            </a:r>
            <a:endParaRPr lang="en-US" sz="950" dirty="0"/>
          </a:p>
        </p:txBody>
      </p:sp>
      <p:sp>
        <p:nvSpPr>
          <p:cNvPr id="37" name="Shape 31"/>
          <p:cNvSpPr/>
          <p:nvPr/>
        </p:nvSpPr>
        <p:spPr>
          <a:xfrm>
            <a:off x="9683496" y="1664208"/>
            <a:ext cx="2011680" cy="3438144"/>
          </a:xfrm>
          <a:prstGeom prst="roundRect">
            <a:avLst>
              <a:gd name="adj" fmla="val 5455"/>
            </a:avLst>
          </a:prstGeom>
          <a:solidFill>
            <a:srgbClr val="FFFFFF"/>
          </a:solidFill>
          <a:ln w="12700">
            <a:solidFill>
              <a:srgbClr val="D8E4EC"/>
            </a:solidFill>
            <a:prstDash val="solid"/>
          </a:ln>
        </p:spPr>
        <p:txBody>
          <a:bodyPr/>
          <a:lstStyle/>
          <a:p>
            <a:endParaRPr lang="en-US"/>
          </a:p>
        </p:txBody>
      </p:sp>
      <p:sp>
        <p:nvSpPr>
          <p:cNvPr id="38" name="Text 32"/>
          <p:cNvSpPr txBox="1"/>
          <p:nvPr/>
        </p:nvSpPr>
        <p:spPr>
          <a:xfrm>
            <a:off x="9811512" y="1837944"/>
            <a:ext cx="420624" cy="256032"/>
          </a:xfrm>
          <a:prstGeom prst="rect">
            <a:avLst/>
          </a:prstGeom>
          <a:solidFill>
            <a:srgbClr val="D79A27"/>
          </a:solidFill>
          <a:ln/>
        </p:spPr>
        <p:txBody>
          <a:bodyPr wrap="square" lIns="762" tIns="762" rIns="762" bIns="762"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05</a:t>
            </a:r>
            <a:endParaRPr lang="en-US" sz="1000" dirty="0"/>
          </a:p>
        </p:txBody>
      </p:sp>
      <p:sp>
        <p:nvSpPr>
          <p:cNvPr id="39" name="Shape 33"/>
          <p:cNvSpPr/>
          <p:nvPr/>
        </p:nvSpPr>
        <p:spPr>
          <a:xfrm>
            <a:off x="10305288" y="2212848"/>
            <a:ext cx="768096" cy="768096"/>
          </a:xfrm>
          <a:prstGeom prst="ellipse">
            <a:avLst/>
          </a:prstGeom>
          <a:solidFill>
            <a:srgbClr val="D79A27"/>
          </a:solidFill>
          <a:ln w="12700">
            <a:solidFill>
              <a:srgbClr val="D79A27"/>
            </a:solidFill>
            <a:prstDash val="solid"/>
          </a:ln>
        </p:spPr>
        <p:txBody>
          <a:bodyPr/>
          <a:lstStyle/>
          <a:p>
            <a:endParaRPr lang="en-US"/>
          </a:p>
        </p:txBody>
      </p:sp>
      <p:pic>
        <p:nvPicPr>
          <p:cNvPr id="4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497312" y="2404872"/>
            <a:ext cx="384048" cy="384048"/>
          </a:xfrm>
          <a:prstGeom prst="rect">
            <a:avLst/>
          </a:prstGeom>
        </p:spPr>
      </p:pic>
      <p:sp>
        <p:nvSpPr>
          <p:cNvPr id="41" name="Text 34"/>
          <p:cNvSpPr txBox="1"/>
          <p:nvPr/>
        </p:nvSpPr>
        <p:spPr>
          <a:xfrm>
            <a:off x="9811512" y="3154680"/>
            <a:ext cx="1755648" cy="512064"/>
          </a:xfrm>
          <a:prstGeom prst="rect">
            <a:avLst/>
          </a:prstGeom>
          <a:noFill/>
          <a:ln/>
        </p:spPr>
        <p:txBody>
          <a:bodyPr wrap="square" lIns="0" tIns="0" rIns="0" bIns="0" rtlCol="0" anchor="ctr">
            <a:normAutofit/>
          </a:bodyPr>
          <a:lstStyle/>
          <a:p>
            <a:pPr marL="0" indent="0" algn="ctr">
              <a:buNone/>
            </a:pPr>
            <a:r>
              <a:rPr lang="en-US" sz="1520" b="1" dirty="0">
                <a:solidFill>
                  <a:srgbClr val="173042"/>
                </a:solidFill>
                <a:latin typeface="Aptos" pitchFamily="34" charset="0"/>
                <a:ea typeface="Aptos" pitchFamily="34" charset="-122"/>
                <a:cs typeface="Aptos" pitchFamily="34" charset="-120"/>
              </a:rPr>
              <a:t>Cloud-neutral</a:t>
            </a:r>
            <a:endParaRPr lang="en-US" sz="1520" dirty="0"/>
          </a:p>
        </p:txBody>
      </p:sp>
      <p:sp>
        <p:nvSpPr>
          <p:cNvPr id="42" name="Text 35"/>
          <p:cNvSpPr txBox="1"/>
          <p:nvPr/>
        </p:nvSpPr>
        <p:spPr>
          <a:xfrm>
            <a:off x="9848088" y="3749040"/>
            <a:ext cx="1682496" cy="969264"/>
          </a:xfrm>
          <a:prstGeom prst="rect">
            <a:avLst/>
          </a:prstGeom>
          <a:noFill/>
          <a:ln/>
        </p:spPr>
        <p:txBody>
          <a:bodyPr wrap="square" lIns="0" tIns="0" rIns="0" bIns="0" rtlCol="0" anchor="t">
            <a:normAutofit/>
          </a:bodyPr>
          <a:lstStyle/>
          <a:p>
            <a:pPr marL="0" indent="0" algn="ctr">
              <a:buNone/>
            </a:pPr>
            <a:r>
              <a:rPr lang="en-US" sz="1010" dirty="0">
                <a:solidFill>
                  <a:srgbClr val="5F7484"/>
                </a:solidFill>
                <a:latin typeface="Aptos" pitchFamily="34" charset="0"/>
                <a:ea typeface="Aptos" pitchFamily="34" charset="-122"/>
                <a:cs typeface="Aptos" pitchFamily="34" charset="-120"/>
              </a:rPr>
              <a:t>Topología de producción preparada para infraestructura administrada y Multi-AZ.</a:t>
            </a:r>
            <a:endParaRPr lang="en-US" sz="1010" dirty="0"/>
          </a:p>
        </p:txBody>
      </p:sp>
      <p:sp>
        <p:nvSpPr>
          <p:cNvPr id="43" name="Shape 36"/>
          <p:cNvSpPr/>
          <p:nvPr/>
        </p:nvSpPr>
        <p:spPr>
          <a:xfrm>
            <a:off x="9966960" y="4709160"/>
            <a:ext cx="1444752" cy="310896"/>
          </a:xfrm>
          <a:prstGeom prst="roundRect">
            <a:avLst>
              <a:gd name="adj" fmla="val 35294"/>
            </a:avLst>
          </a:prstGeom>
          <a:solidFill>
            <a:srgbClr val="F3F7FA"/>
          </a:solidFill>
          <a:ln w="12700">
            <a:solidFill>
              <a:srgbClr val="F3F7FA"/>
            </a:solidFill>
            <a:prstDash val="solid"/>
          </a:ln>
        </p:spPr>
        <p:txBody>
          <a:bodyPr/>
          <a:lstStyle/>
          <a:p>
            <a:endParaRPr lang="en-US"/>
          </a:p>
        </p:txBody>
      </p:sp>
      <p:sp>
        <p:nvSpPr>
          <p:cNvPr id="44" name="Text 37"/>
          <p:cNvSpPr txBox="1"/>
          <p:nvPr/>
        </p:nvSpPr>
        <p:spPr>
          <a:xfrm>
            <a:off x="10040112" y="4718304"/>
            <a:ext cx="1298448" cy="274320"/>
          </a:xfrm>
          <a:prstGeom prst="rect">
            <a:avLst/>
          </a:prstGeom>
          <a:noFill/>
          <a:ln/>
        </p:spPr>
        <p:txBody>
          <a:bodyPr wrap="square" lIns="0" tIns="0" rIns="0" bIns="0" rtlCol="0" anchor="ctr">
            <a:normAutofit/>
          </a:bodyPr>
          <a:lstStyle/>
          <a:p>
            <a:pPr marL="0" indent="0" algn="ctr">
              <a:buNone/>
            </a:pPr>
            <a:r>
              <a:rPr lang="en-US" sz="950" b="1" dirty="0">
                <a:solidFill>
                  <a:srgbClr val="D79A27"/>
                </a:solidFill>
                <a:latin typeface="Aptos" pitchFamily="34" charset="0"/>
                <a:ea typeface="Aptos" pitchFamily="34" charset="-122"/>
                <a:cs typeface="Aptos" pitchFamily="34" charset="-120"/>
              </a:rPr>
              <a:t>Base de despliegue</a:t>
            </a:r>
            <a:endParaRPr lang="en-US" sz="950" dirty="0"/>
          </a:p>
        </p:txBody>
      </p:sp>
      <p:sp>
        <p:nvSpPr>
          <p:cNvPr id="45" name="Shape 38"/>
          <p:cNvSpPr/>
          <p:nvPr/>
        </p:nvSpPr>
        <p:spPr>
          <a:xfrm>
            <a:off x="1298448" y="5413248"/>
            <a:ext cx="9601200" cy="512064"/>
          </a:xfrm>
          <a:prstGeom prst="roundRect">
            <a:avLst>
              <a:gd name="adj" fmla="val 21429"/>
            </a:avLst>
          </a:prstGeom>
          <a:solidFill>
            <a:srgbClr val="082A42"/>
          </a:solidFill>
          <a:ln w="12700">
            <a:solidFill>
              <a:srgbClr val="082A42"/>
            </a:solidFill>
            <a:prstDash val="solid"/>
          </a:ln>
        </p:spPr>
        <p:txBody>
          <a:bodyPr/>
          <a:lstStyle/>
          <a:p>
            <a:endParaRPr lang="en-US"/>
          </a:p>
        </p:txBody>
      </p:sp>
      <p:sp>
        <p:nvSpPr>
          <p:cNvPr id="46" name="Text 39"/>
          <p:cNvSpPr txBox="1"/>
          <p:nvPr/>
        </p:nvSpPr>
        <p:spPr>
          <a:xfrm>
            <a:off x="1554480" y="5522976"/>
            <a:ext cx="9107424" cy="228600"/>
          </a:xfrm>
          <a:prstGeom prst="rect">
            <a:avLst/>
          </a:prstGeom>
          <a:noFill/>
          <a:ln/>
        </p:spPr>
        <p:txBody>
          <a:bodyPr wrap="square" lIns="0" tIns="0" rIns="0" bIns="0" rtlCol="0" anchor="ctr">
            <a:normAutofit/>
          </a:bodyPr>
          <a:lstStyle/>
          <a:p>
            <a:pPr marL="0" indent="0" algn="ctr">
              <a:buNone/>
            </a:pPr>
            <a:r>
              <a:rPr lang="en-US" sz="1130" b="1" dirty="0">
                <a:solidFill>
                  <a:srgbClr val="FFFFFF"/>
                </a:solidFill>
                <a:latin typeface="Aptos" pitchFamily="34" charset="0"/>
                <a:ea typeface="Aptos" pitchFamily="34" charset="-122"/>
                <a:cs typeface="Aptos" pitchFamily="34" charset="-120"/>
              </a:rPr>
              <a:t>Resultado: continuidad operativa · aislamiento multioperador · escalamiento independiente · evolución modular</a:t>
            </a:r>
            <a:endParaRPr lang="en-US" sz="1130" dirty="0"/>
          </a:p>
        </p:txBody>
      </p:sp>
      <p:sp>
        <p:nvSpPr>
          <p:cNvPr id="48" name="Slide Number Placeholder 0"/>
          <p:cNvSpPr>
            <a:spLocks noGrp="1"/>
          </p:cNvSpPr>
          <p:nvPr>
            <p:ph type="sldNum" sz="quarter" idx="4294967295"/>
          </p:nvPr>
        </p:nvSpPr>
        <p:spPr>
          <a:xfrm>
            <a:off x="11823192"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AAB6C0"/>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292608"/>
            <a:ext cx="3017520" cy="201168"/>
          </a:xfrm>
          <a:prstGeom prst="rect">
            <a:avLst/>
          </a:prstGeom>
          <a:noFill/>
          <a:ln/>
        </p:spPr>
        <p:txBody>
          <a:bodyPr wrap="square" lIns="0" tIns="0" rIns="0" bIns="0" rtlCol="0" anchor="ctr">
            <a:normAutofit/>
          </a:bodyPr>
          <a:lstStyle/>
          <a:p>
            <a:pPr marL="0" indent="0" algn="l">
              <a:buNone/>
            </a:pPr>
            <a:r>
              <a:rPr lang="en-US" sz="900" b="1" kern="0" spc="120" dirty="0">
                <a:solidFill>
                  <a:srgbClr val="0A5E8C"/>
                </a:solidFill>
                <a:latin typeface="Aptos" pitchFamily="34" charset="0"/>
                <a:ea typeface="Aptos" pitchFamily="34" charset="-122"/>
                <a:cs typeface="Aptos" pitchFamily="34" charset="-120"/>
              </a:rPr>
              <a:t>04 · ARQUITECTURA C4</a:t>
            </a:r>
            <a:endParaRPr lang="en-US" sz="900" dirty="0"/>
          </a:p>
        </p:txBody>
      </p:sp>
      <p:sp>
        <p:nvSpPr>
          <p:cNvPr id="3" name="Text 1"/>
          <p:cNvSpPr txBox="1"/>
          <p:nvPr/>
        </p:nvSpPr>
        <p:spPr>
          <a:xfrm>
            <a:off x="502920" y="530352"/>
            <a:ext cx="11064240" cy="493776"/>
          </a:xfrm>
          <a:prstGeom prst="rect">
            <a:avLst/>
          </a:prstGeom>
          <a:noFill/>
          <a:ln/>
        </p:spPr>
        <p:txBody>
          <a:bodyPr wrap="square" lIns="0" tIns="0" rIns="0" bIns="0" rtlCol="0" anchor="ctr">
            <a:normAutofit/>
          </a:bodyPr>
          <a:lstStyle/>
          <a:p>
            <a:pPr marL="0" indent="0" algn="l">
              <a:buNone/>
            </a:pPr>
            <a:r>
              <a:rPr lang="en-US" sz="2700" b="1" dirty="0" err="1">
                <a:solidFill>
                  <a:srgbClr val="173042"/>
                </a:solidFill>
                <a:latin typeface="Aptos" pitchFamily="34" charset="0"/>
                <a:ea typeface="Aptos" pitchFamily="34" charset="-122"/>
                <a:cs typeface="Aptos" pitchFamily="34" charset="-120"/>
              </a:rPr>
              <a:t>Arquitectura</a:t>
            </a:r>
            <a:r>
              <a:rPr lang="en-US" sz="2700" b="1" dirty="0">
                <a:solidFill>
                  <a:srgbClr val="173042"/>
                </a:solidFill>
                <a:latin typeface="Aptos" pitchFamily="34" charset="0"/>
                <a:ea typeface="Aptos" pitchFamily="34" charset="-122"/>
                <a:cs typeface="Aptos" pitchFamily="34" charset="-120"/>
              </a:rPr>
              <a:t> C4 acceso a todos los niveles de detalle</a:t>
            </a:r>
            <a:endParaRPr lang="en-US" sz="2700" dirty="0"/>
          </a:p>
        </p:txBody>
      </p:sp>
      <p:sp>
        <p:nvSpPr>
          <p:cNvPr id="4" name="Text 2"/>
          <p:cNvSpPr txBox="1"/>
          <p:nvPr/>
        </p:nvSpPr>
        <p:spPr>
          <a:xfrm>
            <a:off x="502920" y="1024128"/>
            <a:ext cx="10972800" cy="384048"/>
          </a:xfrm>
          <a:prstGeom prst="rect">
            <a:avLst/>
          </a:prstGeom>
          <a:noFill/>
          <a:ln/>
        </p:spPr>
        <p:txBody>
          <a:bodyPr wrap="square" lIns="0" tIns="0" rIns="0" bIns="0" rtlCol="0" anchor="t">
            <a:normAutofit/>
          </a:bodyPr>
          <a:lstStyle/>
          <a:p>
            <a:pPr marL="0" indent="0" algn="l">
              <a:buNone/>
            </a:pPr>
            <a:r>
              <a:rPr lang="en-US" sz="1250" dirty="0">
                <a:solidFill>
                  <a:srgbClr val="5F7484"/>
                </a:solidFill>
                <a:latin typeface="Aptos" pitchFamily="34" charset="0"/>
                <a:ea typeface="Aptos" pitchFamily="34" charset="-122"/>
                <a:cs typeface="Aptos" pitchFamily="34" charset="-120"/>
              </a:rPr>
              <a:t>Los diagramas permiten recorrer la solución desde el contexto de negocio hasta las clases de referencia.</a:t>
            </a:r>
            <a:endParaRPr lang="en-US" sz="1250" dirty="0"/>
          </a:p>
        </p:txBody>
      </p:sp>
      <p:sp>
        <p:nvSpPr>
          <p:cNvPr id="5" name="Shape 3"/>
          <p:cNvSpPr/>
          <p:nvPr/>
        </p:nvSpPr>
        <p:spPr>
          <a:xfrm>
            <a:off x="713232" y="1600200"/>
            <a:ext cx="10771632" cy="4343400"/>
          </a:xfrm>
          <a:prstGeom prst="roundRect">
            <a:avLst>
              <a:gd name="adj" fmla="val 2526"/>
            </a:avLst>
          </a:prstGeom>
          <a:solidFill>
            <a:srgbClr val="082A42">
              <a:alpha val="70000"/>
            </a:srgbClr>
          </a:solidFill>
          <a:ln w="12700">
            <a:solidFill>
              <a:srgbClr val="082A42"/>
            </a:solidFill>
            <a:prstDash val="solid"/>
          </a:ln>
        </p:spPr>
        <p:txBody>
          <a:bodyPr/>
          <a:lstStyle/>
          <a:p>
            <a:endParaRPr lang="en-US"/>
          </a:p>
        </p:txBody>
      </p:sp>
      <p:sp>
        <p:nvSpPr>
          <p:cNvPr id="6" name="Shape 4"/>
          <p:cNvSpPr/>
          <p:nvPr/>
        </p:nvSpPr>
        <p:spPr>
          <a:xfrm>
            <a:off x="1115568" y="2029968"/>
            <a:ext cx="2066544" cy="1901952"/>
          </a:xfrm>
          <a:prstGeom prst="roundRect">
            <a:avLst>
              <a:gd name="adj" fmla="val 5769"/>
            </a:avLst>
          </a:prstGeom>
          <a:solidFill>
            <a:srgbClr val="0D3B59"/>
          </a:solidFill>
          <a:ln w="12700">
            <a:solidFill>
              <a:srgbClr val="245E7B"/>
            </a:solidFill>
            <a:prstDash val="solid"/>
          </a:ln>
        </p:spPr>
        <p:txBody>
          <a:bodyPr/>
          <a:lstStyle/>
          <a:p>
            <a:endParaRPr lang="en-US"/>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4520" y="2276856"/>
            <a:ext cx="548640" cy="548640"/>
          </a:xfrm>
          <a:prstGeom prst="rect">
            <a:avLst/>
          </a:prstGeom>
        </p:spPr>
      </p:pic>
      <p:sp>
        <p:nvSpPr>
          <p:cNvPr id="8" name="Text 5"/>
          <p:cNvSpPr txBox="1"/>
          <p:nvPr/>
        </p:nvSpPr>
        <p:spPr>
          <a:xfrm>
            <a:off x="1280160" y="2907792"/>
            <a:ext cx="1737360" cy="182880"/>
          </a:xfrm>
          <a:prstGeom prst="rect">
            <a:avLst/>
          </a:prstGeom>
          <a:noFill/>
          <a:ln/>
        </p:spPr>
        <p:txBody>
          <a:bodyPr wrap="square" lIns="0" tIns="0" rIns="0" bIns="0" rtlCol="0" anchor="ctr">
            <a:normAutofit/>
          </a:bodyPr>
          <a:lstStyle/>
          <a:p>
            <a:pPr marL="0" indent="0" algn="ctr">
              <a:buNone/>
            </a:pPr>
            <a:r>
              <a:rPr lang="en-US" sz="930" b="1" dirty="0">
                <a:solidFill>
                  <a:srgbClr val="91B8C9"/>
                </a:solidFill>
                <a:latin typeface="Aptos" pitchFamily="34" charset="0"/>
                <a:ea typeface="Aptos" pitchFamily="34" charset="-122"/>
                <a:cs typeface="Aptos" pitchFamily="34" charset="-120"/>
              </a:rPr>
              <a:t>Nivel 1</a:t>
            </a:r>
            <a:endParaRPr lang="en-US" sz="930" dirty="0"/>
          </a:p>
        </p:txBody>
      </p:sp>
      <p:sp>
        <p:nvSpPr>
          <p:cNvPr id="9" name="Text 6"/>
          <p:cNvSpPr txBox="1"/>
          <p:nvPr/>
        </p:nvSpPr>
        <p:spPr>
          <a:xfrm>
            <a:off x="1280160" y="3154680"/>
            <a:ext cx="1737360" cy="292608"/>
          </a:xfrm>
          <a:prstGeom prst="rect">
            <a:avLst/>
          </a:prstGeom>
          <a:noFill/>
          <a:ln/>
        </p:spPr>
        <p:txBody>
          <a:bodyPr wrap="square" lIns="0" tIns="0" rIns="0" bIns="0" rtlCol="0" anchor="ctr">
            <a:normAutofit/>
          </a:bodyPr>
          <a:lstStyle/>
          <a:p>
            <a:pPr marL="0" indent="0" algn="ctr">
              <a:buNone/>
            </a:pPr>
            <a:r>
              <a:rPr lang="en-US" sz="1530" b="1" dirty="0">
                <a:solidFill>
                  <a:srgbClr val="FFFFFF"/>
                </a:solidFill>
                <a:latin typeface="Aptos" pitchFamily="34" charset="0"/>
                <a:ea typeface="Aptos" pitchFamily="34" charset="-122"/>
                <a:cs typeface="Aptos" pitchFamily="34" charset="-120"/>
              </a:rPr>
              <a:t>Contexto</a:t>
            </a:r>
            <a:endParaRPr lang="en-US" sz="1530" dirty="0"/>
          </a:p>
        </p:txBody>
      </p:sp>
      <p:sp>
        <p:nvSpPr>
          <p:cNvPr id="10" name="Text 7"/>
          <p:cNvSpPr txBox="1"/>
          <p:nvPr/>
        </p:nvSpPr>
        <p:spPr>
          <a:xfrm>
            <a:off x="1344168" y="3502152"/>
            <a:ext cx="1609344" cy="329184"/>
          </a:xfrm>
          <a:prstGeom prst="rect">
            <a:avLst/>
          </a:prstGeom>
          <a:noFill/>
          <a:ln/>
        </p:spPr>
        <p:txBody>
          <a:bodyPr wrap="square" lIns="0" tIns="0" rIns="0" bIns="0" rtlCol="0" anchor="ctr">
            <a:normAutofit/>
          </a:bodyPr>
          <a:lstStyle/>
          <a:p>
            <a:pPr marL="0" indent="0" algn="ctr">
              <a:buNone/>
            </a:pPr>
            <a:r>
              <a:rPr lang="en-US" sz="950" dirty="0">
                <a:solidFill>
                  <a:srgbClr val="BED3DE"/>
                </a:solidFill>
                <a:latin typeface="Aptos" pitchFamily="34" charset="0"/>
                <a:ea typeface="Aptos" pitchFamily="34" charset="-122"/>
                <a:cs typeface="Aptos" pitchFamily="34" charset="-120"/>
              </a:rPr>
              <a:t>Actores y sistemas externos</a:t>
            </a:r>
            <a:endParaRPr lang="en-US" sz="950"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82696" y="2752344"/>
            <a:ext cx="256032" cy="256032"/>
          </a:xfrm>
          <a:prstGeom prst="rect">
            <a:avLst/>
          </a:prstGeom>
        </p:spPr>
      </p:pic>
      <p:sp>
        <p:nvSpPr>
          <p:cNvPr id="12" name="Shape 8"/>
          <p:cNvSpPr/>
          <p:nvPr/>
        </p:nvSpPr>
        <p:spPr>
          <a:xfrm>
            <a:off x="3685032" y="2029968"/>
            <a:ext cx="2066544" cy="1901952"/>
          </a:xfrm>
          <a:prstGeom prst="roundRect">
            <a:avLst>
              <a:gd name="adj" fmla="val 5769"/>
            </a:avLst>
          </a:prstGeom>
          <a:solidFill>
            <a:srgbClr val="0F4767"/>
          </a:solidFill>
          <a:ln w="12700">
            <a:solidFill>
              <a:srgbClr val="245E7B"/>
            </a:solidFill>
            <a:prstDash val="solid"/>
          </a:ln>
        </p:spPr>
        <p:txBody>
          <a:bodyPr/>
          <a:lstStyle/>
          <a:p>
            <a:endParaRPr lang="en-US"/>
          </a:p>
        </p:txBody>
      </p:sp>
      <p:pic>
        <p:nvPicPr>
          <p:cNvPr id="1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43984" y="2276856"/>
            <a:ext cx="548640" cy="548640"/>
          </a:xfrm>
          <a:prstGeom prst="rect">
            <a:avLst/>
          </a:prstGeom>
        </p:spPr>
      </p:pic>
      <p:sp>
        <p:nvSpPr>
          <p:cNvPr id="14" name="Text 9"/>
          <p:cNvSpPr txBox="1"/>
          <p:nvPr/>
        </p:nvSpPr>
        <p:spPr>
          <a:xfrm>
            <a:off x="3849624" y="2907792"/>
            <a:ext cx="1737360" cy="182880"/>
          </a:xfrm>
          <a:prstGeom prst="rect">
            <a:avLst/>
          </a:prstGeom>
          <a:noFill/>
          <a:ln/>
        </p:spPr>
        <p:txBody>
          <a:bodyPr wrap="square" lIns="0" tIns="0" rIns="0" bIns="0" rtlCol="0" anchor="ctr">
            <a:normAutofit/>
          </a:bodyPr>
          <a:lstStyle/>
          <a:p>
            <a:pPr marL="0" indent="0" algn="ctr">
              <a:buNone/>
            </a:pPr>
            <a:r>
              <a:rPr lang="en-US" sz="930" b="1" dirty="0">
                <a:solidFill>
                  <a:srgbClr val="91B8C9"/>
                </a:solidFill>
                <a:latin typeface="Aptos" pitchFamily="34" charset="0"/>
                <a:ea typeface="Aptos" pitchFamily="34" charset="-122"/>
                <a:cs typeface="Aptos" pitchFamily="34" charset="-120"/>
              </a:rPr>
              <a:t>Nivel 2</a:t>
            </a:r>
            <a:endParaRPr lang="en-US" sz="930" dirty="0"/>
          </a:p>
        </p:txBody>
      </p:sp>
      <p:sp>
        <p:nvSpPr>
          <p:cNvPr id="15" name="Text 10"/>
          <p:cNvSpPr txBox="1"/>
          <p:nvPr/>
        </p:nvSpPr>
        <p:spPr>
          <a:xfrm>
            <a:off x="3849624" y="3154680"/>
            <a:ext cx="1737360" cy="292608"/>
          </a:xfrm>
          <a:prstGeom prst="rect">
            <a:avLst/>
          </a:prstGeom>
          <a:noFill/>
          <a:ln/>
        </p:spPr>
        <p:txBody>
          <a:bodyPr wrap="square" lIns="0" tIns="0" rIns="0" bIns="0" rtlCol="0" anchor="ctr">
            <a:normAutofit/>
          </a:bodyPr>
          <a:lstStyle/>
          <a:p>
            <a:pPr marL="0" indent="0" algn="ctr">
              <a:buNone/>
            </a:pPr>
            <a:r>
              <a:rPr lang="en-US" sz="1530" b="1" dirty="0">
                <a:solidFill>
                  <a:srgbClr val="FFFFFF"/>
                </a:solidFill>
                <a:latin typeface="Aptos" pitchFamily="34" charset="0"/>
                <a:ea typeface="Aptos" pitchFamily="34" charset="-122"/>
                <a:cs typeface="Aptos" pitchFamily="34" charset="-120"/>
              </a:rPr>
              <a:t>Contenedores</a:t>
            </a:r>
            <a:endParaRPr lang="en-US" sz="1530" dirty="0"/>
          </a:p>
        </p:txBody>
      </p:sp>
      <p:sp>
        <p:nvSpPr>
          <p:cNvPr id="16" name="Text 11"/>
          <p:cNvSpPr txBox="1"/>
          <p:nvPr/>
        </p:nvSpPr>
        <p:spPr>
          <a:xfrm>
            <a:off x="3913632" y="3502152"/>
            <a:ext cx="1609344" cy="329184"/>
          </a:xfrm>
          <a:prstGeom prst="rect">
            <a:avLst/>
          </a:prstGeom>
          <a:noFill/>
          <a:ln/>
        </p:spPr>
        <p:txBody>
          <a:bodyPr wrap="square" lIns="0" tIns="0" rIns="0" bIns="0" rtlCol="0" anchor="ctr">
            <a:normAutofit/>
          </a:bodyPr>
          <a:lstStyle/>
          <a:p>
            <a:pPr marL="0" indent="0" algn="ctr">
              <a:buNone/>
            </a:pPr>
            <a:r>
              <a:rPr lang="en-US" sz="950" dirty="0">
                <a:solidFill>
                  <a:srgbClr val="BED3DE"/>
                </a:solidFill>
                <a:latin typeface="Aptos" pitchFamily="34" charset="0"/>
                <a:ea typeface="Aptos" pitchFamily="34" charset="-122"/>
                <a:cs typeface="Aptos" pitchFamily="34" charset="-120"/>
              </a:rPr>
              <a:t>Aplicaciones, servicios y datos</a:t>
            </a:r>
            <a:endParaRPr lang="en-US" sz="950" dirty="0"/>
          </a:p>
        </p:txBody>
      </p:sp>
      <p:pic>
        <p:nvPicPr>
          <p:cNvPr id="17"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52160" y="2752344"/>
            <a:ext cx="256032" cy="256032"/>
          </a:xfrm>
          <a:prstGeom prst="rect">
            <a:avLst/>
          </a:prstGeom>
        </p:spPr>
      </p:pic>
      <p:sp>
        <p:nvSpPr>
          <p:cNvPr id="18" name="Shape 12"/>
          <p:cNvSpPr/>
          <p:nvPr/>
        </p:nvSpPr>
        <p:spPr>
          <a:xfrm>
            <a:off x="6254496" y="2029968"/>
            <a:ext cx="2066544" cy="1901952"/>
          </a:xfrm>
          <a:prstGeom prst="roundRect">
            <a:avLst>
              <a:gd name="adj" fmla="val 5769"/>
            </a:avLst>
          </a:prstGeom>
          <a:solidFill>
            <a:srgbClr val="0D3B59"/>
          </a:solidFill>
          <a:ln w="12700">
            <a:solidFill>
              <a:srgbClr val="245E7B"/>
            </a:solidFill>
            <a:prstDash val="solid"/>
          </a:ln>
        </p:spPr>
        <p:txBody>
          <a:bodyPr/>
          <a:lstStyle/>
          <a:p>
            <a:endParaRPr lang="en-US"/>
          </a:p>
        </p:txBody>
      </p:sp>
      <p:pic>
        <p:nvPicPr>
          <p:cNvPr id="19" name="Image 4"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13448" y="2276856"/>
            <a:ext cx="548640" cy="548640"/>
          </a:xfrm>
          <a:prstGeom prst="rect">
            <a:avLst/>
          </a:prstGeom>
        </p:spPr>
      </p:pic>
      <p:sp>
        <p:nvSpPr>
          <p:cNvPr id="20" name="Text 13"/>
          <p:cNvSpPr txBox="1"/>
          <p:nvPr/>
        </p:nvSpPr>
        <p:spPr>
          <a:xfrm>
            <a:off x="6419088" y="2907792"/>
            <a:ext cx="1737360" cy="182880"/>
          </a:xfrm>
          <a:prstGeom prst="rect">
            <a:avLst/>
          </a:prstGeom>
          <a:noFill/>
          <a:ln/>
        </p:spPr>
        <p:txBody>
          <a:bodyPr wrap="square" lIns="0" tIns="0" rIns="0" bIns="0" rtlCol="0" anchor="ctr">
            <a:normAutofit/>
          </a:bodyPr>
          <a:lstStyle/>
          <a:p>
            <a:pPr marL="0" indent="0" algn="ctr">
              <a:buNone/>
            </a:pPr>
            <a:r>
              <a:rPr lang="en-US" sz="930" b="1" dirty="0">
                <a:solidFill>
                  <a:srgbClr val="91B8C9"/>
                </a:solidFill>
                <a:latin typeface="Aptos" pitchFamily="34" charset="0"/>
                <a:ea typeface="Aptos" pitchFamily="34" charset="-122"/>
                <a:cs typeface="Aptos" pitchFamily="34" charset="-120"/>
              </a:rPr>
              <a:t>Nivel 3</a:t>
            </a:r>
            <a:endParaRPr lang="en-US" sz="930" dirty="0"/>
          </a:p>
        </p:txBody>
      </p:sp>
      <p:sp>
        <p:nvSpPr>
          <p:cNvPr id="21" name="Text 14"/>
          <p:cNvSpPr txBox="1"/>
          <p:nvPr/>
        </p:nvSpPr>
        <p:spPr>
          <a:xfrm>
            <a:off x="6419088" y="3154680"/>
            <a:ext cx="1737360" cy="292608"/>
          </a:xfrm>
          <a:prstGeom prst="rect">
            <a:avLst/>
          </a:prstGeom>
          <a:noFill/>
          <a:ln/>
        </p:spPr>
        <p:txBody>
          <a:bodyPr wrap="square" lIns="0" tIns="0" rIns="0" bIns="0" rtlCol="0" anchor="ctr">
            <a:normAutofit/>
          </a:bodyPr>
          <a:lstStyle/>
          <a:p>
            <a:pPr marL="0" indent="0" algn="ctr">
              <a:buNone/>
            </a:pPr>
            <a:r>
              <a:rPr lang="en-US" sz="1530" b="1" dirty="0">
                <a:solidFill>
                  <a:srgbClr val="FFFFFF"/>
                </a:solidFill>
                <a:latin typeface="Aptos" pitchFamily="34" charset="0"/>
                <a:ea typeface="Aptos" pitchFamily="34" charset="-122"/>
                <a:cs typeface="Aptos" pitchFamily="34" charset="-120"/>
              </a:rPr>
              <a:t>Componentes</a:t>
            </a:r>
            <a:endParaRPr lang="en-US" sz="1530" dirty="0"/>
          </a:p>
        </p:txBody>
      </p:sp>
      <p:sp>
        <p:nvSpPr>
          <p:cNvPr id="22" name="Text 15"/>
          <p:cNvSpPr txBox="1"/>
          <p:nvPr/>
        </p:nvSpPr>
        <p:spPr>
          <a:xfrm>
            <a:off x="6483096" y="3502152"/>
            <a:ext cx="1609344" cy="329184"/>
          </a:xfrm>
          <a:prstGeom prst="rect">
            <a:avLst/>
          </a:prstGeom>
          <a:noFill/>
          <a:ln/>
        </p:spPr>
        <p:txBody>
          <a:bodyPr wrap="square" lIns="0" tIns="0" rIns="0" bIns="0" rtlCol="0" anchor="ctr">
            <a:normAutofit/>
          </a:bodyPr>
          <a:lstStyle/>
          <a:p>
            <a:pPr marL="0" indent="0" algn="ctr">
              <a:buNone/>
            </a:pPr>
            <a:r>
              <a:rPr lang="en-US" sz="950" dirty="0">
                <a:solidFill>
                  <a:srgbClr val="BED3DE"/>
                </a:solidFill>
                <a:latin typeface="Aptos" pitchFamily="34" charset="0"/>
                <a:ea typeface="Aptos" pitchFamily="34" charset="-122"/>
                <a:cs typeface="Aptos" pitchFamily="34" charset="-120"/>
              </a:rPr>
              <a:t>Responsabilidades internas</a:t>
            </a:r>
            <a:endParaRPr lang="en-US" sz="950" dirty="0"/>
          </a:p>
        </p:txBody>
      </p:sp>
      <p:pic>
        <p:nvPicPr>
          <p:cNvPr id="23"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21624" y="2752344"/>
            <a:ext cx="256032" cy="256032"/>
          </a:xfrm>
          <a:prstGeom prst="rect">
            <a:avLst/>
          </a:prstGeom>
        </p:spPr>
      </p:pic>
      <p:sp>
        <p:nvSpPr>
          <p:cNvPr id="24" name="Shape 16"/>
          <p:cNvSpPr/>
          <p:nvPr/>
        </p:nvSpPr>
        <p:spPr>
          <a:xfrm>
            <a:off x="8823960" y="2029968"/>
            <a:ext cx="2066544" cy="1901952"/>
          </a:xfrm>
          <a:prstGeom prst="roundRect">
            <a:avLst>
              <a:gd name="adj" fmla="val 5769"/>
            </a:avLst>
          </a:prstGeom>
          <a:solidFill>
            <a:srgbClr val="0F4767"/>
          </a:solidFill>
          <a:ln w="12700">
            <a:solidFill>
              <a:srgbClr val="245E7B"/>
            </a:solidFill>
            <a:prstDash val="solid"/>
          </a:ln>
        </p:spPr>
        <p:txBody>
          <a:bodyPr/>
          <a:lstStyle/>
          <a:p>
            <a:endParaRPr lang="en-US"/>
          </a:p>
        </p:txBody>
      </p:sp>
      <p:pic>
        <p:nvPicPr>
          <p:cNvPr id="25" name="Image 6"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582912" y="2276856"/>
            <a:ext cx="548640" cy="548640"/>
          </a:xfrm>
          <a:prstGeom prst="rect">
            <a:avLst/>
          </a:prstGeom>
        </p:spPr>
      </p:pic>
      <p:sp>
        <p:nvSpPr>
          <p:cNvPr id="26" name="Text 17"/>
          <p:cNvSpPr txBox="1"/>
          <p:nvPr/>
        </p:nvSpPr>
        <p:spPr>
          <a:xfrm>
            <a:off x="8988552" y="2907792"/>
            <a:ext cx="1737360" cy="182880"/>
          </a:xfrm>
          <a:prstGeom prst="rect">
            <a:avLst/>
          </a:prstGeom>
          <a:noFill/>
          <a:ln/>
        </p:spPr>
        <p:txBody>
          <a:bodyPr wrap="square" lIns="0" tIns="0" rIns="0" bIns="0" rtlCol="0" anchor="ctr">
            <a:normAutofit/>
          </a:bodyPr>
          <a:lstStyle/>
          <a:p>
            <a:pPr marL="0" indent="0" algn="ctr">
              <a:buNone/>
            </a:pPr>
            <a:r>
              <a:rPr lang="en-US" sz="930" b="1" dirty="0">
                <a:solidFill>
                  <a:srgbClr val="91B8C9"/>
                </a:solidFill>
                <a:latin typeface="Aptos" pitchFamily="34" charset="0"/>
                <a:ea typeface="Aptos" pitchFamily="34" charset="-122"/>
                <a:cs typeface="Aptos" pitchFamily="34" charset="-120"/>
              </a:rPr>
              <a:t>Nivel 4</a:t>
            </a:r>
            <a:endParaRPr lang="en-US" sz="930" dirty="0"/>
          </a:p>
        </p:txBody>
      </p:sp>
      <p:sp>
        <p:nvSpPr>
          <p:cNvPr id="27" name="Text 18"/>
          <p:cNvSpPr txBox="1"/>
          <p:nvPr/>
        </p:nvSpPr>
        <p:spPr>
          <a:xfrm>
            <a:off x="8988552" y="3154680"/>
            <a:ext cx="1737360" cy="292608"/>
          </a:xfrm>
          <a:prstGeom prst="rect">
            <a:avLst/>
          </a:prstGeom>
          <a:noFill/>
          <a:ln/>
        </p:spPr>
        <p:txBody>
          <a:bodyPr wrap="square" lIns="0" tIns="0" rIns="0" bIns="0" rtlCol="0" anchor="ctr">
            <a:normAutofit/>
          </a:bodyPr>
          <a:lstStyle/>
          <a:p>
            <a:pPr marL="0" indent="0" algn="ctr">
              <a:buNone/>
            </a:pPr>
            <a:r>
              <a:rPr lang="en-US" sz="1530" b="1" dirty="0">
                <a:solidFill>
                  <a:srgbClr val="FFFFFF"/>
                </a:solidFill>
                <a:latin typeface="Aptos" pitchFamily="34" charset="0"/>
                <a:ea typeface="Aptos" pitchFamily="34" charset="-122"/>
                <a:cs typeface="Aptos" pitchFamily="34" charset="-120"/>
              </a:rPr>
              <a:t>Clases</a:t>
            </a:r>
            <a:endParaRPr lang="en-US" sz="1530" dirty="0"/>
          </a:p>
        </p:txBody>
      </p:sp>
      <p:sp>
        <p:nvSpPr>
          <p:cNvPr id="28" name="Text 19"/>
          <p:cNvSpPr txBox="1"/>
          <p:nvPr/>
        </p:nvSpPr>
        <p:spPr>
          <a:xfrm>
            <a:off x="9052560" y="3502152"/>
            <a:ext cx="1609344" cy="329184"/>
          </a:xfrm>
          <a:prstGeom prst="rect">
            <a:avLst/>
          </a:prstGeom>
          <a:noFill/>
          <a:ln/>
        </p:spPr>
        <p:txBody>
          <a:bodyPr wrap="square" lIns="0" tIns="0" rIns="0" bIns="0" rtlCol="0" anchor="ctr">
            <a:normAutofit/>
          </a:bodyPr>
          <a:lstStyle/>
          <a:p>
            <a:pPr marL="0" indent="0" algn="ctr">
              <a:buNone/>
            </a:pPr>
            <a:r>
              <a:rPr lang="en-US" sz="950" dirty="0">
                <a:solidFill>
                  <a:srgbClr val="BED3DE"/>
                </a:solidFill>
                <a:latin typeface="Aptos" pitchFamily="34" charset="0"/>
                <a:ea typeface="Aptos" pitchFamily="34" charset="-122"/>
                <a:cs typeface="Aptos" pitchFamily="34" charset="-120"/>
              </a:rPr>
              <a:t>Estructura de implementación</a:t>
            </a:r>
            <a:endParaRPr lang="en-US" sz="950" dirty="0"/>
          </a:p>
        </p:txBody>
      </p:sp>
      <p:sp>
        <p:nvSpPr>
          <p:cNvPr id="29" name="Shape 20"/>
          <p:cNvSpPr/>
          <p:nvPr/>
        </p:nvSpPr>
        <p:spPr>
          <a:xfrm>
            <a:off x="3867912" y="4370832"/>
            <a:ext cx="4462272" cy="713232"/>
          </a:xfrm>
          <a:prstGeom prst="roundRect">
            <a:avLst>
              <a:gd name="adj" fmla="val 15385"/>
            </a:avLst>
          </a:prstGeom>
          <a:solidFill>
            <a:srgbClr val="20A3B8"/>
          </a:solidFill>
          <a:ln w="12700">
            <a:solidFill>
              <a:srgbClr val="20A3B8"/>
            </a:solidFill>
            <a:prstDash val="solid"/>
          </a:ln>
        </p:spPr>
        <p:txBody>
          <a:bodyPr/>
          <a:lstStyle/>
          <a:p>
            <a:endParaRPr lang="en-US"/>
          </a:p>
        </p:txBody>
      </p:sp>
      <p:pic>
        <p:nvPicPr>
          <p:cNvPr id="30" name="Image 7"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233672" y="4562856"/>
            <a:ext cx="256032" cy="256032"/>
          </a:xfrm>
          <a:prstGeom prst="rect">
            <a:avLst/>
          </a:prstGeom>
        </p:spPr>
      </p:pic>
      <p:sp>
        <p:nvSpPr>
          <p:cNvPr id="31" name="Text 21">
            <a:hlinkClick r:id="rId9"/>
          </p:cNvPr>
          <p:cNvSpPr txBox="1"/>
          <p:nvPr/>
        </p:nvSpPr>
        <p:spPr>
          <a:xfrm>
            <a:off x="4590288" y="4554647"/>
            <a:ext cx="3310128" cy="292608"/>
          </a:xfrm>
          <a:prstGeom prst="rect">
            <a:avLst/>
          </a:prstGeom>
          <a:noFill/>
          <a:ln/>
        </p:spPr>
        <p:txBody>
          <a:bodyPr wrap="square" lIns="0" tIns="0" rIns="0" bIns="0" rtlCol="0" anchor="ctr">
            <a:normAutofit/>
          </a:bodyPr>
          <a:lstStyle/>
          <a:p>
            <a:pPr marL="0" indent="0" algn="ctr">
              <a:buNone/>
            </a:pPr>
            <a:r>
              <a:rPr lang="en-US" sz="1300" b="1" u="sng" dirty="0">
                <a:solidFill>
                  <a:srgbClr val="FFFFFF"/>
                </a:solidFill>
                <a:latin typeface="Aptos" pitchFamily="34" charset="0"/>
                <a:ea typeface="Aptos" pitchFamily="34" charset="-122"/>
                <a:cs typeface="Aptos" pitchFamily="34" charset="-120"/>
                <a:hlinkClick r:id="rId9">
                  <a:extLst>
                    <a:ext uri="{A12FA001-AC4F-418D-AE19-62706E023703}">
                      <ahyp:hlinkClr xmlns:ahyp="http://schemas.microsoft.com/office/drawing/2018/hyperlinkcolor" val="tx"/>
                    </a:ext>
                  </a:extLst>
                </a:hlinkClick>
              </a:rPr>
              <a:t>ABRIR DIAGRAMAS C4 EN DRAW.IO</a:t>
            </a:r>
            <a:endParaRPr lang="en-US" sz="1300" dirty="0"/>
          </a:p>
        </p:txBody>
      </p:sp>
      <p:sp>
        <p:nvSpPr>
          <p:cNvPr id="34" name="Slide Number Placeholder 0"/>
          <p:cNvSpPr>
            <a:spLocks noGrp="1"/>
          </p:cNvSpPr>
          <p:nvPr>
            <p:ph type="sldNum" sz="quarter" idx="4294967295"/>
          </p:nvPr>
        </p:nvSpPr>
        <p:spPr>
          <a:xfrm>
            <a:off x="11823192"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AAB6C0"/>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292608"/>
            <a:ext cx="3017520" cy="201168"/>
          </a:xfrm>
          <a:prstGeom prst="rect">
            <a:avLst/>
          </a:prstGeom>
          <a:noFill/>
          <a:ln/>
        </p:spPr>
        <p:txBody>
          <a:bodyPr wrap="square" lIns="0" tIns="0" rIns="0" bIns="0" rtlCol="0" anchor="ctr">
            <a:normAutofit/>
          </a:bodyPr>
          <a:lstStyle/>
          <a:p>
            <a:pPr marL="0" indent="0" algn="l">
              <a:buNone/>
            </a:pPr>
            <a:r>
              <a:rPr lang="en-US" sz="900" b="1" kern="0" spc="120" dirty="0">
                <a:solidFill>
                  <a:srgbClr val="0A5E8C"/>
                </a:solidFill>
                <a:latin typeface="Aptos" pitchFamily="34" charset="0"/>
                <a:ea typeface="Aptos" pitchFamily="34" charset="-122"/>
                <a:cs typeface="Aptos" pitchFamily="34" charset="-120"/>
              </a:rPr>
              <a:t>05 · PERSISTENCIA DISTRIBUIDA</a:t>
            </a:r>
            <a:endParaRPr lang="en-US" sz="900" dirty="0"/>
          </a:p>
        </p:txBody>
      </p:sp>
      <p:sp>
        <p:nvSpPr>
          <p:cNvPr id="3" name="Text 1"/>
          <p:cNvSpPr txBox="1"/>
          <p:nvPr/>
        </p:nvSpPr>
        <p:spPr>
          <a:xfrm>
            <a:off x="502920" y="530352"/>
            <a:ext cx="11064240" cy="493776"/>
          </a:xfrm>
          <a:prstGeom prst="rect">
            <a:avLst/>
          </a:prstGeom>
          <a:noFill/>
          <a:ln/>
        </p:spPr>
        <p:txBody>
          <a:bodyPr wrap="square" lIns="0" tIns="0" rIns="0" bIns="0" rtlCol="0" anchor="ctr">
            <a:normAutofit/>
          </a:bodyPr>
          <a:lstStyle/>
          <a:p>
            <a:pPr marL="0" indent="0" algn="l">
              <a:buNone/>
            </a:pPr>
            <a:r>
              <a:rPr lang="en-US" sz="2700" b="1" dirty="0">
                <a:solidFill>
                  <a:srgbClr val="173042"/>
                </a:solidFill>
                <a:latin typeface="Aptos" pitchFamily="34" charset="0"/>
                <a:ea typeface="Aptos" pitchFamily="34" charset="-122"/>
                <a:cs typeface="Aptos" pitchFamily="34" charset="-120"/>
              </a:rPr>
              <a:t>Autonomía por dominio sin compartir la base de datos</a:t>
            </a:r>
            <a:endParaRPr lang="en-US" sz="2700" dirty="0"/>
          </a:p>
        </p:txBody>
      </p:sp>
      <p:sp>
        <p:nvSpPr>
          <p:cNvPr id="4" name="Text 2"/>
          <p:cNvSpPr txBox="1"/>
          <p:nvPr/>
        </p:nvSpPr>
        <p:spPr>
          <a:xfrm>
            <a:off x="502920" y="1024128"/>
            <a:ext cx="10972800" cy="384048"/>
          </a:xfrm>
          <a:prstGeom prst="rect">
            <a:avLst/>
          </a:prstGeom>
          <a:noFill/>
          <a:ln/>
        </p:spPr>
        <p:txBody>
          <a:bodyPr wrap="square" lIns="0" tIns="0" rIns="0" bIns="0" rtlCol="0" anchor="t">
            <a:normAutofit/>
          </a:bodyPr>
          <a:lstStyle/>
          <a:p>
            <a:pPr marL="0" indent="0" algn="l">
              <a:buNone/>
            </a:pPr>
            <a:r>
              <a:rPr lang="en-US" sz="1250" dirty="0">
                <a:solidFill>
                  <a:srgbClr val="5F7484"/>
                </a:solidFill>
                <a:latin typeface="Aptos" pitchFamily="34" charset="0"/>
                <a:ea typeface="Aptos" pitchFamily="34" charset="-122"/>
                <a:cs typeface="Aptos" pitchFamily="34" charset="-120"/>
              </a:rPr>
              <a:t>Cada servicio es propietario exclusivo de su información; la aplicación móvil mantiene una copia operativa para continuar sin conexión.</a:t>
            </a:r>
            <a:endParaRPr lang="en-US" sz="1250" dirty="0"/>
          </a:p>
        </p:txBody>
      </p:sp>
      <p:sp>
        <p:nvSpPr>
          <p:cNvPr id="5" name="Shape 3"/>
          <p:cNvSpPr/>
          <p:nvPr/>
        </p:nvSpPr>
        <p:spPr>
          <a:xfrm>
            <a:off x="502920" y="1572768"/>
            <a:ext cx="6528816" cy="4535424"/>
          </a:xfrm>
          <a:prstGeom prst="roundRect">
            <a:avLst>
              <a:gd name="adj" fmla="val 2419"/>
            </a:avLst>
          </a:prstGeom>
          <a:solidFill>
            <a:srgbClr val="FFFFFF"/>
          </a:solidFill>
          <a:ln w="12700">
            <a:solidFill>
              <a:srgbClr val="D8E4EC"/>
            </a:solidFill>
            <a:prstDash val="solid"/>
          </a:ln>
        </p:spPr>
        <p:txBody>
          <a:bodyPr/>
          <a:lstStyle/>
          <a:p>
            <a:endParaRPr lang="en-US"/>
          </a:p>
        </p:txBody>
      </p:sp>
      <p:pic>
        <p:nvPicPr>
          <p:cNvPr id="6" name="Image 0" descr="/tmp/movixdoc/word/media/image20.png"/>
          <p:cNvPicPr>
            <a:picLocks noChangeAspect="1"/>
          </p:cNvPicPr>
          <p:nvPr/>
        </p:nvPicPr>
        <p:blipFill>
          <a:blip r:embed="rId3"/>
          <a:stretch>
            <a:fillRect/>
          </a:stretch>
        </p:blipFill>
        <p:spPr>
          <a:xfrm>
            <a:off x="685800" y="1783080"/>
            <a:ext cx="6163056" cy="3886200"/>
          </a:xfrm>
          <a:prstGeom prst="rect">
            <a:avLst/>
          </a:prstGeom>
        </p:spPr>
      </p:pic>
      <p:sp>
        <p:nvSpPr>
          <p:cNvPr id="7" name="Text 4"/>
          <p:cNvSpPr txBox="1"/>
          <p:nvPr/>
        </p:nvSpPr>
        <p:spPr>
          <a:xfrm>
            <a:off x="786384" y="5687568"/>
            <a:ext cx="5980176" cy="219456"/>
          </a:xfrm>
          <a:prstGeom prst="rect">
            <a:avLst/>
          </a:prstGeom>
          <a:noFill/>
          <a:ln/>
        </p:spPr>
        <p:txBody>
          <a:bodyPr wrap="square" lIns="0" tIns="0" rIns="0" bIns="0" rtlCol="0" anchor="ctr">
            <a:normAutofit/>
          </a:bodyPr>
          <a:lstStyle/>
          <a:p>
            <a:pPr marL="0" indent="0" algn="ctr">
              <a:buNone/>
            </a:pPr>
            <a:r>
              <a:rPr lang="en-US" sz="950" dirty="0">
                <a:solidFill>
                  <a:srgbClr val="5F7484"/>
                </a:solidFill>
                <a:latin typeface="Aptos" pitchFamily="34" charset="0"/>
                <a:ea typeface="Aptos" pitchFamily="34" charset="-122"/>
                <a:cs typeface="Aptos" pitchFamily="34" charset="-120"/>
              </a:rPr>
              <a:t>Topología de datos documentada</a:t>
            </a:r>
            <a:endParaRPr lang="en-US" sz="950" dirty="0"/>
          </a:p>
        </p:txBody>
      </p:sp>
      <p:sp>
        <p:nvSpPr>
          <p:cNvPr id="8" name="Text 5"/>
          <p:cNvSpPr txBox="1"/>
          <p:nvPr/>
        </p:nvSpPr>
        <p:spPr>
          <a:xfrm>
            <a:off x="7333488" y="1664208"/>
            <a:ext cx="3840480" cy="329184"/>
          </a:xfrm>
          <a:prstGeom prst="rect">
            <a:avLst/>
          </a:prstGeom>
          <a:noFill/>
          <a:ln/>
        </p:spPr>
        <p:txBody>
          <a:bodyPr wrap="square" lIns="0" tIns="0" rIns="0" bIns="0" rtlCol="0" anchor="ctr">
            <a:normAutofit/>
          </a:bodyPr>
          <a:lstStyle/>
          <a:p>
            <a:pPr marL="0" indent="0" algn="l">
              <a:buNone/>
            </a:pPr>
            <a:r>
              <a:rPr lang="en-US" sz="1700" b="1" dirty="0">
                <a:solidFill>
                  <a:srgbClr val="173042"/>
                </a:solidFill>
                <a:latin typeface="Aptos" pitchFamily="34" charset="0"/>
                <a:ea typeface="Aptos" pitchFamily="34" charset="-122"/>
                <a:cs typeface="Aptos" pitchFamily="34" charset="-120"/>
              </a:rPr>
              <a:t>Principios de diseño</a:t>
            </a:r>
            <a:endParaRPr lang="en-US" sz="170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33488" y="2057400"/>
            <a:ext cx="310896" cy="310896"/>
          </a:xfrm>
          <a:prstGeom prst="rect">
            <a:avLst/>
          </a:prstGeom>
        </p:spPr>
      </p:pic>
      <p:sp>
        <p:nvSpPr>
          <p:cNvPr id="10" name="Text 6"/>
          <p:cNvSpPr txBox="1"/>
          <p:nvPr/>
        </p:nvSpPr>
        <p:spPr>
          <a:xfrm>
            <a:off x="7790688" y="2048256"/>
            <a:ext cx="3611880" cy="219456"/>
          </a:xfrm>
          <a:prstGeom prst="rect">
            <a:avLst/>
          </a:prstGeom>
          <a:noFill/>
          <a:ln/>
        </p:spPr>
        <p:txBody>
          <a:bodyPr wrap="square" lIns="0" tIns="0" rIns="0" bIns="0" rtlCol="0" anchor="ctr">
            <a:normAutofit/>
          </a:bodyPr>
          <a:lstStyle/>
          <a:p>
            <a:pPr marL="0" indent="0" algn="l">
              <a:buNone/>
            </a:pPr>
            <a:r>
              <a:rPr lang="en-US" sz="1140" b="1" dirty="0">
                <a:solidFill>
                  <a:srgbClr val="173042"/>
                </a:solidFill>
                <a:latin typeface="Aptos" pitchFamily="34" charset="0"/>
                <a:ea typeface="Aptos" pitchFamily="34" charset="-122"/>
                <a:cs typeface="Aptos" pitchFamily="34" charset="-120"/>
              </a:rPr>
              <a:t>Un único propietario</a:t>
            </a:r>
            <a:endParaRPr lang="en-US" sz="1140" dirty="0"/>
          </a:p>
        </p:txBody>
      </p:sp>
      <p:sp>
        <p:nvSpPr>
          <p:cNvPr id="11" name="Text 7"/>
          <p:cNvSpPr txBox="1"/>
          <p:nvPr/>
        </p:nvSpPr>
        <p:spPr>
          <a:xfrm>
            <a:off x="7790688" y="2258568"/>
            <a:ext cx="3639312" cy="310896"/>
          </a:xfrm>
          <a:prstGeom prst="rect">
            <a:avLst/>
          </a:prstGeom>
          <a:noFill/>
          <a:ln/>
        </p:spPr>
        <p:txBody>
          <a:bodyPr wrap="square" lIns="0" tIns="0" rIns="0" bIns="0" rtlCol="0" anchor="t">
            <a:normAutofit/>
          </a:bodyPr>
          <a:lstStyle/>
          <a:p>
            <a:pPr marL="0" indent="0" algn="l">
              <a:buNone/>
            </a:pPr>
            <a:r>
              <a:rPr lang="en-US" sz="940" dirty="0">
                <a:solidFill>
                  <a:srgbClr val="5F7484"/>
                </a:solidFill>
                <a:latin typeface="Aptos" pitchFamily="34" charset="0"/>
                <a:ea typeface="Aptos" pitchFamily="34" charset="-122"/>
                <a:cs typeface="Aptos" pitchFamily="34" charset="-120"/>
              </a:rPr>
              <a:t>Cada dato de negocio tiene una sola fuente de verdad.</a:t>
            </a:r>
            <a:endParaRPr lang="en-US" sz="94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33488" y="2679192"/>
            <a:ext cx="310896" cy="310896"/>
          </a:xfrm>
          <a:prstGeom prst="rect">
            <a:avLst/>
          </a:prstGeom>
        </p:spPr>
      </p:pic>
      <p:sp>
        <p:nvSpPr>
          <p:cNvPr id="13" name="Text 8"/>
          <p:cNvSpPr txBox="1"/>
          <p:nvPr/>
        </p:nvSpPr>
        <p:spPr>
          <a:xfrm>
            <a:off x="7790688" y="2670048"/>
            <a:ext cx="3611880" cy="219456"/>
          </a:xfrm>
          <a:prstGeom prst="rect">
            <a:avLst/>
          </a:prstGeom>
          <a:noFill/>
          <a:ln/>
        </p:spPr>
        <p:txBody>
          <a:bodyPr wrap="square" lIns="0" tIns="0" rIns="0" bIns="0" rtlCol="0" anchor="ctr">
            <a:normAutofit/>
          </a:bodyPr>
          <a:lstStyle/>
          <a:p>
            <a:pPr marL="0" indent="0" algn="l">
              <a:buNone/>
            </a:pPr>
            <a:r>
              <a:rPr lang="en-US" sz="1140" b="1" dirty="0">
                <a:solidFill>
                  <a:srgbClr val="173042"/>
                </a:solidFill>
                <a:latin typeface="Aptos" pitchFamily="34" charset="0"/>
                <a:ea typeface="Aptos" pitchFamily="34" charset="-122"/>
                <a:cs typeface="Aptos" pitchFamily="34" charset="-120"/>
              </a:rPr>
              <a:t>Sin accesos cruzados</a:t>
            </a:r>
            <a:endParaRPr lang="en-US" sz="1140" dirty="0"/>
          </a:p>
        </p:txBody>
      </p:sp>
      <p:sp>
        <p:nvSpPr>
          <p:cNvPr id="14" name="Text 9"/>
          <p:cNvSpPr txBox="1"/>
          <p:nvPr/>
        </p:nvSpPr>
        <p:spPr>
          <a:xfrm>
            <a:off x="7790688" y="2880360"/>
            <a:ext cx="3639312" cy="310896"/>
          </a:xfrm>
          <a:prstGeom prst="rect">
            <a:avLst/>
          </a:prstGeom>
          <a:noFill/>
          <a:ln/>
        </p:spPr>
        <p:txBody>
          <a:bodyPr wrap="square" lIns="0" tIns="0" rIns="0" bIns="0" rtlCol="0" anchor="t">
            <a:normAutofit/>
          </a:bodyPr>
          <a:lstStyle/>
          <a:p>
            <a:pPr marL="0" indent="0" algn="l">
              <a:buNone/>
            </a:pPr>
            <a:r>
              <a:rPr lang="en-US" sz="940" dirty="0">
                <a:solidFill>
                  <a:srgbClr val="5F7484"/>
                </a:solidFill>
                <a:latin typeface="Aptos" pitchFamily="34" charset="0"/>
                <a:ea typeface="Aptos" pitchFamily="34" charset="-122"/>
                <a:cs typeface="Aptos" pitchFamily="34" charset="-120"/>
              </a:rPr>
              <a:t>Ningún microservicio lee o modifica tablas de otro dominio.</a:t>
            </a:r>
            <a:endParaRPr lang="en-US" sz="94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33488" y="3300984"/>
            <a:ext cx="310896" cy="310896"/>
          </a:xfrm>
          <a:prstGeom prst="rect">
            <a:avLst/>
          </a:prstGeom>
        </p:spPr>
      </p:pic>
      <p:sp>
        <p:nvSpPr>
          <p:cNvPr id="16" name="Text 10"/>
          <p:cNvSpPr txBox="1"/>
          <p:nvPr/>
        </p:nvSpPr>
        <p:spPr>
          <a:xfrm>
            <a:off x="7790688" y="3291840"/>
            <a:ext cx="3611880" cy="219456"/>
          </a:xfrm>
          <a:prstGeom prst="rect">
            <a:avLst/>
          </a:prstGeom>
          <a:noFill/>
          <a:ln/>
        </p:spPr>
        <p:txBody>
          <a:bodyPr wrap="square" lIns="0" tIns="0" rIns="0" bIns="0" rtlCol="0" anchor="ctr">
            <a:normAutofit/>
          </a:bodyPr>
          <a:lstStyle/>
          <a:p>
            <a:pPr marL="0" indent="0" algn="l">
              <a:buNone/>
            </a:pPr>
            <a:r>
              <a:rPr lang="en-US" sz="1140" b="1" dirty="0">
                <a:solidFill>
                  <a:srgbClr val="173042"/>
                </a:solidFill>
                <a:latin typeface="Aptos" pitchFamily="34" charset="0"/>
                <a:ea typeface="Aptos" pitchFamily="34" charset="-122"/>
                <a:cs typeface="Aptos" pitchFamily="34" charset="-120"/>
              </a:rPr>
              <a:t>APIs, eventos y proyecciones</a:t>
            </a:r>
            <a:endParaRPr lang="en-US" sz="1140" dirty="0"/>
          </a:p>
        </p:txBody>
      </p:sp>
      <p:sp>
        <p:nvSpPr>
          <p:cNvPr id="17" name="Text 11"/>
          <p:cNvSpPr txBox="1"/>
          <p:nvPr/>
        </p:nvSpPr>
        <p:spPr>
          <a:xfrm>
            <a:off x="7790688" y="3502152"/>
            <a:ext cx="3639312" cy="310896"/>
          </a:xfrm>
          <a:prstGeom prst="rect">
            <a:avLst/>
          </a:prstGeom>
          <a:noFill/>
          <a:ln/>
        </p:spPr>
        <p:txBody>
          <a:bodyPr wrap="square" lIns="0" tIns="0" rIns="0" bIns="0" rtlCol="0" anchor="t">
            <a:normAutofit/>
          </a:bodyPr>
          <a:lstStyle/>
          <a:p>
            <a:pPr marL="0" indent="0" algn="l">
              <a:buNone/>
            </a:pPr>
            <a:r>
              <a:rPr lang="en-US" sz="940" dirty="0">
                <a:solidFill>
                  <a:srgbClr val="5F7484"/>
                </a:solidFill>
                <a:latin typeface="Aptos" pitchFamily="34" charset="0"/>
                <a:ea typeface="Aptos" pitchFamily="34" charset="-122"/>
                <a:cs typeface="Aptos" pitchFamily="34" charset="-120"/>
              </a:rPr>
              <a:t>La colaboración se resuelve sin JOIN directos entre bases.</a:t>
            </a:r>
            <a:endParaRPr lang="en-US" sz="940" dirty="0"/>
          </a:p>
        </p:txBody>
      </p:sp>
      <p:pic>
        <p:nvPicPr>
          <p:cNvPr id="1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333488" y="3922776"/>
            <a:ext cx="310896" cy="310896"/>
          </a:xfrm>
          <a:prstGeom prst="rect">
            <a:avLst/>
          </a:prstGeom>
        </p:spPr>
      </p:pic>
      <p:sp>
        <p:nvSpPr>
          <p:cNvPr id="19" name="Text 12"/>
          <p:cNvSpPr txBox="1"/>
          <p:nvPr/>
        </p:nvSpPr>
        <p:spPr>
          <a:xfrm>
            <a:off x="7790688" y="3913632"/>
            <a:ext cx="3611880" cy="219456"/>
          </a:xfrm>
          <a:prstGeom prst="rect">
            <a:avLst/>
          </a:prstGeom>
          <a:noFill/>
          <a:ln/>
        </p:spPr>
        <p:txBody>
          <a:bodyPr wrap="square" lIns="0" tIns="0" rIns="0" bIns="0" rtlCol="0" anchor="ctr">
            <a:normAutofit/>
          </a:bodyPr>
          <a:lstStyle/>
          <a:p>
            <a:pPr marL="0" indent="0" algn="l">
              <a:buNone/>
            </a:pPr>
            <a:r>
              <a:rPr lang="en-US" sz="1140" b="1" dirty="0">
                <a:solidFill>
                  <a:srgbClr val="173042"/>
                </a:solidFill>
                <a:latin typeface="Aptos" pitchFamily="34" charset="0"/>
                <a:ea typeface="Aptos" pitchFamily="34" charset="-122"/>
                <a:cs typeface="Aptos" pitchFamily="34" charset="-120"/>
              </a:rPr>
              <a:t>PostgreSQL por dominio</a:t>
            </a:r>
            <a:endParaRPr lang="en-US" sz="1140" dirty="0"/>
          </a:p>
        </p:txBody>
      </p:sp>
      <p:sp>
        <p:nvSpPr>
          <p:cNvPr id="20" name="Text 13"/>
          <p:cNvSpPr txBox="1"/>
          <p:nvPr/>
        </p:nvSpPr>
        <p:spPr>
          <a:xfrm>
            <a:off x="7790688" y="4123944"/>
            <a:ext cx="3639312" cy="310896"/>
          </a:xfrm>
          <a:prstGeom prst="rect">
            <a:avLst/>
          </a:prstGeom>
          <a:noFill/>
          <a:ln/>
        </p:spPr>
        <p:txBody>
          <a:bodyPr wrap="square" lIns="0" tIns="0" rIns="0" bIns="0" rtlCol="0" anchor="t">
            <a:normAutofit/>
          </a:bodyPr>
          <a:lstStyle/>
          <a:p>
            <a:pPr marL="0" indent="0" algn="l">
              <a:buNone/>
            </a:pPr>
            <a:r>
              <a:rPr lang="en-US" sz="940" dirty="0">
                <a:solidFill>
                  <a:srgbClr val="5F7484"/>
                </a:solidFill>
                <a:latin typeface="Aptos" pitchFamily="34" charset="0"/>
                <a:ea typeface="Aptos" pitchFamily="34" charset="-122"/>
                <a:cs typeface="Aptos" pitchFamily="34" charset="-120"/>
              </a:rPr>
              <a:t>Persistencia transaccional y de auditoría con credenciales propias.</a:t>
            </a:r>
            <a:endParaRPr lang="en-US" sz="940" dirty="0"/>
          </a:p>
        </p:txBody>
      </p:sp>
      <p:pic>
        <p:nvPicPr>
          <p:cNvPr id="2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333488" y="4544568"/>
            <a:ext cx="310896" cy="310896"/>
          </a:xfrm>
          <a:prstGeom prst="rect">
            <a:avLst/>
          </a:prstGeom>
        </p:spPr>
      </p:pic>
      <p:sp>
        <p:nvSpPr>
          <p:cNvPr id="22" name="Text 14"/>
          <p:cNvSpPr txBox="1"/>
          <p:nvPr/>
        </p:nvSpPr>
        <p:spPr>
          <a:xfrm>
            <a:off x="7790688" y="4535424"/>
            <a:ext cx="3611880" cy="219456"/>
          </a:xfrm>
          <a:prstGeom prst="rect">
            <a:avLst/>
          </a:prstGeom>
          <a:noFill/>
          <a:ln/>
        </p:spPr>
        <p:txBody>
          <a:bodyPr wrap="square" lIns="0" tIns="0" rIns="0" bIns="0" rtlCol="0" anchor="ctr">
            <a:normAutofit/>
          </a:bodyPr>
          <a:lstStyle/>
          <a:p>
            <a:pPr marL="0" indent="0" algn="l">
              <a:buNone/>
            </a:pPr>
            <a:r>
              <a:rPr lang="en-US" sz="1140" b="1" dirty="0">
                <a:solidFill>
                  <a:srgbClr val="173042"/>
                </a:solidFill>
                <a:latin typeface="Aptos" pitchFamily="34" charset="0"/>
                <a:ea typeface="Aptos" pitchFamily="34" charset="-122"/>
                <a:cs typeface="Aptos" pitchFamily="34" charset="-120"/>
              </a:rPr>
              <a:t>WatermelonDB local</a:t>
            </a:r>
            <a:endParaRPr lang="en-US" sz="1140" dirty="0"/>
          </a:p>
        </p:txBody>
      </p:sp>
      <p:sp>
        <p:nvSpPr>
          <p:cNvPr id="23" name="Text 15"/>
          <p:cNvSpPr txBox="1"/>
          <p:nvPr/>
        </p:nvSpPr>
        <p:spPr>
          <a:xfrm>
            <a:off x="7790688" y="4745736"/>
            <a:ext cx="3639312" cy="310896"/>
          </a:xfrm>
          <a:prstGeom prst="rect">
            <a:avLst/>
          </a:prstGeom>
          <a:noFill/>
          <a:ln/>
        </p:spPr>
        <p:txBody>
          <a:bodyPr wrap="square" lIns="0" tIns="0" rIns="0" bIns="0" rtlCol="0" anchor="t">
            <a:normAutofit/>
          </a:bodyPr>
          <a:lstStyle/>
          <a:p>
            <a:pPr marL="0" indent="0" algn="l">
              <a:buNone/>
            </a:pPr>
            <a:r>
              <a:rPr lang="en-US" sz="940" dirty="0">
                <a:solidFill>
                  <a:srgbClr val="5F7484"/>
                </a:solidFill>
                <a:latin typeface="Aptos" pitchFamily="34" charset="0"/>
                <a:ea typeface="Aptos" pitchFamily="34" charset="-122"/>
                <a:cs typeface="Aptos" pitchFamily="34" charset="-120"/>
              </a:rPr>
              <a:t>Ruta activa, caché operativa y cola offline en el dispositivo.</a:t>
            </a:r>
            <a:endParaRPr lang="en-US" sz="940" dirty="0"/>
          </a:p>
        </p:txBody>
      </p:sp>
      <p:pic>
        <p:nvPicPr>
          <p:cNvPr id="24"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33488" y="5166360"/>
            <a:ext cx="310896" cy="310896"/>
          </a:xfrm>
          <a:prstGeom prst="rect">
            <a:avLst/>
          </a:prstGeom>
        </p:spPr>
      </p:pic>
      <p:sp>
        <p:nvSpPr>
          <p:cNvPr id="25" name="Text 16"/>
          <p:cNvSpPr txBox="1"/>
          <p:nvPr/>
        </p:nvSpPr>
        <p:spPr>
          <a:xfrm>
            <a:off x="7790688" y="5157216"/>
            <a:ext cx="3611880" cy="219456"/>
          </a:xfrm>
          <a:prstGeom prst="rect">
            <a:avLst/>
          </a:prstGeom>
          <a:noFill/>
          <a:ln/>
        </p:spPr>
        <p:txBody>
          <a:bodyPr wrap="square" lIns="0" tIns="0" rIns="0" bIns="0" rtlCol="0" anchor="ctr">
            <a:normAutofit/>
          </a:bodyPr>
          <a:lstStyle/>
          <a:p>
            <a:pPr marL="0" indent="0" algn="l">
              <a:buNone/>
            </a:pPr>
            <a:r>
              <a:rPr lang="en-US" sz="1140" b="1" dirty="0">
                <a:solidFill>
                  <a:srgbClr val="173042"/>
                </a:solidFill>
                <a:latin typeface="Aptos" pitchFamily="34" charset="0"/>
                <a:ea typeface="Aptos" pitchFamily="34" charset="-122"/>
                <a:cs typeface="Aptos" pitchFamily="34" charset="-120"/>
              </a:rPr>
              <a:t>Kafka no es fuente de verdad</a:t>
            </a:r>
            <a:endParaRPr lang="en-US" sz="1140" dirty="0"/>
          </a:p>
        </p:txBody>
      </p:sp>
      <p:sp>
        <p:nvSpPr>
          <p:cNvPr id="26" name="Text 17"/>
          <p:cNvSpPr txBox="1"/>
          <p:nvPr/>
        </p:nvSpPr>
        <p:spPr>
          <a:xfrm>
            <a:off x="7790688" y="5367528"/>
            <a:ext cx="3639312" cy="310896"/>
          </a:xfrm>
          <a:prstGeom prst="rect">
            <a:avLst/>
          </a:prstGeom>
          <a:noFill/>
          <a:ln/>
        </p:spPr>
        <p:txBody>
          <a:bodyPr wrap="square" lIns="0" tIns="0" rIns="0" bIns="0" rtlCol="0" anchor="t">
            <a:normAutofit/>
          </a:bodyPr>
          <a:lstStyle/>
          <a:p>
            <a:pPr marL="0" indent="0" algn="l">
              <a:buNone/>
            </a:pPr>
            <a:r>
              <a:rPr lang="en-US" sz="940" dirty="0">
                <a:solidFill>
                  <a:srgbClr val="5F7484"/>
                </a:solidFill>
                <a:latin typeface="Aptos" pitchFamily="34" charset="0"/>
                <a:ea typeface="Aptos" pitchFamily="34" charset="-122"/>
                <a:cs typeface="Aptos" pitchFamily="34" charset="-120"/>
              </a:rPr>
              <a:t>Transporta y retiene temporalmente eventos de integración.</a:t>
            </a:r>
            <a:endParaRPr lang="en-US" sz="940" dirty="0"/>
          </a:p>
        </p:txBody>
      </p:sp>
      <p:sp>
        <p:nvSpPr>
          <p:cNvPr id="28" name="Slide Number Placeholder 0"/>
          <p:cNvSpPr>
            <a:spLocks noGrp="1"/>
          </p:cNvSpPr>
          <p:nvPr>
            <p:ph type="sldNum" sz="quarter" idx="4294967295"/>
          </p:nvPr>
        </p:nvSpPr>
        <p:spPr>
          <a:xfrm>
            <a:off x="11823192"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AAB6C0"/>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292608"/>
            <a:ext cx="3017520" cy="201168"/>
          </a:xfrm>
          <a:prstGeom prst="rect">
            <a:avLst/>
          </a:prstGeom>
          <a:noFill/>
          <a:ln/>
        </p:spPr>
        <p:txBody>
          <a:bodyPr wrap="square" lIns="0" tIns="0" rIns="0" bIns="0" rtlCol="0" anchor="ctr">
            <a:normAutofit/>
          </a:bodyPr>
          <a:lstStyle/>
          <a:p>
            <a:pPr marL="0" indent="0" algn="l">
              <a:buNone/>
            </a:pPr>
            <a:r>
              <a:rPr lang="en-US" sz="900" b="1" kern="0" spc="120" dirty="0">
                <a:solidFill>
                  <a:srgbClr val="0A5E8C"/>
                </a:solidFill>
                <a:latin typeface="Aptos" pitchFamily="34" charset="0"/>
                <a:ea typeface="Aptos" pitchFamily="34" charset="-122"/>
                <a:cs typeface="Aptos" pitchFamily="34" charset="-120"/>
              </a:rPr>
              <a:t>06 · PATRONES ARQUITECTÓNICOS</a:t>
            </a:r>
            <a:endParaRPr lang="en-US" sz="900" dirty="0"/>
          </a:p>
        </p:txBody>
      </p:sp>
      <p:sp>
        <p:nvSpPr>
          <p:cNvPr id="3" name="Text 1"/>
          <p:cNvSpPr txBox="1"/>
          <p:nvPr/>
        </p:nvSpPr>
        <p:spPr>
          <a:xfrm>
            <a:off x="502920" y="530352"/>
            <a:ext cx="11064240" cy="493776"/>
          </a:xfrm>
          <a:prstGeom prst="rect">
            <a:avLst/>
          </a:prstGeom>
          <a:noFill/>
          <a:ln/>
        </p:spPr>
        <p:txBody>
          <a:bodyPr wrap="square" lIns="0" tIns="0" rIns="0" bIns="0" rtlCol="0" anchor="ctr">
            <a:normAutofit/>
          </a:bodyPr>
          <a:lstStyle/>
          <a:p>
            <a:pPr marL="0" indent="0" algn="l">
              <a:buNone/>
            </a:pPr>
            <a:r>
              <a:rPr lang="en-US" sz="2700" b="1" dirty="0">
                <a:solidFill>
                  <a:srgbClr val="173042"/>
                </a:solidFill>
                <a:latin typeface="Aptos" pitchFamily="34" charset="0"/>
                <a:ea typeface="Aptos" pitchFamily="34" charset="-122"/>
                <a:cs typeface="Aptos" pitchFamily="34" charset="-120"/>
              </a:rPr>
              <a:t>Cada patrón responde a una tensión concreta del negocio</a:t>
            </a:r>
            <a:endParaRPr lang="en-US" sz="2700" dirty="0"/>
          </a:p>
        </p:txBody>
      </p:sp>
      <p:sp>
        <p:nvSpPr>
          <p:cNvPr id="4" name="Text 2"/>
          <p:cNvSpPr txBox="1"/>
          <p:nvPr/>
        </p:nvSpPr>
        <p:spPr>
          <a:xfrm>
            <a:off x="502920" y="1024128"/>
            <a:ext cx="10972800" cy="384048"/>
          </a:xfrm>
          <a:prstGeom prst="rect">
            <a:avLst/>
          </a:prstGeom>
          <a:noFill/>
          <a:ln/>
        </p:spPr>
        <p:txBody>
          <a:bodyPr wrap="square" lIns="0" tIns="0" rIns="0" bIns="0" rtlCol="0" anchor="t">
            <a:normAutofit/>
          </a:bodyPr>
          <a:lstStyle/>
          <a:p>
            <a:pPr marL="0" indent="0" algn="l">
              <a:buNone/>
            </a:pPr>
            <a:r>
              <a:rPr lang="en-US" sz="1250" dirty="0">
                <a:solidFill>
                  <a:srgbClr val="5F7484"/>
                </a:solidFill>
                <a:latin typeface="Aptos" pitchFamily="34" charset="0"/>
                <a:ea typeface="Aptos" pitchFamily="34" charset="-122"/>
                <a:cs typeface="Aptos" pitchFamily="34" charset="-120"/>
              </a:rPr>
              <a:t>La adopción es selectiva: se implementa cuando existe una necesidad arquitectónica comprobable y una relación directa con los escenarios de calidad.</a:t>
            </a:r>
            <a:endParaRPr lang="en-US" sz="1250" dirty="0"/>
          </a:p>
        </p:txBody>
      </p:sp>
      <p:sp>
        <p:nvSpPr>
          <p:cNvPr id="5" name="Shape 3"/>
          <p:cNvSpPr/>
          <p:nvPr/>
        </p:nvSpPr>
        <p:spPr>
          <a:xfrm>
            <a:off x="502920" y="1627632"/>
            <a:ext cx="3621024" cy="1298448"/>
          </a:xfrm>
          <a:prstGeom prst="roundRect">
            <a:avLst>
              <a:gd name="adj" fmla="val 8451"/>
            </a:avLst>
          </a:prstGeom>
          <a:solidFill>
            <a:srgbClr val="FFFFFF"/>
          </a:solidFill>
          <a:ln w="12700">
            <a:solidFill>
              <a:srgbClr val="D8E4EC"/>
            </a:solidFill>
            <a:prstDash val="solid"/>
          </a:ln>
        </p:spPr>
        <p:txBody>
          <a:bodyPr/>
          <a:lstStyle/>
          <a:p>
            <a:endParaRPr lang="en-US"/>
          </a:p>
        </p:txBody>
      </p:sp>
      <p:sp>
        <p:nvSpPr>
          <p:cNvPr id="6" name="Shape 4"/>
          <p:cNvSpPr/>
          <p:nvPr/>
        </p:nvSpPr>
        <p:spPr>
          <a:xfrm>
            <a:off x="502920" y="1627632"/>
            <a:ext cx="73152" cy="1298448"/>
          </a:xfrm>
          <a:prstGeom prst="rect">
            <a:avLst/>
          </a:prstGeom>
          <a:solidFill>
            <a:srgbClr val="D85B63"/>
          </a:solidFill>
          <a:ln w="12700">
            <a:solidFill>
              <a:srgbClr val="D85B63"/>
            </a:solidFill>
            <a:prstDash val="solid"/>
          </a:ln>
        </p:spPr>
        <p:txBody>
          <a:bodyPr/>
          <a:lstStyle/>
          <a:p>
            <a:endParaRPr lang="en-US"/>
          </a:p>
        </p:txBody>
      </p:sp>
      <p:sp>
        <p:nvSpPr>
          <p:cNvPr id="7" name="Shape 5"/>
          <p:cNvSpPr/>
          <p:nvPr/>
        </p:nvSpPr>
        <p:spPr>
          <a:xfrm>
            <a:off x="667512" y="1773936"/>
            <a:ext cx="1234440" cy="310896"/>
          </a:xfrm>
          <a:prstGeom prst="roundRect">
            <a:avLst>
              <a:gd name="adj" fmla="val 35294"/>
            </a:avLst>
          </a:prstGeom>
          <a:solidFill>
            <a:srgbClr val="F3F7FA"/>
          </a:solidFill>
          <a:ln w="12700">
            <a:solidFill>
              <a:srgbClr val="F3F7FA"/>
            </a:solidFill>
            <a:prstDash val="solid"/>
          </a:ln>
        </p:spPr>
        <p:txBody>
          <a:bodyPr/>
          <a:lstStyle/>
          <a:p>
            <a:endParaRPr lang="en-US"/>
          </a:p>
        </p:txBody>
      </p:sp>
      <p:sp>
        <p:nvSpPr>
          <p:cNvPr id="8" name="Text 6"/>
          <p:cNvSpPr txBox="1"/>
          <p:nvPr/>
        </p:nvSpPr>
        <p:spPr>
          <a:xfrm>
            <a:off x="740664" y="1783080"/>
            <a:ext cx="1088136" cy="274320"/>
          </a:xfrm>
          <a:prstGeom prst="rect">
            <a:avLst/>
          </a:prstGeom>
          <a:noFill/>
          <a:ln/>
        </p:spPr>
        <p:txBody>
          <a:bodyPr wrap="square" lIns="0" tIns="0" rIns="0" bIns="0" rtlCol="0" anchor="ctr">
            <a:normAutofit/>
          </a:bodyPr>
          <a:lstStyle/>
          <a:p>
            <a:pPr marL="0" indent="0" algn="ctr">
              <a:buNone/>
            </a:pPr>
            <a:r>
              <a:rPr lang="en-US" sz="950" b="1" dirty="0">
                <a:solidFill>
                  <a:srgbClr val="D85B63"/>
                </a:solidFill>
                <a:latin typeface="Aptos" pitchFamily="34" charset="0"/>
                <a:ea typeface="Aptos" pitchFamily="34" charset="-122"/>
                <a:cs typeface="Aptos" pitchFamily="34" charset="-120"/>
              </a:rPr>
              <a:t>CONSISTENCIA</a:t>
            </a:r>
            <a:endParaRPr lang="en-US" sz="950" dirty="0"/>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11880" y="1783080"/>
            <a:ext cx="310896" cy="310896"/>
          </a:xfrm>
          <a:prstGeom prst="rect">
            <a:avLst/>
          </a:prstGeom>
        </p:spPr>
      </p:pic>
      <p:sp>
        <p:nvSpPr>
          <p:cNvPr id="10" name="Text 7"/>
          <p:cNvSpPr txBox="1"/>
          <p:nvPr/>
        </p:nvSpPr>
        <p:spPr>
          <a:xfrm>
            <a:off x="667512" y="2139696"/>
            <a:ext cx="3236976" cy="292608"/>
          </a:xfrm>
          <a:prstGeom prst="rect">
            <a:avLst/>
          </a:prstGeom>
          <a:noFill/>
          <a:ln/>
        </p:spPr>
        <p:txBody>
          <a:bodyPr wrap="square" lIns="0" tIns="0" rIns="0" bIns="0" rtlCol="0" anchor="ctr">
            <a:normAutofit/>
          </a:bodyPr>
          <a:lstStyle/>
          <a:p>
            <a:pPr marL="0" indent="0" algn="l">
              <a:buNone/>
            </a:pPr>
            <a:r>
              <a:rPr lang="en-US" sz="1340" b="1" dirty="0">
                <a:solidFill>
                  <a:srgbClr val="173042"/>
                </a:solidFill>
                <a:latin typeface="Aptos" pitchFamily="34" charset="0"/>
                <a:ea typeface="Aptos" pitchFamily="34" charset="-122"/>
                <a:cs typeface="Aptos" pitchFamily="34" charset="-120"/>
              </a:rPr>
              <a:t>Transactional Outbox + Inbox</a:t>
            </a:r>
            <a:endParaRPr lang="en-US" sz="1340" dirty="0"/>
          </a:p>
        </p:txBody>
      </p:sp>
      <p:sp>
        <p:nvSpPr>
          <p:cNvPr id="11" name="Text 8"/>
          <p:cNvSpPr txBox="1"/>
          <p:nvPr/>
        </p:nvSpPr>
        <p:spPr>
          <a:xfrm>
            <a:off x="667512" y="2450592"/>
            <a:ext cx="3273552" cy="347472"/>
          </a:xfrm>
          <a:prstGeom prst="rect">
            <a:avLst/>
          </a:prstGeom>
          <a:noFill/>
          <a:ln/>
        </p:spPr>
        <p:txBody>
          <a:bodyPr wrap="square" lIns="0" tIns="0" rIns="0" bIns="0" rtlCol="0" anchor="t">
            <a:normAutofit/>
          </a:bodyPr>
          <a:lstStyle/>
          <a:p>
            <a:pPr marL="0" indent="0" algn="l">
              <a:buNone/>
            </a:pPr>
            <a:r>
              <a:rPr lang="en-US" sz="960" dirty="0">
                <a:solidFill>
                  <a:srgbClr val="5F7484"/>
                </a:solidFill>
                <a:latin typeface="Aptos" pitchFamily="34" charset="0"/>
                <a:ea typeface="Aptos" pitchFamily="34" charset="-122"/>
                <a:cs typeface="Aptos" pitchFamily="34" charset="-120"/>
              </a:rPr>
              <a:t>Evita perder o duplicar eventos al confirmar cambios en PostgreSQL y publicarlos en Kafka.</a:t>
            </a:r>
            <a:endParaRPr lang="en-US" sz="960" dirty="0"/>
          </a:p>
        </p:txBody>
      </p:sp>
      <p:sp>
        <p:nvSpPr>
          <p:cNvPr id="12" name="Shape 9"/>
          <p:cNvSpPr/>
          <p:nvPr/>
        </p:nvSpPr>
        <p:spPr>
          <a:xfrm>
            <a:off x="4288536" y="1627632"/>
            <a:ext cx="3621024" cy="1298448"/>
          </a:xfrm>
          <a:prstGeom prst="roundRect">
            <a:avLst>
              <a:gd name="adj" fmla="val 8451"/>
            </a:avLst>
          </a:prstGeom>
          <a:solidFill>
            <a:srgbClr val="FFFFFF"/>
          </a:solidFill>
          <a:ln w="12700">
            <a:solidFill>
              <a:srgbClr val="D8E4EC"/>
            </a:solidFill>
            <a:prstDash val="solid"/>
          </a:ln>
        </p:spPr>
        <p:txBody>
          <a:bodyPr/>
          <a:lstStyle/>
          <a:p>
            <a:endParaRPr lang="en-US"/>
          </a:p>
        </p:txBody>
      </p:sp>
      <p:sp>
        <p:nvSpPr>
          <p:cNvPr id="13" name="Shape 10"/>
          <p:cNvSpPr/>
          <p:nvPr/>
        </p:nvSpPr>
        <p:spPr>
          <a:xfrm>
            <a:off x="4288536" y="1627632"/>
            <a:ext cx="73152" cy="1298448"/>
          </a:xfrm>
          <a:prstGeom prst="rect">
            <a:avLst/>
          </a:prstGeom>
          <a:solidFill>
            <a:srgbClr val="0A5E8C"/>
          </a:solidFill>
          <a:ln w="12700">
            <a:solidFill>
              <a:srgbClr val="0A5E8C"/>
            </a:solidFill>
            <a:prstDash val="solid"/>
          </a:ln>
        </p:spPr>
        <p:txBody>
          <a:bodyPr/>
          <a:lstStyle/>
          <a:p>
            <a:endParaRPr lang="en-US"/>
          </a:p>
        </p:txBody>
      </p:sp>
      <p:sp>
        <p:nvSpPr>
          <p:cNvPr id="14" name="Shape 11"/>
          <p:cNvSpPr/>
          <p:nvPr/>
        </p:nvSpPr>
        <p:spPr>
          <a:xfrm>
            <a:off x="4453128" y="1773936"/>
            <a:ext cx="1234440" cy="310896"/>
          </a:xfrm>
          <a:prstGeom prst="roundRect">
            <a:avLst>
              <a:gd name="adj" fmla="val 35294"/>
            </a:avLst>
          </a:prstGeom>
          <a:solidFill>
            <a:srgbClr val="F3F7FA"/>
          </a:solidFill>
          <a:ln w="12700">
            <a:solidFill>
              <a:srgbClr val="F3F7FA"/>
            </a:solidFill>
            <a:prstDash val="solid"/>
          </a:ln>
        </p:spPr>
        <p:txBody>
          <a:bodyPr/>
          <a:lstStyle/>
          <a:p>
            <a:endParaRPr lang="en-US"/>
          </a:p>
        </p:txBody>
      </p:sp>
      <p:sp>
        <p:nvSpPr>
          <p:cNvPr id="15" name="Text 12"/>
          <p:cNvSpPr txBox="1"/>
          <p:nvPr/>
        </p:nvSpPr>
        <p:spPr>
          <a:xfrm>
            <a:off x="4526280" y="1783080"/>
            <a:ext cx="1088136" cy="274320"/>
          </a:xfrm>
          <a:prstGeom prst="rect">
            <a:avLst/>
          </a:prstGeom>
          <a:noFill/>
          <a:ln/>
        </p:spPr>
        <p:txBody>
          <a:bodyPr wrap="square" lIns="0" tIns="0" rIns="0" bIns="0" rtlCol="0" anchor="ctr">
            <a:normAutofit/>
          </a:bodyPr>
          <a:lstStyle/>
          <a:p>
            <a:pPr marL="0" indent="0" algn="ctr">
              <a:buNone/>
            </a:pPr>
            <a:r>
              <a:rPr lang="en-US" sz="950" b="1" dirty="0">
                <a:solidFill>
                  <a:srgbClr val="0A5E8C"/>
                </a:solidFill>
                <a:latin typeface="Aptos" pitchFamily="34" charset="0"/>
                <a:ea typeface="Aptos" pitchFamily="34" charset="-122"/>
                <a:cs typeface="Aptos" pitchFamily="34" charset="-120"/>
              </a:rPr>
              <a:t>LECTURA / ESCRITURA</a:t>
            </a:r>
            <a:endParaRPr lang="en-US" sz="950" dirty="0"/>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97496" y="1783080"/>
            <a:ext cx="310896" cy="310896"/>
          </a:xfrm>
          <a:prstGeom prst="rect">
            <a:avLst/>
          </a:prstGeom>
        </p:spPr>
      </p:pic>
      <p:sp>
        <p:nvSpPr>
          <p:cNvPr id="17" name="Text 13"/>
          <p:cNvSpPr txBox="1"/>
          <p:nvPr/>
        </p:nvSpPr>
        <p:spPr>
          <a:xfrm>
            <a:off x="4453128" y="2139696"/>
            <a:ext cx="3236976" cy="292608"/>
          </a:xfrm>
          <a:prstGeom prst="rect">
            <a:avLst/>
          </a:prstGeom>
          <a:noFill/>
          <a:ln/>
        </p:spPr>
        <p:txBody>
          <a:bodyPr wrap="square" lIns="0" tIns="0" rIns="0" bIns="0" rtlCol="0" anchor="ctr">
            <a:normAutofit/>
          </a:bodyPr>
          <a:lstStyle/>
          <a:p>
            <a:pPr marL="0" indent="0" algn="l">
              <a:buNone/>
            </a:pPr>
            <a:r>
              <a:rPr lang="en-US" sz="1340" b="1" dirty="0">
                <a:solidFill>
                  <a:srgbClr val="173042"/>
                </a:solidFill>
                <a:latin typeface="Aptos" pitchFamily="34" charset="0"/>
                <a:ea typeface="Aptos" pitchFamily="34" charset="-122"/>
                <a:cs typeface="Aptos" pitchFamily="34" charset="-120"/>
              </a:rPr>
              <a:t>CQRS selectivo</a:t>
            </a:r>
            <a:endParaRPr lang="en-US" sz="1340" dirty="0"/>
          </a:p>
        </p:txBody>
      </p:sp>
      <p:sp>
        <p:nvSpPr>
          <p:cNvPr id="18" name="Text 14"/>
          <p:cNvSpPr txBox="1"/>
          <p:nvPr/>
        </p:nvSpPr>
        <p:spPr>
          <a:xfrm>
            <a:off x="4453128" y="2450592"/>
            <a:ext cx="3273552" cy="347472"/>
          </a:xfrm>
          <a:prstGeom prst="rect">
            <a:avLst/>
          </a:prstGeom>
          <a:noFill/>
          <a:ln/>
        </p:spPr>
        <p:txBody>
          <a:bodyPr wrap="square" lIns="0" tIns="0" rIns="0" bIns="0" rtlCol="0" anchor="t">
            <a:normAutofit/>
          </a:bodyPr>
          <a:lstStyle/>
          <a:p>
            <a:pPr marL="0" indent="0" algn="l">
              <a:buNone/>
            </a:pPr>
            <a:r>
              <a:rPr lang="en-US" sz="960" dirty="0">
                <a:solidFill>
                  <a:srgbClr val="5F7484"/>
                </a:solidFill>
                <a:latin typeface="Aptos" pitchFamily="34" charset="0"/>
                <a:ea typeface="Aptos" pitchFamily="34" charset="-122"/>
                <a:cs typeface="Aptos" pitchFamily="34" charset="-120"/>
              </a:rPr>
              <a:t>Separa comandos operativos de modelos de lectura para dashboards y seguimiento.</a:t>
            </a:r>
            <a:endParaRPr lang="en-US" sz="960" dirty="0"/>
          </a:p>
        </p:txBody>
      </p:sp>
      <p:sp>
        <p:nvSpPr>
          <p:cNvPr id="19" name="Shape 15"/>
          <p:cNvSpPr/>
          <p:nvPr/>
        </p:nvSpPr>
        <p:spPr>
          <a:xfrm>
            <a:off x="8074152" y="1627632"/>
            <a:ext cx="3621024" cy="1298448"/>
          </a:xfrm>
          <a:prstGeom prst="roundRect">
            <a:avLst>
              <a:gd name="adj" fmla="val 8451"/>
            </a:avLst>
          </a:prstGeom>
          <a:solidFill>
            <a:srgbClr val="FFFFFF"/>
          </a:solidFill>
          <a:ln w="12700">
            <a:solidFill>
              <a:srgbClr val="D8E4EC"/>
            </a:solidFill>
            <a:prstDash val="solid"/>
          </a:ln>
        </p:spPr>
        <p:txBody>
          <a:bodyPr/>
          <a:lstStyle/>
          <a:p>
            <a:endParaRPr lang="en-US"/>
          </a:p>
        </p:txBody>
      </p:sp>
      <p:sp>
        <p:nvSpPr>
          <p:cNvPr id="20" name="Shape 16"/>
          <p:cNvSpPr/>
          <p:nvPr/>
        </p:nvSpPr>
        <p:spPr>
          <a:xfrm>
            <a:off x="8074152" y="1627632"/>
            <a:ext cx="73152" cy="1298448"/>
          </a:xfrm>
          <a:prstGeom prst="rect">
            <a:avLst/>
          </a:prstGeom>
          <a:solidFill>
            <a:srgbClr val="2F9D68"/>
          </a:solidFill>
          <a:ln w="12700">
            <a:solidFill>
              <a:srgbClr val="2F9D68"/>
            </a:solidFill>
            <a:prstDash val="solid"/>
          </a:ln>
        </p:spPr>
        <p:txBody>
          <a:bodyPr/>
          <a:lstStyle/>
          <a:p>
            <a:endParaRPr lang="en-US"/>
          </a:p>
        </p:txBody>
      </p:sp>
      <p:sp>
        <p:nvSpPr>
          <p:cNvPr id="21" name="Shape 17"/>
          <p:cNvSpPr/>
          <p:nvPr/>
        </p:nvSpPr>
        <p:spPr>
          <a:xfrm>
            <a:off x="8238744" y="1773936"/>
            <a:ext cx="1234440" cy="310896"/>
          </a:xfrm>
          <a:prstGeom prst="roundRect">
            <a:avLst>
              <a:gd name="adj" fmla="val 35294"/>
            </a:avLst>
          </a:prstGeom>
          <a:solidFill>
            <a:srgbClr val="F3F7FA"/>
          </a:solidFill>
          <a:ln w="12700">
            <a:solidFill>
              <a:srgbClr val="F3F7FA"/>
            </a:solidFill>
            <a:prstDash val="solid"/>
          </a:ln>
        </p:spPr>
        <p:txBody>
          <a:bodyPr/>
          <a:lstStyle/>
          <a:p>
            <a:endParaRPr lang="en-US"/>
          </a:p>
        </p:txBody>
      </p:sp>
      <p:sp>
        <p:nvSpPr>
          <p:cNvPr id="22" name="Text 18"/>
          <p:cNvSpPr txBox="1"/>
          <p:nvPr/>
        </p:nvSpPr>
        <p:spPr>
          <a:xfrm>
            <a:off x="8311896" y="1783080"/>
            <a:ext cx="1088136" cy="274320"/>
          </a:xfrm>
          <a:prstGeom prst="rect">
            <a:avLst/>
          </a:prstGeom>
          <a:noFill/>
          <a:ln/>
        </p:spPr>
        <p:txBody>
          <a:bodyPr wrap="square" lIns="0" tIns="0" rIns="0" bIns="0" rtlCol="0" anchor="ctr">
            <a:normAutofit/>
          </a:bodyPr>
          <a:lstStyle/>
          <a:p>
            <a:pPr marL="0" indent="0" algn="ctr">
              <a:buNone/>
            </a:pPr>
            <a:r>
              <a:rPr lang="en-US" sz="950" b="1" dirty="0">
                <a:solidFill>
                  <a:srgbClr val="2F9D68"/>
                </a:solidFill>
                <a:latin typeface="Aptos" pitchFamily="34" charset="0"/>
                <a:ea typeface="Aptos" pitchFamily="34" charset="-122"/>
                <a:cs typeface="Aptos" pitchFamily="34" charset="-120"/>
              </a:rPr>
              <a:t>CONECTIVIDAD</a:t>
            </a:r>
            <a:endParaRPr lang="en-US" sz="950" dirty="0"/>
          </a:p>
        </p:txBody>
      </p:sp>
      <p:pic>
        <p:nvPicPr>
          <p:cNvPr id="2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83112" y="1783080"/>
            <a:ext cx="310896" cy="310896"/>
          </a:xfrm>
          <a:prstGeom prst="rect">
            <a:avLst/>
          </a:prstGeom>
        </p:spPr>
      </p:pic>
      <p:sp>
        <p:nvSpPr>
          <p:cNvPr id="24" name="Text 19"/>
          <p:cNvSpPr txBox="1"/>
          <p:nvPr/>
        </p:nvSpPr>
        <p:spPr>
          <a:xfrm>
            <a:off x="8238744" y="2139696"/>
            <a:ext cx="3236976" cy="292608"/>
          </a:xfrm>
          <a:prstGeom prst="rect">
            <a:avLst/>
          </a:prstGeom>
          <a:noFill/>
          <a:ln/>
        </p:spPr>
        <p:txBody>
          <a:bodyPr wrap="square" lIns="0" tIns="0" rIns="0" bIns="0" rtlCol="0" anchor="ctr">
            <a:normAutofit/>
          </a:bodyPr>
          <a:lstStyle/>
          <a:p>
            <a:pPr marL="0" indent="0" algn="l">
              <a:buNone/>
            </a:pPr>
            <a:r>
              <a:rPr lang="en-US" sz="1340" b="1" dirty="0">
                <a:solidFill>
                  <a:srgbClr val="173042"/>
                </a:solidFill>
                <a:latin typeface="Aptos" pitchFamily="34" charset="0"/>
                <a:ea typeface="Aptos" pitchFamily="34" charset="-122"/>
                <a:cs typeface="Aptos" pitchFamily="34" charset="-120"/>
              </a:rPr>
              <a:t>Offline-First + Store-and-Forward</a:t>
            </a:r>
            <a:endParaRPr lang="en-US" sz="1340" dirty="0"/>
          </a:p>
        </p:txBody>
      </p:sp>
      <p:sp>
        <p:nvSpPr>
          <p:cNvPr id="25" name="Text 20"/>
          <p:cNvSpPr txBox="1"/>
          <p:nvPr/>
        </p:nvSpPr>
        <p:spPr>
          <a:xfrm>
            <a:off x="8238744" y="2450592"/>
            <a:ext cx="3273552" cy="347472"/>
          </a:xfrm>
          <a:prstGeom prst="rect">
            <a:avLst/>
          </a:prstGeom>
          <a:noFill/>
          <a:ln/>
        </p:spPr>
        <p:txBody>
          <a:bodyPr wrap="square" lIns="0" tIns="0" rIns="0" bIns="0" rtlCol="0" anchor="t">
            <a:normAutofit/>
          </a:bodyPr>
          <a:lstStyle/>
          <a:p>
            <a:pPr marL="0" indent="0" algn="l">
              <a:buNone/>
            </a:pPr>
            <a:r>
              <a:rPr lang="en-US" sz="960" dirty="0">
                <a:solidFill>
                  <a:srgbClr val="5F7484"/>
                </a:solidFill>
                <a:latin typeface="Aptos" pitchFamily="34" charset="0"/>
                <a:ea typeface="Aptos" pitchFamily="34" charset="-122"/>
                <a:cs typeface="Aptos" pitchFamily="34" charset="-120"/>
              </a:rPr>
              <a:t>Mantiene operaciones críticas y las sincroniza al restablecerse la conexión.</a:t>
            </a:r>
            <a:endParaRPr lang="en-US" sz="960" dirty="0"/>
          </a:p>
        </p:txBody>
      </p:sp>
      <p:sp>
        <p:nvSpPr>
          <p:cNvPr id="26" name="Shape 21"/>
          <p:cNvSpPr/>
          <p:nvPr/>
        </p:nvSpPr>
        <p:spPr>
          <a:xfrm>
            <a:off x="502920" y="3163824"/>
            <a:ext cx="3621024" cy="1298448"/>
          </a:xfrm>
          <a:prstGeom prst="roundRect">
            <a:avLst>
              <a:gd name="adj" fmla="val 8451"/>
            </a:avLst>
          </a:prstGeom>
          <a:solidFill>
            <a:srgbClr val="FFFFFF"/>
          </a:solidFill>
          <a:ln w="12700">
            <a:solidFill>
              <a:srgbClr val="D8E4EC"/>
            </a:solidFill>
            <a:prstDash val="solid"/>
          </a:ln>
        </p:spPr>
        <p:txBody>
          <a:bodyPr/>
          <a:lstStyle/>
          <a:p>
            <a:endParaRPr lang="en-US"/>
          </a:p>
        </p:txBody>
      </p:sp>
      <p:sp>
        <p:nvSpPr>
          <p:cNvPr id="27" name="Shape 22"/>
          <p:cNvSpPr/>
          <p:nvPr/>
        </p:nvSpPr>
        <p:spPr>
          <a:xfrm>
            <a:off x="502920" y="3163824"/>
            <a:ext cx="73152" cy="1298448"/>
          </a:xfrm>
          <a:prstGeom prst="rect">
            <a:avLst/>
          </a:prstGeom>
          <a:solidFill>
            <a:srgbClr val="6B6FD8"/>
          </a:solidFill>
          <a:ln w="12700">
            <a:solidFill>
              <a:srgbClr val="6B6FD8"/>
            </a:solidFill>
            <a:prstDash val="solid"/>
          </a:ln>
        </p:spPr>
        <p:txBody>
          <a:bodyPr/>
          <a:lstStyle/>
          <a:p>
            <a:endParaRPr lang="en-US"/>
          </a:p>
        </p:txBody>
      </p:sp>
      <p:sp>
        <p:nvSpPr>
          <p:cNvPr id="28" name="Shape 23"/>
          <p:cNvSpPr/>
          <p:nvPr/>
        </p:nvSpPr>
        <p:spPr>
          <a:xfrm>
            <a:off x="667512" y="3310128"/>
            <a:ext cx="1234440" cy="310896"/>
          </a:xfrm>
          <a:prstGeom prst="roundRect">
            <a:avLst>
              <a:gd name="adj" fmla="val 35294"/>
            </a:avLst>
          </a:prstGeom>
          <a:solidFill>
            <a:srgbClr val="F3F7FA"/>
          </a:solidFill>
          <a:ln w="12700">
            <a:solidFill>
              <a:srgbClr val="F3F7FA"/>
            </a:solidFill>
            <a:prstDash val="solid"/>
          </a:ln>
        </p:spPr>
        <p:txBody>
          <a:bodyPr/>
          <a:lstStyle/>
          <a:p>
            <a:endParaRPr lang="en-US"/>
          </a:p>
        </p:txBody>
      </p:sp>
      <p:sp>
        <p:nvSpPr>
          <p:cNvPr id="29" name="Text 24"/>
          <p:cNvSpPr txBox="1"/>
          <p:nvPr/>
        </p:nvSpPr>
        <p:spPr>
          <a:xfrm>
            <a:off x="740664" y="3319272"/>
            <a:ext cx="1088136" cy="274320"/>
          </a:xfrm>
          <a:prstGeom prst="rect">
            <a:avLst/>
          </a:prstGeom>
          <a:noFill/>
          <a:ln/>
        </p:spPr>
        <p:txBody>
          <a:bodyPr wrap="square" lIns="0" tIns="0" rIns="0" bIns="0" rtlCol="0" anchor="ctr">
            <a:normAutofit/>
          </a:bodyPr>
          <a:lstStyle/>
          <a:p>
            <a:pPr marL="0" indent="0" algn="ctr">
              <a:buNone/>
            </a:pPr>
            <a:r>
              <a:rPr lang="en-US" sz="950" b="1" dirty="0">
                <a:solidFill>
                  <a:srgbClr val="6B6FD8"/>
                </a:solidFill>
                <a:latin typeface="Aptos" pitchFamily="34" charset="0"/>
                <a:ea typeface="Aptos" pitchFamily="34" charset="-122"/>
                <a:cs typeface="Aptos" pitchFamily="34" charset="-120"/>
              </a:rPr>
              <a:t>RESILIENCIA</a:t>
            </a:r>
            <a:endParaRPr lang="en-US" sz="950" dirty="0"/>
          </a:p>
        </p:txBody>
      </p:sp>
      <p:pic>
        <p:nvPicPr>
          <p:cNvPr id="3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11880" y="3319272"/>
            <a:ext cx="310896" cy="310896"/>
          </a:xfrm>
          <a:prstGeom prst="rect">
            <a:avLst/>
          </a:prstGeom>
        </p:spPr>
      </p:pic>
      <p:sp>
        <p:nvSpPr>
          <p:cNvPr id="31" name="Text 25"/>
          <p:cNvSpPr txBox="1"/>
          <p:nvPr/>
        </p:nvSpPr>
        <p:spPr>
          <a:xfrm>
            <a:off x="667512" y="3675888"/>
            <a:ext cx="3236976" cy="292608"/>
          </a:xfrm>
          <a:prstGeom prst="rect">
            <a:avLst/>
          </a:prstGeom>
          <a:noFill/>
          <a:ln/>
        </p:spPr>
        <p:txBody>
          <a:bodyPr wrap="square" lIns="0" tIns="0" rIns="0" bIns="0" rtlCol="0" anchor="ctr">
            <a:normAutofit/>
          </a:bodyPr>
          <a:lstStyle/>
          <a:p>
            <a:pPr marL="0" indent="0" algn="l">
              <a:buNone/>
            </a:pPr>
            <a:r>
              <a:rPr lang="en-US" sz="1340" b="1" dirty="0">
                <a:solidFill>
                  <a:srgbClr val="173042"/>
                </a:solidFill>
                <a:latin typeface="Aptos" pitchFamily="34" charset="0"/>
                <a:ea typeface="Aptos" pitchFamily="34" charset="-122"/>
                <a:cs typeface="Aptos" pitchFamily="34" charset="-120"/>
              </a:rPr>
              <a:t>Timeout · Retry · Circuit Breaker</a:t>
            </a:r>
            <a:endParaRPr lang="en-US" sz="1340" dirty="0"/>
          </a:p>
        </p:txBody>
      </p:sp>
      <p:sp>
        <p:nvSpPr>
          <p:cNvPr id="32" name="Text 26"/>
          <p:cNvSpPr txBox="1"/>
          <p:nvPr/>
        </p:nvSpPr>
        <p:spPr>
          <a:xfrm>
            <a:off x="667512" y="3986784"/>
            <a:ext cx="3273552" cy="347472"/>
          </a:xfrm>
          <a:prstGeom prst="rect">
            <a:avLst/>
          </a:prstGeom>
          <a:noFill/>
          <a:ln/>
        </p:spPr>
        <p:txBody>
          <a:bodyPr wrap="square" lIns="0" tIns="0" rIns="0" bIns="0" rtlCol="0" anchor="t">
            <a:normAutofit/>
          </a:bodyPr>
          <a:lstStyle/>
          <a:p>
            <a:pPr marL="0" indent="0" algn="l">
              <a:buNone/>
            </a:pPr>
            <a:r>
              <a:rPr lang="en-US" sz="960" dirty="0">
                <a:solidFill>
                  <a:srgbClr val="5F7484"/>
                </a:solidFill>
                <a:latin typeface="Aptos" pitchFamily="34" charset="0"/>
                <a:ea typeface="Aptos" pitchFamily="34" charset="-122"/>
                <a:cs typeface="Aptos" pitchFamily="34" charset="-120"/>
              </a:rPr>
              <a:t>Aísla fallos de identidad, mapas y notificaciones sin detener la operación principal.</a:t>
            </a:r>
            <a:endParaRPr lang="en-US" sz="960" dirty="0"/>
          </a:p>
        </p:txBody>
      </p:sp>
      <p:sp>
        <p:nvSpPr>
          <p:cNvPr id="33" name="Shape 27"/>
          <p:cNvSpPr/>
          <p:nvPr/>
        </p:nvSpPr>
        <p:spPr>
          <a:xfrm>
            <a:off x="4288536" y="3163824"/>
            <a:ext cx="3621024" cy="1298448"/>
          </a:xfrm>
          <a:prstGeom prst="roundRect">
            <a:avLst>
              <a:gd name="adj" fmla="val 8451"/>
            </a:avLst>
          </a:prstGeom>
          <a:solidFill>
            <a:srgbClr val="FFFFFF"/>
          </a:solidFill>
          <a:ln w="12700">
            <a:solidFill>
              <a:srgbClr val="D8E4EC"/>
            </a:solidFill>
            <a:prstDash val="solid"/>
          </a:ln>
        </p:spPr>
        <p:txBody>
          <a:bodyPr/>
          <a:lstStyle/>
          <a:p>
            <a:endParaRPr lang="en-US"/>
          </a:p>
        </p:txBody>
      </p:sp>
      <p:sp>
        <p:nvSpPr>
          <p:cNvPr id="34" name="Shape 28"/>
          <p:cNvSpPr/>
          <p:nvPr/>
        </p:nvSpPr>
        <p:spPr>
          <a:xfrm>
            <a:off x="4288536" y="3163824"/>
            <a:ext cx="73152" cy="1298448"/>
          </a:xfrm>
          <a:prstGeom prst="rect">
            <a:avLst/>
          </a:prstGeom>
          <a:solidFill>
            <a:srgbClr val="D79A27"/>
          </a:solidFill>
          <a:ln w="12700">
            <a:solidFill>
              <a:srgbClr val="D79A27"/>
            </a:solidFill>
            <a:prstDash val="solid"/>
          </a:ln>
        </p:spPr>
        <p:txBody>
          <a:bodyPr/>
          <a:lstStyle/>
          <a:p>
            <a:endParaRPr lang="en-US"/>
          </a:p>
        </p:txBody>
      </p:sp>
      <p:sp>
        <p:nvSpPr>
          <p:cNvPr id="35" name="Shape 29"/>
          <p:cNvSpPr/>
          <p:nvPr/>
        </p:nvSpPr>
        <p:spPr>
          <a:xfrm>
            <a:off x="4453128" y="3310128"/>
            <a:ext cx="1234440" cy="310896"/>
          </a:xfrm>
          <a:prstGeom prst="roundRect">
            <a:avLst>
              <a:gd name="adj" fmla="val 35294"/>
            </a:avLst>
          </a:prstGeom>
          <a:solidFill>
            <a:srgbClr val="F3F7FA"/>
          </a:solidFill>
          <a:ln w="12700">
            <a:solidFill>
              <a:srgbClr val="F3F7FA"/>
            </a:solidFill>
            <a:prstDash val="solid"/>
          </a:ln>
        </p:spPr>
        <p:txBody>
          <a:bodyPr/>
          <a:lstStyle/>
          <a:p>
            <a:endParaRPr lang="en-US"/>
          </a:p>
        </p:txBody>
      </p:sp>
      <p:sp>
        <p:nvSpPr>
          <p:cNvPr id="36" name="Text 30"/>
          <p:cNvSpPr txBox="1"/>
          <p:nvPr/>
        </p:nvSpPr>
        <p:spPr>
          <a:xfrm>
            <a:off x="4526280" y="3319272"/>
            <a:ext cx="1088136" cy="274320"/>
          </a:xfrm>
          <a:prstGeom prst="rect">
            <a:avLst/>
          </a:prstGeom>
          <a:noFill/>
          <a:ln/>
        </p:spPr>
        <p:txBody>
          <a:bodyPr wrap="square" lIns="0" tIns="0" rIns="0" bIns="0" rtlCol="0" anchor="ctr">
            <a:normAutofit/>
          </a:bodyPr>
          <a:lstStyle/>
          <a:p>
            <a:pPr marL="0" indent="0" algn="ctr">
              <a:buNone/>
            </a:pPr>
            <a:r>
              <a:rPr lang="en-US" sz="950" b="1" dirty="0">
                <a:solidFill>
                  <a:srgbClr val="D79A27"/>
                </a:solidFill>
                <a:latin typeface="Aptos" pitchFamily="34" charset="0"/>
                <a:ea typeface="Aptos" pitchFamily="34" charset="-122"/>
                <a:cs typeface="Aptos" pitchFamily="34" charset="-120"/>
              </a:rPr>
              <a:t>RENDIMIENTO</a:t>
            </a:r>
            <a:endParaRPr lang="en-US" sz="950" dirty="0"/>
          </a:p>
        </p:txBody>
      </p:sp>
      <p:pic>
        <p:nvPicPr>
          <p:cNvPr id="3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397496" y="3319272"/>
            <a:ext cx="310896" cy="310896"/>
          </a:xfrm>
          <a:prstGeom prst="rect">
            <a:avLst/>
          </a:prstGeom>
        </p:spPr>
      </p:pic>
      <p:sp>
        <p:nvSpPr>
          <p:cNvPr id="38" name="Text 31"/>
          <p:cNvSpPr txBox="1"/>
          <p:nvPr/>
        </p:nvSpPr>
        <p:spPr>
          <a:xfrm>
            <a:off x="4453128" y="3675888"/>
            <a:ext cx="3236976" cy="292608"/>
          </a:xfrm>
          <a:prstGeom prst="rect">
            <a:avLst/>
          </a:prstGeom>
          <a:noFill/>
          <a:ln/>
        </p:spPr>
        <p:txBody>
          <a:bodyPr wrap="square" lIns="0" tIns="0" rIns="0" bIns="0" rtlCol="0" anchor="ctr">
            <a:normAutofit/>
          </a:bodyPr>
          <a:lstStyle/>
          <a:p>
            <a:pPr marL="0" indent="0" algn="l">
              <a:buNone/>
            </a:pPr>
            <a:r>
              <a:rPr lang="en-US" sz="1340" b="1" dirty="0">
                <a:solidFill>
                  <a:srgbClr val="173042"/>
                </a:solidFill>
                <a:latin typeface="Aptos" pitchFamily="34" charset="0"/>
                <a:ea typeface="Aptos" pitchFamily="34" charset="-122"/>
                <a:cs typeface="Aptos" pitchFamily="34" charset="-120"/>
              </a:rPr>
              <a:t>Cache-Aside</a:t>
            </a:r>
            <a:endParaRPr lang="en-US" sz="1340" dirty="0"/>
          </a:p>
        </p:txBody>
      </p:sp>
      <p:sp>
        <p:nvSpPr>
          <p:cNvPr id="39" name="Text 32"/>
          <p:cNvSpPr txBox="1"/>
          <p:nvPr/>
        </p:nvSpPr>
        <p:spPr>
          <a:xfrm>
            <a:off x="4453128" y="3986784"/>
            <a:ext cx="3273552" cy="347472"/>
          </a:xfrm>
          <a:prstGeom prst="rect">
            <a:avLst/>
          </a:prstGeom>
          <a:noFill/>
          <a:ln/>
        </p:spPr>
        <p:txBody>
          <a:bodyPr wrap="square" lIns="0" tIns="0" rIns="0" bIns="0" rtlCol="0" anchor="t">
            <a:normAutofit/>
          </a:bodyPr>
          <a:lstStyle/>
          <a:p>
            <a:pPr marL="0" indent="0" algn="l">
              <a:buNone/>
            </a:pPr>
            <a:r>
              <a:rPr lang="en-US" sz="960" dirty="0">
                <a:solidFill>
                  <a:srgbClr val="5F7484"/>
                </a:solidFill>
                <a:latin typeface="Aptos" pitchFamily="34" charset="0"/>
                <a:ea typeface="Aptos" pitchFamily="34" charset="-122"/>
                <a:cs typeface="Aptos" pitchFamily="34" charset="-120"/>
              </a:rPr>
              <a:t>Acelera configuraciones, resúmenes de rutas activas y última ubicación conocida.</a:t>
            </a:r>
            <a:endParaRPr lang="en-US" sz="960" dirty="0"/>
          </a:p>
        </p:txBody>
      </p:sp>
      <p:sp>
        <p:nvSpPr>
          <p:cNvPr id="40" name="Shape 33"/>
          <p:cNvSpPr/>
          <p:nvPr/>
        </p:nvSpPr>
        <p:spPr>
          <a:xfrm>
            <a:off x="8074152" y="3163824"/>
            <a:ext cx="3621024" cy="1298448"/>
          </a:xfrm>
          <a:prstGeom prst="roundRect">
            <a:avLst>
              <a:gd name="adj" fmla="val 8451"/>
            </a:avLst>
          </a:prstGeom>
          <a:solidFill>
            <a:srgbClr val="FFFFFF"/>
          </a:solidFill>
          <a:ln w="12700">
            <a:solidFill>
              <a:srgbClr val="D8E4EC"/>
            </a:solidFill>
            <a:prstDash val="solid"/>
          </a:ln>
        </p:spPr>
        <p:txBody>
          <a:bodyPr/>
          <a:lstStyle/>
          <a:p>
            <a:endParaRPr lang="en-US"/>
          </a:p>
        </p:txBody>
      </p:sp>
      <p:sp>
        <p:nvSpPr>
          <p:cNvPr id="41" name="Shape 34"/>
          <p:cNvSpPr/>
          <p:nvPr/>
        </p:nvSpPr>
        <p:spPr>
          <a:xfrm>
            <a:off x="8074152" y="3163824"/>
            <a:ext cx="73152" cy="1298448"/>
          </a:xfrm>
          <a:prstGeom prst="rect">
            <a:avLst/>
          </a:prstGeom>
          <a:solidFill>
            <a:srgbClr val="20A3B8"/>
          </a:solidFill>
          <a:ln w="12700">
            <a:solidFill>
              <a:srgbClr val="20A3B8"/>
            </a:solidFill>
            <a:prstDash val="solid"/>
          </a:ln>
        </p:spPr>
        <p:txBody>
          <a:bodyPr/>
          <a:lstStyle/>
          <a:p>
            <a:endParaRPr lang="en-US"/>
          </a:p>
        </p:txBody>
      </p:sp>
      <p:sp>
        <p:nvSpPr>
          <p:cNvPr id="42" name="Shape 35"/>
          <p:cNvSpPr/>
          <p:nvPr/>
        </p:nvSpPr>
        <p:spPr>
          <a:xfrm>
            <a:off x="8238744" y="3310128"/>
            <a:ext cx="1234440" cy="310896"/>
          </a:xfrm>
          <a:prstGeom prst="roundRect">
            <a:avLst>
              <a:gd name="adj" fmla="val 35294"/>
            </a:avLst>
          </a:prstGeom>
          <a:solidFill>
            <a:srgbClr val="F3F7FA"/>
          </a:solidFill>
          <a:ln w="12700">
            <a:solidFill>
              <a:srgbClr val="F3F7FA"/>
            </a:solidFill>
            <a:prstDash val="solid"/>
          </a:ln>
        </p:spPr>
        <p:txBody>
          <a:bodyPr/>
          <a:lstStyle/>
          <a:p>
            <a:endParaRPr lang="en-US"/>
          </a:p>
        </p:txBody>
      </p:sp>
      <p:sp>
        <p:nvSpPr>
          <p:cNvPr id="43" name="Text 36"/>
          <p:cNvSpPr txBox="1"/>
          <p:nvPr/>
        </p:nvSpPr>
        <p:spPr>
          <a:xfrm>
            <a:off x="8311896" y="3319272"/>
            <a:ext cx="1088136" cy="274320"/>
          </a:xfrm>
          <a:prstGeom prst="rect">
            <a:avLst/>
          </a:prstGeom>
          <a:noFill/>
          <a:ln/>
        </p:spPr>
        <p:txBody>
          <a:bodyPr wrap="square" lIns="0" tIns="0" rIns="0" bIns="0" rtlCol="0" anchor="ctr">
            <a:normAutofit/>
          </a:bodyPr>
          <a:lstStyle/>
          <a:p>
            <a:pPr marL="0" indent="0" algn="ctr">
              <a:buNone/>
            </a:pPr>
            <a:r>
              <a:rPr lang="en-US" sz="950" b="1" dirty="0">
                <a:solidFill>
                  <a:srgbClr val="20A3B8"/>
                </a:solidFill>
                <a:latin typeface="Aptos" pitchFamily="34" charset="0"/>
                <a:ea typeface="Aptos" pitchFamily="34" charset="-122"/>
                <a:cs typeface="Aptos" pitchFamily="34" charset="-120"/>
              </a:rPr>
              <a:t>ENTRADA SEGURA</a:t>
            </a:r>
            <a:endParaRPr lang="en-US" sz="950" dirty="0"/>
          </a:p>
        </p:txBody>
      </p:sp>
      <p:pic>
        <p:nvPicPr>
          <p:cNvPr id="44"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183112" y="3319272"/>
            <a:ext cx="310896" cy="310896"/>
          </a:xfrm>
          <a:prstGeom prst="rect">
            <a:avLst/>
          </a:prstGeom>
        </p:spPr>
      </p:pic>
      <p:sp>
        <p:nvSpPr>
          <p:cNvPr id="45" name="Text 37"/>
          <p:cNvSpPr txBox="1"/>
          <p:nvPr/>
        </p:nvSpPr>
        <p:spPr>
          <a:xfrm>
            <a:off x="8238744" y="3675888"/>
            <a:ext cx="3236976" cy="292608"/>
          </a:xfrm>
          <a:prstGeom prst="rect">
            <a:avLst/>
          </a:prstGeom>
          <a:noFill/>
          <a:ln/>
        </p:spPr>
        <p:txBody>
          <a:bodyPr wrap="square" lIns="0" tIns="0" rIns="0" bIns="0" rtlCol="0" anchor="ctr">
            <a:normAutofit/>
          </a:bodyPr>
          <a:lstStyle/>
          <a:p>
            <a:pPr marL="0" indent="0" algn="l">
              <a:buNone/>
            </a:pPr>
            <a:r>
              <a:rPr lang="en-US" sz="1340" b="1" dirty="0">
                <a:solidFill>
                  <a:srgbClr val="173042"/>
                </a:solidFill>
                <a:latin typeface="Aptos" pitchFamily="34" charset="0"/>
                <a:ea typeface="Aptos" pitchFamily="34" charset="-122"/>
                <a:cs typeface="Aptos" pitchFamily="34" charset="-120"/>
              </a:rPr>
              <a:t>API Gateway</a:t>
            </a:r>
            <a:endParaRPr lang="en-US" sz="1340" dirty="0"/>
          </a:p>
        </p:txBody>
      </p:sp>
      <p:sp>
        <p:nvSpPr>
          <p:cNvPr id="46" name="Text 38"/>
          <p:cNvSpPr txBox="1"/>
          <p:nvPr/>
        </p:nvSpPr>
        <p:spPr>
          <a:xfrm>
            <a:off x="8238744" y="3986784"/>
            <a:ext cx="3273552" cy="347472"/>
          </a:xfrm>
          <a:prstGeom prst="rect">
            <a:avLst/>
          </a:prstGeom>
          <a:noFill/>
          <a:ln/>
        </p:spPr>
        <p:txBody>
          <a:bodyPr wrap="square" lIns="0" tIns="0" rIns="0" bIns="0" rtlCol="0" anchor="t">
            <a:normAutofit/>
          </a:bodyPr>
          <a:lstStyle/>
          <a:p>
            <a:pPr marL="0" indent="0" algn="l">
              <a:buNone/>
            </a:pPr>
            <a:r>
              <a:rPr lang="en-US" sz="960" dirty="0">
                <a:solidFill>
                  <a:srgbClr val="5F7484"/>
                </a:solidFill>
                <a:latin typeface="Aptos" pitchFamily="34" charset="0"/>
                <a:ea typeface="Aptos" pitchFamily="34" charset="-122"/>
                <a:cs typeface="Aptos" pitchFamily="34" charset="-120"/>
              </a:rPr>
              <a:t>Centraliza identidad, contexto multioperador, cuotas, correlación y enrutamiento.</a:t>
            </a:r>
            <a:endParaRPr lang="en-US" sz="960" dirty="0"/>
          </a:p>
        </p:txBody>
      </p:sp>
      <p:sp>
        <p:nvSpPr>
          <p:cNvPr id="47" name="Shape 39"/>
          <p:cNvSpPr/>
          <p:nvPr/>
        </p:nvSpPr>
        <p:spPr>
          <a:xfrm>
            <a:off x="502920" y="4736592"/>
            <a:ext cx="11192256" cy="822960"/>
          </a:xfrm>
          <a:prstGeom prst="roundRect">
            <a:avLst>
              <a:gd name="adj" fmla="val 13333"/>
            </a:avLst>
          </a:prstGeom>
          <a:solidFill>
            <a:srgbClr val="EEF3F7"/>
          </a:solidFill>
          <a:ln w="12700">
            <a:solidFill>
              <a:srgbClr val="D8E3EA"/>
            </a:solidFill>
            <a:prstDash val="solid"/>
          </a:ln>
        </p:spPr>
        <p:txBody>
          <a:bodyPr/>
          <a:lstStyle/>
          <a:p>
            <a:endParaRPr lang="en-US"/>
          </a:p>
        </p:txBody>
      </p:sp>
      <p:pic>
        <p:nvPicPr>
          <p:cNvPr id="48"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13232" y="4965192"/>
            <a:ext cx="347472" cy="347472"/>
          </a:xfrm>
          <a:prstGeom prst="rect">
            <a:avLst/>
          </a:prstGeom>
        </p:spPr>
      </p:pic>
      <p:sp>
        <p:nvSpPr>
          <p:cNvPr id="49" name="Text 40"/>
          <p:cNvSpPr/>
          <p:nvPr/>
        </p:nvSpPr>
        <p:spPr>
          <a:xfrm>
            <a:off x="1225296" y="4846320"/>
            <a:ext cx="10012680" cy="493776"/>
          </a:xfrm>
          <a:prstGeom prst="rect">
            <a:avLst/>
          </a:prstGeom>
          <a:noFill/>
          <a:ln/>
        </p:spPr>
        <p:txBody>
          <a:bodyPr wrap="square" lIns="0" tIns="0" rIns="0" bIns="0" rtlCol="0" anchor="ctr">
            <a:normAutofit/>
          </a:bodyPr>
          <a:lstStyle/>
          <a:p>
            <a:pPr marL="0" indent="0">
              <a:buNone/>
            </a:pPr>
            <a:r>
              <a:rPr lang="en-US" sz="1130" b="1" dirty="0">
                <a:solidFill>
                  <a:srgbClr val="173042"/>
                </a:solidFill>
                <a:latin typeface="Aptos" pitchFamily="34" charset="0"/>
                <a:ea typeface="Aptos" pitchFamily="34" charset="-122"/>
                <a:cs typeface="Aptos" pitchFamily="34" charset="-120"/>
              </a:rPr>
              <a:t>Saga orquestada: </a:t>
            </a:r>
            <a:r>
              <a:rPr lang="en-US" sz="1130" dirty="0">
                <a:solidFill>
                  <a:srgbClr val="5F7484"/>
                </a:solidFill>
                <a:latin typeface="Aptos" pitchFamily="34" charset="0"/>
                <a:ea typeface="Aptos" pitchFamily="34" charset="-122"/>
                <a:cs typeface="Aptos" pitchFamily="34" charset="-120"/>
              </a:rPr>
              <a:t>patrón reservado para procesos futuros que coordinen varios servicios y cuenten con compensaciones explícitas.</a:t>
            </a:r>
            <a:endParaRPr lang="en-US" sz="1130" dirty="0"/>
          </a:p>
        </p:txBody>
      </p:sp>
      <p:sp>
        <p:nvSpPr>
          <p:cNvPr id="51" name="Slide Number Placeholder 0"/>
          <p:cNvSpPr>
            <a:spLocks noGrp="1"/>
          </p:cNvSpPr>
          <p:nvPr>
            <p:ph type="sldNum" sz="quarter" idx="4294967295"/>
          </p:nvPr>
        </p:nvSpPr>
        <p:spPr>
          <a:xfrm>
            <a:off x="11823192"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AAB6C0"/>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292608"/>
            <a:ext cx="3017520" cy="201168"/>
          </a:xfrm>
          <a:prstGeom prst="rect">
            <a:avLst/>
          </a:prstGeom>
          <a:noFill/>
          <a:ln/>
        </p:spPr>
        <p:txBody>
          <a:bodyPr wrap="square" lIns="0" tIns="0" rIns="0" bIns="0" rtlCol="0" anchor="ctr">
            <a:normAutofit/>
          </a:bodyPr>
          <a:lstStyle/>
          <a:p>
            <a:pPr marL="0" indent="0" algn="l">
              <a:buNone/>
            </a:pPr>
            <a:r>
              <a:rPr lang="en-US" sz="900" b="1" kern="0" spc="120" dirty="0">
                <a:solidFill>
                  <a:srgbClr val="0A5E8C"/>
                </a:solidFill>
                <a:latin typeface="Aptos" pitchFamily="34" charset="0"/>
                <a:ea typeface="Aptos" pitchFamily="34" charset="-122"/>
                <a:cs typeface="Aptos" pitchFamily="34" charset="-120"/>
              </a:rPr>
              <a:t>07 · DESPLIEGUE</a:t>
            </a:r>
            <a:endParaRPr lang="en-US" sz="900" dirty="0"/>
          </a:p>
        </p:txBody>
      </p:sp>
      <p:sp>
        <p:nvSpPr>
          <p:cNvPr id="3" name="Text 1"/>
          <p:cNvSpPr txBox="1"/>
          <p:nvPr/>
        </p:nvSpPr>
        <p:spPr>
          <a:xfrm>
            <a:off x="502920" y="530352"/>
            <a:ext cx="11064240" cy="493776"/>
          </a:xfrm>
          <a:prstGeom prst="rect">
            <a:avLst/>
          </a:prstGeom>
          <a:noFill/>
          <a:ln/>
        </p:spPr>
        <p:txBody>
          <a:bodyPr wrap="square" lIns="0" tIns="0" rIns="0" bIns="0" rtlCol="0" anchor="ctr">
            <a:normAutofit/>
          </a:bodyPr>
          <a:lstStyle/>
          <a:p>
            <a:pPr marL="0" indent="0" algn="l">
              <a:buNone/>
            </a:pPr>
            <a:r>
              <a:rPr lang="en-US" sz="2700" b="1" dirty="0">
                <a:solidFill>
                  <a:srgbClr val="173042"/>
                </a:solidFill>
                <a:latin typeface="Aptos" pitchFamily="34" charset="0"/>
                <a:ea typeface="Aptos" pitchFamily="34" charset="-122"/>
                <a:cs typeface="Aptos" pitchFamily="34" charset="-120"/>
              </a:rPr>
              <a:t>De un entorno local de desarrollo a una operación productiva resiliente</a:t>
            </a:r>
            <a:endParaRPr lang="en-US" sz="2700" dirty="0"/>
          </a:p>
        </p:txBody>
      </p:sp>
      <p:sp>
        <p:nvSpPr>
          <p:cNvPr id="4" name="Text 2"/>
          <p:cNvSpPr txBox="1"/>
          <p:nvPr/>
        </p:nvSpPr>
        <p:spPr>
          <a:xfrm>
            <a:off x="502920" y="1024128"/>
            <a:ext cx="10972800" cy="384048"/>
          </a:xfrm>
          <a:prstGeom prst="rect">
            <a:avLst/>
          </a:prstGeom>
          <a:noFill/>
          <a:ln/>
        </p:spPr>
        <p:txBody>
          <a:bodyPr wrap="square" lIns="0" tIns="0" rIns="0" bIns="0" rtlCol="0" anchor="t">
            <a:normAutofit/>
          </a:bodyPr>
          <a:lstStyle/>
          <a:p>
            <a:pPr marL="0" indent="0" algn="l">
              <a:buNone/>
            </a:pPr>
            <a:r>
              <a:rPr lang="en-US" sz="1250" dirty="0">
                <a:solidFill>
                  <a:srgbClr val="5F7484"/>
                </a:solidFill>
                <a:latin typeface="Aptos" pitchFamily="34" charset="0"/>
                <a:ea typeface="Aptos" pitchFamily="34" charset="-122"/>
                <a:cs typeface="Aptos" pitchFamily="34" charset="-120"/>
              </a:rPr>
              <a:t>La misma separación de responsabilidades se conserva al pasar de contenedores locales a servicios administrados y redundantes.</a:t>
            </a:r>
            <a:endParaRPr lang="en-US" sz="1250" dirty="0"/>
          </a:p>
        </p:txBody>
      </p:sp>
      <p:sp>
        <p:nvSpPr>
          <p:cNvPr id="5" name="Shape 3"/>
          <p:cNvSpPr/>
          <p:nvPr/>
        </p:nvSpPr>
        <p:spPr>
          <a:xfrm>
            <a:off x="502920" y="1627632"/>
            <a:ext cx="3794760" cy="4434840"/>
          </a:xfrm>
          <a:prstGeom prst="roundRect">
            <a:avLst>
              <a:gd name="adj" fmla="val 2892"/>
            </a:avLst>
          </a:prstGeom>
          <a:solidFill>
            <a:srgbClr val="EEF4F8"/>
          </a:solidFill>
          <a:ln w="12700">
            <a:solidFill>
              <a:srgbClr val="DCE7EE"/>
            </a:solidFill>
            <a:prstDash val="solid"/>
          </a:ln>
        </p:spPr>
        <p:txBody>
          <a:bodyPr/>
          <a:lstStyle/>
          <a:p>
            <a:endParaRPr lang="en-US"/>
          </a:p>
        </p:txBody>
      </p:sp>
      <p:sp>
        <p:nvSpPr>
          <p:cNvPr id="6" name="Shape 4"/>
          <p:cNvSpPr/>
          <p:nvPr/>
        </p:nvSpPr>
        <p:spPr>
          <a:xfrm>
            <a:off x="749808" y="1847088"/>
            <a:ext cx="1234440" cy="310896"/>
          </a:xfrm>
          <a:prstGeom prst="roundRect">
            <a:avLst>
              <a:gd name="adj" fmla="val 35294"/>
            </a:avLst>
          </a:prstGeom>
          <a:solidFill>
            <a:srgbClr val="DCEBF4"/>
          </a:solidFill>
          <a:ln w="12700">
            <a:solidFill>
              <a:srgbClr val="DCEBF4"/>
            </a:solidFill>
            <a:prstDash val="solid"/>
          </a:ln>
        </p:spPr>
        <p:txBody>
          <a:bodyPr/>
          <a:lstStyle/>
          <a:p>
            <a:endParaRPr lang="en-US"/>
          </a:p>
        </p:txBody>
      </p:sp>
      <p:sp>
        <p:nvSpPr>
          <p:cNvPr id="7" name="Text 5"/>
          <p:cNvSpPr txBox="1"/>
          <p:nvPr/>
        </p:nvSpPr>
        <p:spPr>
          <a:xfrm>
            <a:off x="822960" y="1856232"/>
            <a:ext cx="1088136" cy="274320"/>
          </a:xfrm>
          <a:prstGeom prst="rect">
            <a:avLst/>
          </a:prstGeom>
          <a:noFill/>
          <a:ln/>
        </p:spPr>
        <p:txBody>
          <a:bodyPr wrap="square" lIns="0" tIns="0" rIns="0" bIns="0" rtlCol="0" anchor="ctr">
            <a:normAutofit/>
          </a:bodyPr>
          <a:lstStyle/>
          <a:p>
            <a:pPr marL="0" indent="0" algn="ctr">
              <a:buNone/>
            </a:pPr>
            <a:r>
              <a:rPr lang="en-US" sz="950" b="1" dirty="0">
                <a:solidFill>
                  <a:srgbClr val="0A5E8C"/>
                </a:solidFill>
                <a:latin typeface="Aptos" pitchFamily="34" charset="0"/>
                <a:ea typeface="Aptos" pitchFamily="34" charset="-122"/>
                <a:cs typeface="Aptos" pitchFamily="34" charset="-120"/>
              </a:rPr>
              <a:t>DESARROLLO</a:t>
            </a:r>
            <a:endParaRPr lang="en-US" sz="950" dirty="0"/>
          </a:p>
        </p:txBody>
      </p:sp>
      <p:sp>
        <p:nvSpPr>
          <p:cNvPr id="8" name="Shape 6"/>
          <p:cNvSpPr/>
          <p:nvPr/>
        </p:nvSpPr>
        <p:spPr>
          <a:xfrm>
            <a:off x="731520" y="2340864"/>
            <a:ext cx="768096" cy="768096"/>
          </a:xfrm>
          <a:prstGeom prst="ellipse">
            <a:avLst/>
          </a:prstGeom>
          <a:solidFill>
            <a:srgbClr val="0A5E8C"/>
          </a:solidFill>
          <a:ln w="12700">
            <a:solidFill>
              <a:srgbClr val="0A5E8C"/>
            </a:solidFill>
            <a:prstDash val="solid"/>
          </a:ln>
        </p:spPr>
        <p:txBody>
          <a:bodyPr/>
          <a:lstStyle/>
          <a:p>
            <a:endParaRPr lang="en-US"/>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3544" y="2532888"/>
            <a:ext cx="384048" cy="384048"/>
          </a:xfrm>
          <a:prstGeom prst="rect">
            <a:avLst/>
          </a:prstGeom>
        </p:spPr>
      </p:pic>
      <p:sp>
        <p:nvSpPr>
          <p:cNvPr id="10" name="Text 7"/>
          <p:cNvSpPr txBox="1"/>
          <p:nvPr/>
        </p:nvSpPr>
        <p:spPr>
          <a:xfrm>
            <a:off x="1664208" y="2423160"/>
            <a:ext cx="2148840" cy="310896"/>
          </a:xfrm>
          <a:prstGeom prst="rect">
            <a:avLst/>
          </a:prstGeom>
          <a:noFill/>
          <a:ln/>
        </p:spPr>
        <p:txBody>
          <a:bodyPr wrap="square" lIns="0" tIns="0" rIns="0" bIns="0" rtlCol="0" anchor="ctr">
            <a:normAutofit/>
          </a:bodyPr>
          <a:lstStyle/>
          <a:p>
            <a:pPr marL="0" indent="0" algn="l">
              <a:buNone/>
            </a:pPr>
            <a:r>
              <a:rPr lang="en-US" sz="1700" b="1" dirty="0">
                <a:solidFill>
                  <a:srgbClr val="173042"/>
                </a:solidFill>
                <a:latin typeface="Aptos" pitchFamily="34" charset="0"/>
                <a:ea typeface="Aptos" pitchFamily="34" charset="-122"/>
                <a:cs typeface="Aptos" pitchFamily="34" charset="-120"/>
              </a:rPr>
              <a:t>Docker Desktop local</a:t>
            </a:r>
            <a:endParaRPr lang="en-US" sz="1700"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7240" y="3108960"/>
            <a:ext cx="237744" cy="237744"/>
          </a:xfrm>
          <a:prstGeom prst="rect">
            <a:avLst/>
          </a:prstGeom>
        </p:spPr>
      </p:pic>
      <p:sp>
        <p:nvSpPr>
          <p:cNvPr id="12" name="Text 8"/>
          <p:cNvSpPr txBox="1"/>
          <p:nvPr/>
        </p:nvSpPr>
        <p:spPr>
          <a:xfrm>
            <a:off x="1115568" y="3063240"/>
            <a:ext cx="2816352" cy="310896"/>
          </a:xfrm>
          <a:prstGeom prst="rect">
            <a:avLst/>
          </a:prstGeom>
          <a:noFill/>
          <a:ln/>
        </p:spPr>
        <p:txBody>
          <a:bodyPr wrap="square" lIns="0" tIns="0" rIns="0" bIns="0" rtlCol="0" anchor="ctr">
            <a:normAutofit/>
          </a:bodyPr>
          <a:lstStyle/>
          <a:p>
            <a:pPr marL="0" indent="0" algn="l">
              <a:buNone/>
            </a:pPr>
            <a:r>
              <a:rPr lang="en-US" sz="1020" dirty="0">
                <a:solidFill>
                  <a:srgbClr val="173042"/>
                </a:solidFill>
                <a:latin typeface="Aptos" pitchFamily="34" charset="0"/>
                <a:ea typeface="Aptos" pitchFamily="34" charset="-122"/>
                <a:cs typeface="Aptos" pitchFamily="34" charset="-120"/>
              </a:rPr>
              <a:t>Un contenedor Node.js por servicio</a:t>
            </a:r>
            <a:endParaRPr lang="en-US" sz="1020"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7240" y="3547872"/>
            <a:ext cx="237744" cy="237744"/>
          </a:xfrm>
          <a:prstGeom prst="rect">
            <a:avLst/>
          </a:prstGeom>
        </p:spPr>
      </p:pic>
      <p:sp>
        <p:nvSpPr>
          <p:cNvPr id="14" name="Text 9"/>
          <p:cNvSpPr txBox="1"/>
          <p:nvPr/>
        </p:nvSpPr>
        <p:spPr>
          <a:xfrm>
            <a:off x="1115568" y="3502152"/>
            <a:ext cx="2816352" cy="310896"/>
          </a:xfrm>
          <a:prstGeom prst="rect">
            <a:avLst/>
          </a:prstGeom>
          <a:noFill/>
          <a:ln/>
        </p:spPr>
        <p:txBody>
          <a:bodyPr wrap="square" lIns="0" tIns="0" rIns="0" bIns="0" rtlCol="0" anchor="ctr">
            <a:normAutofit/>
          </a:bodyPr>
          <a:lstStyle/>
          <a:p>
            <a:pPr marL="0" indent="0" algn="l">
              <a:buNone/>
            </a:pPr>
            <a:r>
              <a:rPr lang="en-US" sz="1020" dirty="0">
                <a:solidFill>
                  <a:srgbClr val="173042"/>
                </a:solidFill>
                <a:latin typeface="Aptos" pitchFamily="34" charset="0"/>
                <a:ea typeface="Aptos" pitchFamily="34" charset="-122"/>
                <a:cs typeface="Aptos" pitchFamily="34" charset="-120"/>
              </a:rPr>
              <a:t>Kafka de instancia única</a:t>
            </a:r>
            <a:endParaRPr lang="en-US" sz="102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7240" y="3986784"/>
            <a:ext cx="237744" cy="237744"/>
          </a:xfrm>
          <a:prstGeom prst="rect">
            <a:avLst/>
          </a:prstGeom>
        </p:spPr>
      </p:pic>
      <p:sp>
        <p:nvSpPr>
          <p:cNvPr id="16" name="Text 10"/>
          <p:cNvSpPr txBox="1"/>
          <p:nvPr/>
        </p:nvSpPr>
        <p:spPr>
          <a:xfrm>
            <a:off x="1115568" y="3941064"/>
            <a:ext cx="2816352" cy="310896"/>
          </a:xfrm>
          <a:prstGeom prst="rect">
            <a:avLst/>
          </a:prstGeom>
          <a:noFill/>
          <a:ln/>
        </p:spPr>
        <p:txBody>
          <a:bodyPr wrap="square" lIns="0" tIns="0" rIns="0" bIns="0" rtlCol="0" anchor="ctr">
            <a:normAutofit/>
          </a:bodyPr>
          <a:lstStyle/>
          <a:p>
            <a:pPr marL="0" indent="0" algn="l">
              <a:buNone/>
            </a:pPr>
            <a:r>
              <a:rPr lang="en-US" sz="1020" dirty="0">
                <a:solidFill>
                  <a:srgbClr val="173042"/>
                </a:solidFill>
                <a:latin typeface="Aptos" pitchFamily="34" charset="0"/>
                <a:ea typeface="Aptos" pitchFamily="34" charset="-122"/>
                <a:cs typeface="Aptos" pitchFamily="34" charset="-120"/>
              </a:rPr>
              <a:t>PostgreSQL local y aislado</a:t>
            </a:r>
            <a:endParaRPr lang="en-US" sz="1020" dirty="0"/>
          </a:p>
        </p:txBody>
      </p:sp>
      <p:pic>
        <p:nvPicPr>
          <p:cNvPr id="17"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7240" y="4425696"/>
            <a:ext cx="237744" cy="237744"/>
          </a:xfrm>
          <a:prstGeom prst="rect">
            <a:avLst/>
          </a:prstGeom>
        </p:spPr>
      </p:pic>
      <p:sp>
        <p:nvSpPr>
          <p:cNvPr id="18" name="Text 11"/>
          <p:cNvSpPr txBox="1"/>
          <p:nvPr/>
        </p:nvSpPr>
        <p:spPr>
          <a:xfrm>
            <a:off x="1115568" y="4379976"/>
            <a:ext cx="2816352" cy="310896"/>
          </a:xfrm>
          <a:prstGeom prst="rect">
            <a:avLst/>
          </a:prstGeom>
          <a:noFill/>
          <a:ln/>
        </p:spPr>
        <p:txBody>
          <a:bodyPr wrap="square" lIns="0" tIns="0" rIns="0" bIns="0" rtlCol="0" anchor="ctr">
            <a:normAutofit/>
          </a:bodyPr>
          <a:lstStyle/>
          <a:p>
            <a:pPr marL="0" indent="0" algn="l">
              <a:buNone/>
            </a:pPr>
            <a:r>
              <a:rPr lang="en-US" sz="1020" dirty="0">
                <a:solidFill>
                  <a:srgbClr val="173042"/>
                </a:solidFill>
                <a:latin typeface="Aptos" pitchFamily="34" charset="0"/>
                <a:ea typeface="Aptos" pitchFamily="34" charset="-122"/>
                <a:cs typeface="Aptos" pitchFamily="34" charset="-120"/>
              </a:rPr>
              <a:t>Identidad, mapas y notificaciones simulados</a:t>
            </a:r>
            <a:endParaRPr lang="en-US" sz="1020" dirty="0"/>
          </a:p>
        </p:txBody>
      </p:sp>
      <p:pic>
        <p:nvPicPr>
          <p:cNvPr id="19"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7240" y="4864608"/>
            <a:ext cx="237744" cy="237744"/>
          </a:xfrm>
          <a:prstGeom prst="rect">
            <a:avLst/>
          </a:prstGeom>
        </p:spPr>
      </p:pic>
      <p:sp>
        <p:nvSpPr>
          <p:cNvPr id="20" name="Text 12"/>
          <p:cNvSpPr txBox="1"/>
          <p:nvPr/>
        </p:nvSpPr>
        <p:spPr>
          <a:xfrm>
            <a:off x="1115568" y="4818888"/>
            <a:ext cx="2816352" cy="310896"/>
          </a:xfrm>
          <a:prstGeom prst="rect">
            <a:avLst/>
          </a:prstGeom>
          <a:noFill/>
          <a:ln/>
        </p:spPr>
        <p:txBody>
          <a:bodyPr wrap="square" lIns="0" tIns="0" rIns="0" bIns="0" rtlCol="0" anchor="ctr">
            <a:normAutofit/>
          </a:bodyPr>
          <a:lstStyle/>
          <a:p>
            <a:pPr marL="0" indent="0" algn="l">
              <a:buNone/>
            </a:pPr>
            <a:r>
              <a:rPr lang="en-US" sz="1020" dirty="0">
                <a:solidFill>
                  <a:srgbClr val="173042"/>
                </a:solidFill>
                <a:latin typeface="Aptos" pitchFamily="34" charset="0"/>
                <a:ea typeface="Aptos" pitchFamily="34" charset="-122"/>
                <a:cs typeface="Aptos" pitchFamily="34" charset="-120"/>
              </a:rPr>
              <a:t>Datos sintéticos para iteración rápida</a:t>
            </a:r>
            <a:endParaRPr lang="en-US" sz="1020" dirty="0"/>
          </a:p>
        </p:txBody>
      </p:sp>
      <p:pic>
        <p:nvPicPr>
          <p:cNvPr id="21" name="Image 6"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99432" y="3319272"/>
            <a:ext cx="731520" cy="731520"/>
          </a:xfrm>
          <a:prstGeom prst="rect">
            <a:avLst/>
          </a:prstGeom>
        </p:spPr>
      </p:pic>
      <p:sp>
        <p:nvSpPr>
          <p:cNvPr id="22" name="Text 13"/>
          <p:cNvSpPr txBox="1"/>
          <p:nvPr/>
        </p:nvSpPr>
        <p:spPr>
          <a:xfrm>
            <a:off x="4471416" y="3986784"/>
            <a:ext cx="987552" cy="512064"/>
          </a:xfrm>
          <a:prstGeom prst="rect">
            <a:avLst/>
          </a:prstGeom>
          <a:noFill/>
          <a:ln/>
        </p:spPr>
        <p:txBody>
          <a:bodyPr wrap="square" lIns="0" tIns="0" rIns="0" bIns="0" rtlCol="0" anchor="ctr">
            <a:normAutofit/>
          </a:bodyPr>
          <a:lstStyle/>
          <a:p>
            <a:pPr marL="0" indent="0" algn="ctr">
              <a:buNone/>
            </a:pPr>
            <a:r>
              <a:rPr lang="en-US" sz="960" b="1" dirty="0">
                <a:solidFill>
                  <a:srgbClr val="5F7484"/>
                </a:solidFill>
                <a:latin typeface="Aptos" pitchFamily="34" charset="0"/>
                <a:ea typeface="Aptos" pitchFamily="34" charset="-122"/>
                <a:cs typeface="Aptos" pitchFamily="34" charset="-120"/>
              </a:rPr>
              <a:t>mismo diseño</a:t>
            </a:r>
            <a:endParaRPr lang="en-US" sz="960" dirty="0"/>
          </a:p>
          <a:p>
            <a:pPr marL="0" indent="0" algn="ctr">
              <a:buNone/>
            </a:pPr>
            <a:r>
              <a:rPr lang="en-US" sz="960" b="1" dirty="0">
                <a:solidFill>
                  <a:srgbClr val="5F7484"/>
                </a:solidFill>
                <a:latin typeface="Aptos" pitchFamily="34" charset="0"/>
                <a:ea typeface="Aptos" pitchFamily="34" charset="-122"/>
                <a:cs typeface="Aptos" pitchFamily="34" charset="-120"/>
              </a:rPr>
              <a:t>mayor resiliencia</a:t>
            </a:r>
            <a:endParaRPr lang="en-US" sz="960" dirty="0"/>
          </a:p>
        </p:txBody>
      </p:sp>
      <p:sp>
        <p:nvSpPr>
          <p:cNvPr id="23" name="Shape 14"/>
          <p:cNvSpPr/>
          <p:nvPr/>
        </p:nvSpPr>
        <p:spPr>
          <a:xfrm>
            <a:off x="5532120" y="1627632"/>
            <a:ext cx="6163056" cy="4434840"/>
          </a:xfrm>
          <a:prstGeom prst="roundRect">
            <a:avLst>
              <a:gd name="adj" fmla="val 2474"/>
            </a:avLst>
          </a:prstGeom>
          <a:solidFill>
            <a:srgbClr val="FFFFFF"/>
          </a:solidFill>
          <a:ln w="12700">
            <a:solidFill>
              <a:srgbClr val="D8E4EC"/>
            </a:solidFill>
            <a:prstDash val="solid"/>
          </a:ln>
        </p:spPr>
        <p:txBody>
          <a:bodyPr/>
          <a:lstStyle/>
          <a:p>
            <a:endParaRPr lang="en-US"/>
          </a:p>
        </p:txBody>
      </p:sp>
      <p:sp>
        <p:nvSpPr>
          <p:cNvPr id="24" name="Shape 15"/>
          <p:cNvSpPr/>
          <p:nvPr/>
        </p:nvSpPr>
        <p:spPr>
          <a:xfrm>
            <a:off x="5769864" y="1847088"/>
            <a:ext cx="1234440" cy="310896"/>
          </a:xfrm>
          <a:prstGeom prst="roundRect">
            <a:avLst>
              <a:gd name="adj" fmla="val 35294"/>
            </a:avLst>
          </a:prstGeom>
          <a:solidFill>
            <a:srgbClr val="E1F2EF"/>
          </a:solidFill>
          <a:ln w="12700">
            <a:solidFill>
              <a:srgbClr val="E1F2EF"/>
            </a:solidFill>
            <a:prstDash val="solid"/>
          </a:ln>
        </p:spPr>
        <p:txBody>
          <a:bodyPr/>
          <a:lstStyle/>
          <a:p>
            <a:endParaRPr lang="en-US"/>
          </a:p>
        </p:txBody>
      </p:sp>
      <p:sp>
        <p:nvSpPr>
          <p:cNvPr id="25" name="Text 16"/>
          <p:cNvSpPr txBox="1"/>
          <p:nvPr/>
        </p:nvSpPr>
        <p:spPr>
          <a:xfrm>
            <a:off x="5843016" y="1856232"/>
            <a:ext cx="1088136" cy="274320"/>
          </a:xfrm>
          <a:prstGeom prst="rect">
            <a:avLst/>
          </a:prstGeom>
          <a:noFill/>
          <a:ln/>
        </p:spPr>
        <p:txBody>
          <a:bodyPr wrap="square" lIns="0" tIns="0" rIns="0" bIns="0" rtlCol="0" anchor="ctr">
            <a:normAutofit/>
          </a:bodyPr>
          <a:lstStyle/>
          <a:p>
            <a:pPr marL="0" indent="0" algn="ctr">
              <a:buNone/>
            </a:pPr>
            <a:r>
              <a:rPr lang="en-US" sz="950" b="1" dirty="0">
                <a:solidFill>
                  <a:srgbClr val="19A394"/>
                </a:solidFill>
                <a:latin typeface="Aptos" pitchFamily="34" charset="0"/>
                <a:ea typeface="Aptos" pitchFamily="34" charset="-122"/>
                <a:cs typeface="Aptos" pitchFamily="34" charset="-120"/>
              </a:rPr>
              <a:t>PRODUCCIÓN</a:t>
            </a:r>
            <a:endParaRPr lang="en-US" sz="950" dirty="0"/>
          </a:p>
        </p:txBody>
      </p:sp>
      <p:sp>
        <p:nvSpPr>
          <p:cNvPr id="26" name="Shape 17"/>
          <p:cNvSpPr/>
          <p:nvPr/>
        </p:nvSpPr>
        <p:spPr>
          <a:xfrm>
            <a:off x="5833872" y="2340864"/>
            <a:ext cx="1508760" cy="1078992"/>
          </a:xfrm>
          <a:prstGeom prst="roundRect">
            <a:avLst>
              <a:gd name="adj" fmla="val 10169"/>
            </a:avLst>
          </a:prstGeom>
          <a:solidFill>
            <a:srgbClr val="F3F8FB"/>
          </a:solidFill>
          <a:ln w="12700">
            <a:solidFill>
              <a:srgbClr val="DCE8EF"/>
            </a:solidFill>
            <a:prstDash val="solid"/>
          </a:ln>
        </p:spPr>
        <p:txBody>
          <a:bodyPr/>
          <a:lstStyle/>
          <a:p>
            <a:endParaRPr lang="en-US"/>
          </a:p>
        </p:txBody>
      </p:sp>
      <p:pic>
        <p:nvPicPr>
          <p:cNvPr id="27" name="Image 7"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64224" y="2496312"/>
            <a:ext cx="438912" cy="438912"/>
          </a:xfrm>
          <a:prstGeom prst="rect">
            <a:avLst/>
          </a:prstGeom>
        </p:spPr>
      </p:pic>
      <p:sp>
        <p:nvSpPr>
          <p:cNvPr id="28" name="Text 18"/>
          <p:cNvSpPr txBox="1"/>
          <p:nvPr/>
        </p:nvSpPr>
        <p:spPr>
          <a:xfrm>
            <a:off x="5907024" y="2926080"/>
            <a:ext cx="1362456" cy="182880"/>
          </a:xfrm>
          <a:prstGeom prst="rect">
            <a:avLst/>
          </a:prstGeom>
          <a:noFill/>
          <a:ln/>
        </p:spPr>
        <p:txBody>
          <a:bodyPr wrap="square" lIns="0" tIns="0" rIns="0" bIns="0" rtlCol="0" anchor="ctr">
            <a:normAutofit/>
          </a:bodyPr>
          <a:lstStyle/>
          <a:p>
            <a:pPr marL="0" indent="0" algn="ctr">
              <a:buNone/>
            </a:pPr>
            <a:r>
              <a:rPr lang="en-US" sz="1050" b="1" dirty="0">
                <a:solidFill>
                  <a:srgbClr val="173042"/>
                </a:solidFill>
                <a:latin typeface="Aptos" pitchFamily="34" charset="0"/>
                <a:ea typeface="Aptos" pitchFamily="34" charset="-122"/>
                <a:cs typeface="Aptos" pitchFamily="34" charset="-120"/>
              </a:rPr>
              <a:t>DNS / CDN</a:t>
            </a:r>
            <a:endParaRPr lang="en-US" sz="1050" dirty="0"/>
          </a:p>
        </p:txBody>
      </p:sp>
      <p:sp>
        <p:nvSpPr>
          <p:cNvPr id="29" name="Text 19"/>
          <p:cNvSpPr txBox="1"/>
          <p:nvPr/>
        </p:nvSpPr>
        <p:spPr>
          <a:xfrm>
            <a:off x="5907024" y="3127248"/>
            <a:ext cx="1362456" cy="164592"/>
          </a:xfrm>
          <a:prstGeom prst="rect">
            <a:avLst/>
          </a:prstGeom>
          <a:noFill/>
          <a:ln/>
        </p:spPr>
        <p:txBody>
          <a:bodyPr wrap="square" lIns="0" tIns="0" rIns="0" bIns="0" rtlCol="0" anchor="ctr">
            <a:normAutofit/>
          </a:bodyPr>
          <a:lstStyle/>
          <a:p>
            <a:pPr marL="0" indent="0" algn="ctr">
              <a:buNone/>
            </a:pPr>
            <a:r>
              <a:rPr lang="en-US" sz="810" dirty="0">
                <a:solidFill>
                  <a:srgbClr val="5F7484"/>
                </a:solidFill>
                <a:latin typeface="Aptos" pitchFamily="34" charset="0"/>
                <a:ea typeface="Aptos" pitchFamily="34" charset="-122"/>
                <a:cs typeface="Aptos" pitchFamily="34" charset="-120"/>
              </a:rPr>
              <a:t>Contenido web versionado</a:t>
            </a:r>
            <a:endParaRPr lang="en-US" sz="810" dirty="0"/>
          </a:p>
        </p:txBody>
      </p:sp>
      <p:sp>
        <p:nvSpPr>
          <p:cNvPr id="30" name="Shape 20"/>
          <p:cNvSpPr/>
          <p:nvPr/>
        </p:nvSpPr>
        <p:spPr>
          <a:xfrm>
            <a:off x="7616952" y="2340864"/>
            <a:ext cx="1508760" cy="1078992"/>
          </a:xfrm>
          <a:prstGeom prst="roundRect">
            <a:avLst>
              <a:gd name="adj" fmla="val 10169"/>
            </a:avLst>
          </a:prstGeom>
          <a:solidFill>
            <a:srgbClr val="F3F8FB"/>
          </a:solidFill>
          <a:ln w="12700">
            <a:solidFill>
              <a:srgbClr val="DCE8EF"/>
            </a:solidFill>
            <a:prstDash val="solid"/>
          </a:ln>
        </p:spPr>
        <p:txBody>
          <a:bodyPr/>
          <a:lstStyle/>
          <a:p>
            <a:endParaRPr lang="en-US"/>
          </a:p>
        </p:txBody>
      </p:sp>
      <p:pic>
        <p:nvPicPr>
          <p:cNvPr id="31" name="Image 8"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147304" y="2496312"/>
            <a:ext cx="438912" cy="438912"/>
          </a:xfrm>
          <a:prstGeom prst="rect">
            <a:avLst/>
          </a:prstGeom>
        </p:spPr>
      </p:pic>
      <p:sp>
        <p:nvSpPr>
          <p:cNvPr id="32" name="Text 21"/>
          <p:cNvSpPr txBox="1"/>
          <p:nvPr/>
        </p:nvSpPr>
        <p:spPr>
          <a:xfrm>
            <a:off x="7690104" y="2926080"/>
            <a:ext cx="1362456" cy="182880"/>
          </a:xfrm>
          <a:prstGeom prst="rect">
            <a:avLst/>
          </a:prstGeom>
          <a:noFill/>
          <a:ln/>
        </p:spPr>
        <p:txBody>
          <a:bodyPr wrap="square" lIns="0" tIns="0" rIns="0" bIns="0" rtlCol="0" anchor="ctr">
            <a:normAutofit/>
          </a:bodyPr>
          <a:lstStyle/>
          <a:p>
            <a:pPr marL="0" indent="0" algn="ctr">
              <a:buNone/>
            </a:pPr>
            <a:r>
              <a:rPr lang="en-US" sz="1050" b="1" dirty="0">
                <a:solidFill>
                  <a:srgbClr val="173042"/>
                </a:solidFill>
                <a:latin typeface="Aptos" pitchFamily="34" charset="0"/>
                <a:ea typeface="Aptos" pitchFamily="34" charset="-122"/>
                <a:cs typeface="Aptos" pitchFamily="34" charset="-120"/>
              </a:rPr>
              <a:t>WAF / Balanceador</a:t>
            </a:r>
            <a:endParaRPr lang="en-US" sz="1050" dirty="0"/>
          </a:p>
        </p:txBody>
      </p:sp>
      <p:sp>
        <p:nvSpPr>
          <p:cNvPr id="33" name="Text 22"/>
          <p:cNvSpPr txBox="1"/>
          <p:nvPr/>
        </p:nvSpPr>
        <p:spPr>
          <a:xfrm>
            <a:off x="7690104" y="3127248"/>
            <a:ext cx="1362456" cy="164592"/>
          </a:xfrm>
          <a:prstGeom prst="rect">
            <a:avLst/>
          </a:prstGeom>
          <a:noFill/>
          <a:ln/>
        </p:spPr>
        <p:txBody>
          <a:bodyPr wrap="square" lIns="0" tIns="0" rIns="0" bIns="0" rtlCol="0" anchor="ctr">
            <a:normAutofit/>
          </a:bodyPr>
          <a:lstStyle/>
          <a:p>
            <a:pPr marL="0" indent="0" algn="ctr">
              <a:buNone/>
            </a:pPr>
            <a:r>
              <a:rPr lang="en-US" sz="810" dirty="0">
                <a:solidFill>
                  <a:srgbClr val="5F7484"/>
                </a:solidFill>
                <a:latin typeface="Aptos" pitchFamily="34" charset="0"/>
                <a:ea typeface="Aptos" pitchFamily="34" charset="-122"/>
                <a:cs typeface="Aptos" pitchFamily="34" charset="-120"/>
              </a:rPr>
              <a:t>Acceso y protección</a:t>
            </a:r>
            <a:endParaRPr lang="en-US" sz="810" dirty="0"/>
          </a:p>
        </p:txBody>
      </p:sp>
      <p:sp>
        <p:nvSpPr>
          <p:cNvPr id="34" name="Shape 23"/>
          <p:cNvSpPr/>
          <p:nvPr/>
        </p:nvSpPr>
        <p:spPr>
          <a:xfrm>
            <a:off x="9400032" y="2340864"/>
            <a:ext cx="1508760" cy="1078992"/>
          </a:xfrm>
          <a:prstGeom prst="roundRect">
            <a:avLst>
              <a:gd name="adj" fmla="val 10169"/>
            </a:avLst>
          </a:prstGeom>
          <a:solidFill>
            <a:srgbClr val="F3F8FB"/>
          </a:solidFill>
          <a:ln w="12700">
            <a:solidFill>
              <a:srgbClr val="DCE8EF"/>
            </a:solidFill>
            <a:prstDash val="solid"/>
          </a:ln>
        </p:spPr>
        <p:txBody>
          <a:bodyPr/>
          <a:lstStyle/>
          <a:p>
            <a:endParaRPr lang="en-US"/>
          </a:p>
        </p:txBody>
      </p:sp>
      <p:pic>
        <p:nvPicPr>
          <p:cNvPr id="35" name="Image 9"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930384" y="2496312"/>
            <a:ext cx="438912" cy="438912"/>
          </a:xfrm>
          <a:prstGeom prst="rect">
            <a:avLst/>
          </a:prstGeom>
        </p:spPr>
      </p:pic>
      <p:sp>
        <p:nvSpPr>
          <p:cNvPr id="36" name="Text 24"/>
          <p:cNvSpPr txBox="1"/>
          <p:nvPr/>
        </p:nvSpPr>
        <p:spPr>
          <a:xfrm>
            <a:off x="9473184" y="2926080"/>
            <a:ext cx="1362456" cy="182880"/>
          </a:xfrm>
          <a:prstGeom prst="rect">
            <a:avLst/>
          </a:prstGeom>
          <a:noFill/>
          <a:ln/>
        </p:spPr>
        <p:txBody>
          <a:bodyPr wrap="square" lIns="0" tIns="0" rIns="0" bIns="0" rtlCol="0" anchor="ctr">
            <a:normAutofit/>
          </a:bodyPr>
          <a:lstStyle/>
          <a:p>
            <a:pPr marL="0" indent="0" algn="ctr">
              <a:buNone/>
            </a:pPr>
            <a:r>
              <a:rPr lang="en-US" sz="1050" b="1" dirty="0">
                <a:solidFill>
                  <a:srgbClr val="173042"/>
                </a:solidFill>
                <a:latin typeface="Aptos" pitchFamily="34" charset="0"/>
                <a:ea typeface="Aptos" pitchFamily="34" charset="-122"/>
                <a:cs typeface="Aptos" pitchFamily="34" charset="-120"/>
              </a:rPr>
              <a:t>Clúster Multi-AZ</a:t>
            </a:r>
            <a:endParaRPr lang="en-US" sz="1050" dirty="0"/>
          </a:p>
        </p:txBody>
      </p:sp>
      <p:sp>
        <p:nvSpPr>
          <p:cNvPr id="37" name="Text 25"/>
          <p:cNvSpPr txBox="1"/>
          <p:nvPr/>
        </p:nvSpPr>
        <p:spPr>
          <a:xfrm>
            <a:off x="9473184" y="3127248"/>
            <a:ext cx="1362456" cy="164592"/>
          </a:xfrm>
          <a:prstGeom prst="rect">
            <a:avLst/>
          </a:prstGeom>
          <a:noFill/>
          <a:ln/>
        </p:spPr>
        <p:txBody>
          <a:bodyPr wrap="square" lIns="0" tIns="0" rIns="0" bIns="0" rtlCol="0" anchor="ctr">
            <a:normAutofit/>
          </a:bodyPr>
          <a:lstStyle/>
          <a:p>
            <a:pPr marL="0" indent="0" algn="ctr">
              <a:buNone/>
            </a:pPr>
            <a:r>
              <a:rPr lang="en-US" sz="810" dirty="0">
                <a:solidFill>
                  <a:srgbClr val="5F7484"/>
                </a:solidFill>
                <a:latin typeface="Aptos" pitchFamily="34" charset="0"/>
                <a:ea typeface="Aptos" pitchFamily="34" charset="-122"/>
                <a:cs typeface="Aptos" pitchFamily="34" charset="-120"/>
              </a:rPr>
              <a:t>Servicios x2..n</a:t>
            </a:r>
            <a:endParaRPr lang="en-US" sz="810" dirty="0"/>
          </a:p>
        </p:txBody>
      </p:sp>
      <p:sp>
        <p:nvSpPr>
          <p:cNvPr id="38" name="Shape 26"/>
          <p:cNvSpPr/>
          <p:nvPr/>
        </p:nvSpPr>
        <p:spPr>
          <a:xfrm>
            <a:off x="5833872" y="3749040"/>
            <a:ext cx="1508760" cy="694944"/>
          </a:xfrm>
          <a:prstGeom prst="roundRect">
            <a:avLst>
              <a:gd name="adj" fmla="val 15789"/>
            </a:avLst>
          </a:prstGeom>
          <a:solidFill>
            <a:srgbClr val="F8FAFC"/>
          </a:solidFill>
          <a:ln w="12700">
            <a:solidFill>
              <a:srgbClr val="DCE8EF"/>
            </a:solidFill>
            <a:prstDash val="solid"/>
          </a:ln>
        </p:spPr>
        <p:txBody>
          <a:bodyPr/>
          <a:lstStyle/>
          <a:p>
            <a:endParaRPr lang="en-US"/>
          </a:p>
        </p:txBody>
      </p:sp>
      <p:pic>
        <p:nvPicPr>
          <p:cNvPr id="39" name="Image 10"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952744" y="3913632"/>
            <a:ext cx="292608" cy="292608"/>
          </a:xfrm>
          <a:prstGeom prst="rect">
            <a:avLst/>
          </a:prstGeom>
        </p:spPr>
      </p:pic>
      <p:sp>
        <p:nvSpPr>
          <p:cNvPr id="40" name="Text 27"/>
          <p:cNvSpPr txBox="1"/>
          <p:nvPr/>
        </p:nvSpPr>
        <p:spPr>
          <a:xfrm>
            <a:off x="6309360" y="3858768"/>
            <a:ext cx="932688" cy="384048"/>
          </a:xfrm>
          <a:prstGeom prst="rect">
            <a:avLst/>
          </a:prstGeom>
          <a:noFill/>
          <a:ln/>
        </p:spPr>
        <p:txBody>
          <a:bodyPr wrap="square" lIns="0" tIns="0" rIns="0" bIns="0" rtlCol="0" anchor="ctr">
            <a:normAutofit/>
          </a:bodyPr>
          <a:lstStyle/>
          <a:p>
            <a:pPr marL="0" indent="0" algn="l">
              <a:buNone/>
            </a:pPr>
            <a:r>
              <a:rPr lang="en-US" sz="880" b="1" dirty="0">
                <a:solidFill>
                  <a:srgbClr val="173042"/>
                </a:solidFill>
                <a:latin typeface="Aptos" pitchFamily="34" charset="0"/>
                <a:ea typeface="Aptos" pitchFamily="34" charset="-122"/>
                <a:cs typeface="Aptos" pitchFamily="34" charset="-120"/>
              </a:rPr>
              <a:t>PostgreSQL Multi-AZ</a:t>
            </a:r>
            <a:endParaRPr lang="en-US" sz="880" dirty="0"/>
          </a:p>
        </p:txBody>
      </p:sp>
      <p:sp>
        <p:nvSpPr>
          <p:cNvPr id="41" name="Shape 28"/>
          <p:cNvSpPr/>
          <p:nvPr/>
        </p:nvSpPr>
        <p:spPr>
          <a:xfrm>
            <a:off x="7616952" y="3749040"/>
            <a:ext cx="1508760" cy="694944"/>
          </a:xfrm>
          <a:prstGeom prst="roundRect">
            <a:avLst>
              <a:gd name="adj" fmla="val 15789"/>
            </a:avLst>
          </a:prstGeom>
          <a:solidFill>
            <a:srgbClr val="F8FAFC"/>
          </a:solidFill>
          <a:ln w="12700">
            <a:solidFill>
              <a:srgbClr val="DCE8EF"/>
            </a:solidFill>
            <a:prstDash val="solid"/>
          </a:ln>
        </p:spPr>
        <p:txBody>
          <a:bodyPr/>
          <a:lstStyle/>
          <a:p>
            <a:endParaRPr lang="en-US"/>
          </a:p>
        </p:txBody>
      </p:sp>
      <p:pic>
        <p:nvPicPr>
          <p:cNvPr id="42" name="Image 11"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735824" y="3913632"/>
            <a:ext cx="292608" cy="292608"/>
          </a:xfrm>
          <a:prstGeom prst="rect">
            <a:avLst/>
          </a:prstGeom>
        </p:spPr>
      </p:pic>
      <p:sp>
        <p:nvSpPr>
          <p:cNvPr id="43" name="Text 29"/>
          <p:cNvSpPr txBox="1"/>
          <p:nvPr/>
        </p:nvSpPr>
        <p:spPr>
          <a:xfrm>
            <a:off x="8092440" y="3858768"/>
            <a:ext cx="932688" cy="384048"/>
          </a:xfrm>
          <a:prstGeom prst="rect">
            <a:avLst/>
          </a:prstGeom>
          <a:noFill/>
          <a:ln/>
        </p:spPr>
        <p:txBody>
          <a:bodyPr wrap="square" lIns="0" tIns="0" rIns="0" bIns="0" rtlCol="0" anchor="ctr">
            <a:normAutofit/>
          </a:bodyPr>
          <a:lstStyle/>
          <a:p>
            <a:pPr marL="0" indent="0" algn="l">
              <a:buNone/>
            </a:pPr>
            <a:r>
              <a:rPr lang="en-US" sz="880" b="1" dirty="0">
                <a:solidFill>
                  <a:srgbClr val="173042"/>
                </a:solidFill>
                <a:latin typeface="Aptos" pitchFamily="34" charset="0"/>
                <a:ea typeface="Aptos" pitchFamily="34" charset="-122"/>
                <a:cs typeface="Aptos" pitchFamily="34" charset="-120"/>
              </a:rPr>
              <a:t>Kafka administrado</a:t>
            </a:r>
            <a:endParaRPr lang="en-US" sz="880" dirty="0"/>
          </a:p>
        </p:txBody>
      </p:sp>
      <p:sp>
        <p:nvSpPr>
          <p:cNvPr id="44" name="Shape 30"/>
          <p:cNvSpPr/>
          <p:nvPr/>
        </p:nvSpPr>
        <p:spPr>
          <a:xfrm>
            <a:off x="9400032" y="3749040"/>
            <a:ext cx="1508760" cy="694944"/>
          </a:xfrm>
          <a:prstGeom prst="roundRect">
            <a:avLst>
              <a:gd name="adj" fmla="val 15789"/>
            </a:avLst>
          </a:prstGeom>
          <a:solidFill>
            <a:srgbClr val="F8FAFC"/>
          </a:solidFill>
          <a:ln w="12700">
            <a:solidFill>
              <a:srgbClr val="DCE8EF"/>
            </a:solidFill>
            <a:prstDash val="solid"/>
          </a:ln>
        </p:spPr>
        <p:txBody>
          <a:bodyPr/>
          <a:lstStyle/>
          <a:p>
            <a:endParaRPr lang="en-US"/>
          </a:p>
        </p:txBody>
      </p:sp>
      <p:pic>
        <p:nvPicPr>
          <p:cNvPr id="45" name="Image 12"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518904" y="3913632"/>
            <a:ext cx="292608" cy="292608"/>
          </a:xfrm>
          <a:prstGeom prst="rect">
            <a:avLst/>
          </a:prstGeom>
        </p:spPr>
      </p:pic>
      <p:sp>
        <p:nvSpPr>
          <p:cNvPr id="46" name="Text 31"/>
          <p:cNvSpPr txBox="1"/>
          <p:nvPr/>
        </p:nvSpPr>
        <p:spPr>
          <a:xfrm>
            <a:off x="9875520" y="3858768"/>
            <a:ext cx="932688" cy="384048"/>
          </a:xfrm>
          <a:prstGeom prst="rect">
            <a:avLst/>
          </a:prstGeom>
          <a:noFill/>
          <a:ln/>
        </p:spPr>
        <p:txBody>
          <a:bodyPr wrap="square" lIns="0" tIns="0" rIns="0" bIns="0" rtlCol="0" anchor="ctr">
            <a:normAutofit/>
          </a:bodyPr>
          <a:lstStyle/>
          <a:p>
            <a:pPr marL="0" indent="0" algn="l">
              <a:buNone/>
            </a:pPr>
            <a:r>
              <a:rPr lang="en-US" sz="880" b="1" dirty="0">
                <a:solidFill>
                  <a:srgbClr val="173042"/>
                </a:solidFill>
                <a:latin typeface="Aptos" pitchFamily="34" charset="0"/>
                <a:ea typeface="Aptos" pitchFamily="34" charset="-122"/>
                <a:cs typeface="Aptos" pitchFamily="34" charset="-120"/>
              </a:rPr>
              <a:t>Observabilidad</a:t>
            </a:r>
            <a:endParaRPr lang="en-US" sz="880" dirty="0"/>
          </a:p>
        </p:txBody>
      </p:sp>
      <p:sp>
        <p:nvSpPr>
          <p:cNvPr id="47" name="Shape 32"/>
          <p:cNvSpPr/>
          <p:nvPr/>
        </p:nvSpPr>
        <p:spPr>
          <a:xfrm>
            <a:off x="5833872" y="4773168"/>
            <a:ext cx="1508760" cy="694944"/>
          </a:xfrm>
          <a:prstGeom prst="roundRect">
            <a:avLst>
              <a:gd name="adj" fmla="val 15789"/>
            </a:avLst>
          </a:prstGeom>
          <a:solidFill>
            <a:srgbClr val="F3F8FB"/>
          </a:solidFill>
          <a:ln w="12700">
            <a:solidFill>
              <a:srgbClr val="DCE8EF"/>
            </a:solidFill>
            <a:prstDash val="solid"/>
          </a:ln>
        </p:spPr>
        <p:txBody>
          <a:bodyPr/>
          <a:lstStyle/>
          <a:p>
            <a:endParaRPr lang="en-US"/>
          </a:p>
        </p:txBody>
      </p:sp>
      <p:pic>
        <p:nvPicPr>
          <p:cNvPr id="48" name="Image 13"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952744" y="4937760"/>
            <a:ext cx="292608" cy="292608"/>
          </a:xfrm>
          <a:prstGeom prst="rect">
            <a:avLst/>
          </a:prstGeom>
        </p:spPr>
      </p:pic>
      <p:sp>
        <p:nvSpPr>
          <p:cNvPr id="49" name="Text 33"/>
          <p:cNvSpPr txBox="1"/>
          <p:nvPr/>
        </p:nvSpPr>
        <p:spPr>
          <a:xfrm>
            <a:off x="6309360" y="4882896"/>
            <a:ext cx="932688" cy="384048"/>
          </a:xfrm>
          <a:prstGeom prst="rect">
            <a:avLst/>
          </a:prstGeom>
          <a:noFill/>
          <a:ln/>
        </p:spPr>
        <p:txBody>
          <a:bodyPr wrap="square" lIns="0" tIns="0" rIns="0" bIns="0" rtlCol="0" anchor="ctr">
            <a:normAutofit/>
          </a:bodyPr>
          <a:lstStyle/>
          <a:p>
            <a:pPr marL="0" indent="0" algn="l">
              <a:buNone/>
            </a:pPr>
            <a:r>
              <a:rPr lang="en-US" sz="880" b="1" dirty="0">
                <a:solidFill>
                  <a:srgbClr val="173042"/>
                </a:solidFill>
                <a:latin typeface="Aptos" pitchFamily="34" charset="0"/>
                <a:ea typeface="Aptos" pitchFamily="34" charset="-122"/>
                <a:cs typeface="Aptos" pitchFamily="34" charset="-120"/>
              </a:rPr>
              <a:t>Gestor de secretos</a:t>
            </a:r>
            <a:endParaRPr lang="en-US" sz="880" dirty="0"/>
          </a:p>
        </p:txBody>
      </p:sp>
      <p:sp>
        <p:nvSpPr>
          <p:cNvPr id="50" name="Shape 34"/>
          <p:cNvSpPr/>
          <p:nvPr/>
        </p:nvSpPr>
        <p:spPr>
          <a:xfrm>
            <a:off x="7616952" y="4773168"/>
            <a:ext cx="1508760" cy="694944"/>
          </a:xfrm>
          <a:prstGeom prst="roundRect">
            <a:avLst>
              <a:gd name="adj" fmla="val 15789"/>
            </a:avLst>
          </a:prstGeom>
          <a:solidFill>
            <a:srgbClr val="F3F8FB"/>
          </a:solidFill>
          <a:ln w="12700">
            <a:solidFill>
              <a:srgbClr val="DCE8EF"/>
            </a:solidFill>
            <a:prstDash val="solid"/>
          </a:ln>
        </p:spPr>
        <p:txBody>
          <a:bodyPr/>
          <a:lstStyle/>
          <a:p>
            <a:endParaRPr lang="en-US"/>
          </a:p>
        </p:txBody>
      </p:sp>
      <p:pic>
        <p:nvPicPr>
          <p:cNvPr id="51" name="Image 14" descr="preencoded.pn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735824" y="4937760"/>
            <a:ext cx="292608" cy="292608"/>
          </a:xfrm>
          <a:prstGeom prst="rect">
            <a:avLst/>
          </a:prstGeom>
        </p:spPr>
      </p:pic>
      <p:sp>
        <p:nvSpPr>
          <p:cNvPr id="52" name="Text 35"/>
          <p:cNvSpPr txBox="1"/>
          <p:nvPr/>
        </p:nvSpPr>
        <p:spPr>
          <a:xfrm>
            <a:off x="8092440" y="4882896"/>
            <a:ext cx="932688" cy="384048"/>
          </a:xfrm>
          <a:prstGeom prst="rect">
            <a:avLst/>
          </a:prstGeom>
          <a:noFill/>
          <a:ln/>
        </p:spPr>
        <p:txBody>
          <a:bodyPr wrap="square" lIns="0" tIns="0" rIns="0" bIns="0" rtlCol="0" anchor="ctr">
            <a:normAutofit/>
          </a:bodyPr>
          <a:lstStyle/>
          <a:p>
            <a:pPr marL="0" indent="0" algn="l">
              <a:buNone/>
            </a:pPr>
            <a:r>
              <a:rPr lang="en-US" sz="880" b="1" dirty="0">
                <a:solidFill>
                  <a:srgbClr val="173042"/>
                </a:solidFill>
                <a:latin typeface="Aptos" pitchFamily="34" charset="0"/>
                <a:ea typeface="Aptos" pitchFamily="34" charset="-122"/>
                <a:cs typeface="Aptos" pitchFamily="34" charset="-120"/>
              </a:rPr>
              <a:t>Backups / PITR</a:t>
            </a:r>
            <a:endParaRPr lang="en-US" sz="880" dirty="0"/>
          </a:p>
        </p:txBody>
      </p:sp>
      <p:sp>
        <p:nvSpPr>
          <p:cNvPr id="53" name="Shape 36"/>
          <p:cNvSpPr/>
          <p:nvPr/>
        </p:nvSpPr>
        <p:spPr>
          <a:xfrm>
            <a:off x="9400032" y="4773168"/>
            <a:ext cx="1508760" cy="694944"/>
          </a:xfrm>
          <a:prstGeom prst="roundRect">
            <a:avLst>
              <a:gd name="adj" fmla="val 15789"/>
            </a:avLst>
          </a:prstGeom>
          <a:solidFill>
            <a:srgbClr val="F3F8FB"/>
          </a:solidFill>
          <a:ln w="12700">
            <a:solidFill>
              <a:srgbClr val="DCE8EF"/>
            </a:solidFill>
            <a:prstDash val="solid"/>
          </a:ln>
        </p:spPr>
        <p:txBody>
          <a:bodyPr/>
          <a:lstStyle/>
          <a:p>
            <a:endParaRPr lang="en-US"/>
          </a:p>
        </p:txBody>
      </p:sp>
      <p:pic>
        <p:nvPicPr>
          <p:cNvPr id="54" name="Image 15" descr="preencoded.png"/>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518904" y="4937760"/>
            <a:ext cx="292608" cy="292608"/>
          </a:xfrm>
          <a:prstGeom prst="rect">
            <a:avLst/>
          </a:prstGeom>
        </p:spPr>
      </p:pic>
      <p:sp>
        <p:nvSpPr>
          <p:cNvPr id="55" name="Text 37"/>
          <p:cNvSpPr txBox="1"/>
          <p:nvPr/>
        </p:nvSpPr>
        <p:spPr>
          <a:xfrm>
            <a:off x="9875520" y="4882896"/>
            <a:ext cx="932688" cy="384048"/>
          </a:xfrm>
          <a:prstGeom prst="rect">
            <a:avLst/>
          </a:prstGeom>
          <a:noFill/>
          <a:ln/>
        </p:spPr>
        <p:txBody>
          <a:bodyPr wrap="square" lIns="0" tIns="0" rIns="0" bIns="0" rtlCol="0" anchor="ctr">
            <a:normAutofit/>
          </a:bodyPr>
          <a:lstStyle/>
          <a:p>
            <a:pPr marL="0" indent="0" algn="l">
              <a:buNone/>
            </a:pPr>
            <a:r>
              <a:rPr lang="en-US" sz="880" b="1" dirty="0">
                <a:solidFill>
                  <a:srgbClr val="173042"/>
                </a:solidFill>
                <a:latin typeface="Aptos" pitchFamily="34" charset="0"/>
                <a:ea typeface="Aptos" pitchFamily="34" charset="-122"/>
                <a:cs typeface="Aptos" pitchFamily="34" charset="-120"/>
              </a:rPr>
              <a:t>Proveedores externos</a:t>
            </a:r>
            <a:endParaRPr lang="en-US" sz="880" dirty="0"/>
          </a:p>
        </p:txBody>
      </p:sp>
      <p:sp>
        <p:nvSpPr>
          <p:cNvPr id="56" name="Text 38"/>
          <p:cNvSpPr txBox="1"/>
          <p:nvPr/>
        </p:nvSpPr>
        <p:spPr>
          <a:xfrm>
            <a:off x="5769864" y="5650992"/>
            <a:ext cx="5577840" cy="219456"/>
          </a:xfrm>
          <a:prstGeom prst="rect">
            <a:avLst/>
          </a:prstGeom>
          <a:noFill/>
          <a:ln/>
        </p:spPr>
        <p:txBody>
          <a:bodyPr wrap="square" lIns="0" tIns="0" rIns="0" bIns="0" rtlCol="0" anchor="ctr">
            <a:normAutofit/>
          </a:bodyPr>
          <a:lstStyle/>
          <a:p>
            <a:pPr marL="0" indent="0" algn="ctr">
              <a:buNone/>
            </a:pPr>
            <a:r>
              <a:rPr lang="en-US" sz="860" dirty="0">
                <a:solidFill>
                  <a:srgbClr val="5F7484"/>
                </a:solidFill>
                <a:latin typeface="Aptos" pitchFamily="34" charset="0"/>
                <a:ea typeface="Aptos" pitchFamily="34" charset="-122"/>
                <a:cs typeface="Aptos" pitchFamily="34" charset="-120"/>
              </a:rPr>
              <a:t>Topología cloud-neutral; la selección de proveedor y región no altera la arquitectura.</a:t>
            </a:r>
            <a:endParaRPr lang="en-US" sz="860" dirty="0"/>
          </a:p>
        </p:txBody>
      </p:sp>
      <p:sp>
        <p:nvSpPr>
          <p:cNvPr id="58" name="Slide Number Placeholder 0"/>
          <p:cNvSpPr>
            <a:spLocks noGrp="1"/>
          </p:cNvSpPr>
          <p:nvPr>
            <p:ph type="sldNum" sz="quarter" idx="4294967295"/>
          </p:nvPr>
        </p:nvSpPr>
        <p:spPr>
          <a:xfrm>
            <a:off x="11823192"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AAB6C0"/>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19" y="292608"/>
            <a:ext cx="4022427" cy="137160"/>
          </a:xfrm>
          <a:prstGeom prst="rect">
            <a:avLst/>
          </a:prstGeom>
          <a:noFill/>
          <a:ln/>
        </p:spPr>
        <p:txBody>
          <a:bodyPr wrap="square" lIns="0" tIns="0" rIns="0" bIns="0" rtlCol="0" anchor="ctr">
            <a:normAutofit/>
          </a:bodyPr>
          <a:lstStyle/>
          <a:p>
            <a:pPr marL="0" indent="0" algn="l">
              <a:buNone/>
            </a:pPr>
            <a:r>
              <a:rPr lang="en-US" sz="900" b="1" kern="0" spc="120" dirty="0">
                <a:solidFill>
                  <a:srgbClr val="0A5E8C"/>
                </a:solidFill>
                <a:latin typeface="Aptos" pitchFamily="34" charset="0"/>
                <a:ea typeface="Aptos" pitchFamily="34" charset="-122"/>
                <a:cs typeface="Aptos" pitchFamily="34" charset="-120"/>
              </a:rPr>
              <a:t>08 · VISTA DE EJECUCIÓN Y AISLAMIENTO MULTIOPERADOR</a:t>
            </a:r>
            <a:endParaRPr lang="en-US" sz="900" dirty="0"/>
          </a:p>
        </p:txBody>
      </p:sp>
      <p:sp>
        <p:nvSpPr>
          <p:cNvPr id="3" name="Text 1"/>
          <p:cNvSpPr txBox="1"/>
          <p:nvPr/>
        </p:nvSpPr>
        <p:spPr>
          <a:xfrm>
            <a:off x="502920" y="530352"/>
            <a:ext cx="11064240" cy="493776"/>
          </a:xfrm>
          <a:prstGeom prst="rect">
            <a:avLst/>
          </a:prstGeom>
          <a:noFill/>
          <a:ln/>
        </p:spPr>
        <p:txBody>
          <a:bodyPr wrap="square" lIns="0" tIns="0" rIns="0" bIns="0" rtlCol="0" anchor="ctr">
            <a:normAutofit/>
          </a:bodyPr>
          <a:lstStyle/>
          <a:p>
            <a:pPr marL="0" indent="0" algn="l">
              <a:buNone/>
            </a:pPr>
            <a:r>
              <a:rPr lang="en-US" sz="2700" b="1" dirty="0">
                <a:solidFill>
                  <a:srgbClr val="173042"/>
                </a:solidFill>
                <a:latin typeface="Aptos" pitchFamily="34" charset="0"/>
                <a:ea typeface="Aptos" pitchFamily="34" charset="-122"/>
                <a:cs typeface="Aptos" pitchFamily="34" charset="-120"/>
              </a:rPr>
              <a:t>Cada solicitud se autentica, se contextualiza y se vuelve a validar</a:t>
            </a:r>
            <a:endParaRPr lang="en-US" sz="2700" dirty="0"/>
          </a:p>
        </p:txBody>
      </p:sp>
      <p:sp>
        <p:nvSpPr>
          <p:cNvPr id="4" name="Text 2"/>
          <p:cNvSpPr txBox="1"/>
          <p:nvPr/>
        </p:nvSpPr>
        <p:spPr>
          <a:xfrm>
            <a:off x="502920" y="1024128"/>
            <a:ext cx="10972800" cy="384048"/>
          </a:xfrm>
          <a:prstGeom prst="rect">
            <a:avLst/>
          </a:prstGeom>
          <a:noFill/>
          <a:ln/>
        </p:spPr>
        <p:txBody>
          <a:bodyPr wrap="square" lIns="0" tIns="0" rIns="0" bIns="0" rtlCol="0" anchor="t">
            <a:normAutofit/>
          </a:bodyPr>
          <a:lstStyle/>
          <a:p>
            <a:pPr marL="0" indent="0" algn="l">
              <a:buNone/>
            </a:pPr>
            <a:r>
              <a:rPr lang="en-US" sz="1250" dirty="0">
                <a:solidFill>
                  <a:srgbClr val="5F7484"/>
                </a:solidFill>
                <a:latin typeface="Aptos" pitchFamily="34" charset="0"/>
                <a:ea typeface="Aptos" pitchFamily="34" charset="-122"/>
                <a:cs typeface="Aptos" pitchFamily="34" charset="-120"/>
              </a:rPr>
              <a:t>El operator_id se obtiene desde la identidad autenticada; nunca se confía únicamente en un valor enviado por la aplicación cliente.</a:t>
            </a:r>
            <a:endParaRPr lang="en-US" sz="1250" dirty="0"/>
          </a:p>
        </p:txBody>
      </p:sp>
      <p:sp>
        <p:nvSpPr>
          <p:cNvPr id="5" name="Shape 3"/>
          <p:cNvSpPr/>
          <p:nvPr/>
        </p:nvSpPr>
        <p:spPr>
          <a:xfrm>
            <a:off x="502920" y="1627632"/>
            <a:ext cx="6720840" cy="4498848"/>
          </a:xfrm>
          <a:prstGeom prst="roundRect">
            <a:avLst>
              <a:gd name="adj" fmla="val 2439"/>
            </a:avLst>
          </a:prstGeom>
          <a:solidFill>
            <a:srgbClr val="FFFFFF"/>
          </a:solidFill>
          <a:ln w="12700">
            <a:solidFill>
              <a:srgbClr val="D8E4EC"/>
            </a:solidFill>
            <a:prstDash val="solid"/>
          </a:ln>
        </p:spPr>
        <p:txBody>
          <a:bodyPr/>
          <a:lstStyle/>
          <a:p>
            <a:endParaRPr lang="en-US"/>
          </a:p>
        </p:txBody>
      </p:sp>
      <p:pic>
        <p:nvPicPr>
          <p:cNvPr id="6" name="Image 0" descr="/tmp/movixdoc/word/media/image16.png"/>
          <p:cNvPicPr>
            <a:picLocks noChangeAspect="1"/>
          </p:cNvPicPr>
          <p:nvPr/>
        </p:nvPicPr>
        <p:blipFill>
          <a:blip r:embed="rId3"/>
          <a:stretch>
            <a:fillRect/>
          </a:stretch>
        </p:blipFill>
        <p:spPr>
          <a:xfrm>
            <a:off x="749808" y="1883664"/>
            <a:ext cx="6236208" cy="3749040"/>
          </a:xfrm>
          <a:prstGeom prst="rect">
            <a:avLst/>
          </a:prstGeom>
        </p:spPr>
      </p:pic>
      <p:sp>
        <p:nvSpPr>
          <p:cNvPr id="7" name="Text 4"/>
          <p:cNvSpPr txBox="1"/>
          <p:nvPr/>
        </p:nvSpPr>
        <p:spPr>
          <a:xfrm>
            <a:off x="822960" y="5733288"/>
            <a:ext cx="6089904" cy="201168"/>
          </a:xfrm>
          <a:prstGeom prst="rect">
            <a:avLst/>
          </a:prstGeom>
          <a:noFill/>
          <a:ln/>
        </p:spPr>
        <p:txBody>
          <a:bodyPr wrap="square" lIns="0" tIns="0" rIns="0" bIns="0" rtlCol="0" anchor="ctr">
            <a:normAutofit/>
          </a:bodyPr>
          <a:lstStyle/>
          <a:p>
            <a:pPr marL="0" indent="0" algn="ctr">
              <a:buNone/>
            </a:pPr>
            <a:r>
              <a:rPr lang="en-US" sz="870" dirty="0">
                <a:solidFill>
                  <a:srgbClr val="5F7484"/>
                </a:solidFill>
                <a:latin typeface="Aptos" pitchFamily="34" charset="0"/>
                <a:ea typeface="Aptos" pitchFamily="34" charset="-122"/>
                <a:cs typeface="Aptos" pitchFamily="34" charset="-120"/>
              </a:rPr>
              <a:t>Secuencia documentada de autenticación y propagación del contexto</a:t>
            </a:r>
            <a:endParaRPr lang="en-US" sz="870" dirty="0"/>
          </a:p>
        </p:txBody>
      </p:sp>
      <p:sp>
        <p:nvSpPr>
          <p:cNvPr id="8" name="Shape 5"/>
          <p:cNvSpPr/>
          <p:nvPr/>
        </p:nvSpPr>
        <p:spPr>
          <a:xfrm>
            <a:off x="7589520" y="1755648"/>
            <a:ext cx="438912" cy="438912"/>
          </a:xfrm>
          <a:prstGeom prst="ellipse">
            <a:avLst/>
          </a:prstGeom>
          <a:solidFill>
            <a:srgbClr val="0A5E8C"/>
          </a:solidFill>
          <a:ln w="12700">
            <a:solidFill>
              <a:srgbClr val="0A5E8C"/>
            </a:solidFill>
            <a:prstDash val="solid"/>
          </a:ln>
        </p:spPr>
        <p:txBody>
          <a:bodyPr/>
          <a:lstStyle/>
          <a:p>
            <a:endParaRPr lang="en-US"/>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99248" y="1865376"/>
            <a:ext cx="219456" cy="219456"/>
          </a:xfrm>
          <a:prstGeom prst="rect">
            <a:avLst/>
          </a:prstGeom>
        </p:spPr>
      </p:pic>
      <p:sp>
        <p:nvSpPr>
          <p:cNvPr id="10" name="Text 6"/>
          <p:cNvSpPr txBox="1"/>
          <p:nvPr/>
        </p:nvSpPr>
        <p:spPr>
          <a:xfrm>
            <a:off x="8202168" y="1737360"/>
            <a:ext cx="3291840" cy="256032"/>
          </a:xfrm>
          <a:prstGeom prst="rect">
            <a:avLst/>
          </a:prstGeom>
          <a:noFill/>
          <a:ln/>
        </p:spPr>
        <p:txBody>
          <a:bodyPr wrap="square" lIns="0" tIns="0" rIns="0" bIns="0" rtlCol="0" anchor="ctr">
            <a:normAutofit/>
          </a:bodyPr>
          <a:lstStyle/>
          <a:p>
            <a:pPr marL="0" indent="0" algn="l">
              <a:buNone/>
            </a:pPr>
            <a:r>
              <a:rPr lang="en-US" sz="1320" b="1" dirty="0">
                <a:solidFill>
                  <a:srgbClr val="173042"/>
                </a:solidFill>
                <a:latin typeface="Aptos" pitchFamily="34" charset="0"/>
                <a:ea typeface="Aptos" pitchFamily="34" charset="-122"/>
                <a:cs typeface="Aptos" pitchFamily="34" charset="-120"/>
              </a:rPr>
              <a:t>Identidad externa</a:t>
            </a:r>
            <a:endParaRPr lang="en-US" sz="1320" dirty="0"/>
          </a:p>
        </p:txBody>
      </p:sp>
      <p:sp>
        <p:nvSpPr>
          <p:cNvPr id="11" name="Text 7"/>
          <p:cNvSpPr txBox="1"/>
          <p:nvPr/>
        </p:nvSpPr>
        <p:spPr>
          <a:xfrm>
            <a:off x="8202168" y="2029968"/>
            <a:ext cx="3328416" cy="512064"/>
          </a:xfrm>
          <a:prstGeom prst="rect">
            <a:avLst/>
          </a:prstGeom>
          <a:noFill/>
          <a:ln/>
        </p:spPr>
        <p:txBody>
          <a:bodyPr wrap="square" lIns="0" tIns="0" rIns="0" bIns="0" rtlCol="0" anchor="t">
            <a:normAutofit/>
          </a:bodyPr>
          <a:lstStyle/>
          <a:p>
            <a:pPr marL="0" indent="0" algn="l">
              <a:buNone/>
            </a:pPr>
            <a:r>
              <a:rPr lang="en-US" sz="950" dirty="0">
                <a:solidFill>
                  <a:srgbClr val="5F7484"/>
                </a:solidFill>
                <a:latin typeface="Aptos" pitchFamily="34" charset="0"/>
                <a:ea typeface="Aptos" pitchFamily="34" charset="-122"/>
                <a:cs typeface="Aptos" pitchFamily="34" charset="-120"/>
              </a:rPr>
              <a:t>El Gateway delega la validación y resolución del contexto al Servicio Principal y al proveedor de identidad.</a:t>
            </a:r>
            <a:endParaRPr lang="en-US" sz="950" dirty="0"/>
          </a:p>
        </p:txBody>
      </p:sp>
      <p:sp>
        <p:nvSpPr>
          <p:cNvPr id="12" name="Shape 8"/>
          <p:cNvSpPr/>
          <p:nvPr/>
        </p:nvSpPr>
        <p:spPr>
          <a:xfrm>
            <a:off x="7589520" y="2779776"/>
            <a:ext cx="438912" cy="438912"/>
          </a:xfrm>
          <a:prstGeom prst="ellipse">
            <a:avLst/>
          </a:prstGeom>
          <a:solidFill>
            <a:srgbClr val="20A3B8"/>
          </a:solidFill>
          <a:ln w="12700">
            <a:solidFill>
              <a:srgbClr val="20A3B8"/>
            </a:solidFill>
            <a:prstDash val="solid"/>
          </a:ln>
        </p:spPr>
        <p:txBody>
          <a:bodyPr/>
          <a:lstStyle/>
          <a:p>
            <a:endParaRPr lang="en-US"/>
          </a:p>
        </p:txBody>
      </p:sp>
      <p:pic>
        <p:nvPicPr>
          <p:cNvPr id="1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99248" y="2889504"/>
            <a:ext cx="219456" cy="219456"/>
          </a:xfrm>
          <a:prstGeom prst="rect">
            <a:avLst/>
          </a:prstGeom>
        </p:spPr>
      </p:pic>
      <p:sp>
        <p:nvSpPr>
          <p:cNvPr id="14" name="Text 9"/>
          <p:cNvSpPr txBox="1"/>
          <p:nvPr/>
        </p:nvSpPr>
        <p:spPr>
          <a:xfrm>
            <a:off x="8202168" y="2761488"/>
            <a:ext cx="3291840" cy="256032"/>
          </a:xfrm>
          <a:prstGeom prst="rect">
            <a:avLst/>
          </a:prstGeom>
          <a:noFill/>
          <a:ln/>
        </p:spPr>
        <p:txBody>
          <a:bodyPr wrap="square" lIns="0" tIns="0" rIns="0" bIns="0" rtlCol="0" anchor="ctr">
            <a:normAutofit/>
          </a:bodyPr>
          <a:lstStyle/>
          <a:p>
            <a:pPr marL="0" indent="0" algn="l">
              <a:buNone/>
            </a:pPr>
            <a:r>
              <a:rPr lang="en-US" sz="1320" b="1" dirty="0">
                <a:solidFill>
                  <a:srgbClr val="173042"/>
                </a:solidFill>
                <a:latin typeface="Aptos" pitchFamily="34" charset="0"/>
                <a:ea typeface="Aptos" pitchFamily="34" charset="-122"/>
                <a:cs typeface="Aptos" pitchFamily="34" charset="-120"/>
              </a:rPr>
              <a:t>Defensa en profundidad</a:t>
            </a:r>
            <a:endParaRPr lang="en-US" sz="1320" dirty="0"/>
          </a:p>
        </p:txBody>
      </p:sp>
      <p:sp>
        <p:nvSpPr>
          <p:cNvPr id="15" name="Text 10"/>
          <p:cNvSpPr txBox="1"/>
          <p:nvPr/>
        </p:nvSpPr>
        <p:spPr>
          <a:xfrm>
            <a:off x="8202168" y="3054096"/>
            <a:ext cx="3328416" cy="512064"/>
          </a:xfrm>
          <a:prstGeom prst="rect">
            <a:avLst/>
          </a:prstGeom>
          <a:noFill/>
          <a:ln/>
        </p:spPr>
        <p:txBody>
          <a:bodyPr wrap="square" lIns="0" tIns="0" rIns="0" bIns="0" rtlCol="0" anchor="t">
            <a:normAutofit/>
          </a:bodyPr>
          <a:lstStyle/>
          <a:p>
            <a:pPr marL="0" indent="0" algn="l">
              <a:buNone/>
            </a:pPr>
            <a:r>
              <a:rPr lang="en-US" sz="950" dirty="0">
                <a:solidFill>
                  <a:srgbClr val="5F7484"/>
                </a:solidFill>
                <a:latin typeface="Aptos" pitchFamily="34" charset="0"/>
                <a:ea typeface="Aptos" pitchFamily="34" charset="-122"/>
                <a:cs typeface="Aptos" pitchFamily="34" charset="-120"/>
              </a:rPr>
              <a:t>El microservicio vuelve a validar autorización, rol y operator_id antes de ejecutar la lógica.</a:t>
            </a:r>
            <a:endParaRPr lang="en-US" sz="950" dirty="0"/>
          </a:p>
        </p:txBody>
      </p:sp>
      <p:sp>
        <p:nvSpPr>
          <p:cNvPr id="16" name="Shape 11"/>
          <p:cNvSpPr/>
          <p:nvPr/>
        </p:nvSpPr>
        <p:spPr>
          <a:xfrm>
            <a:off x="7589520" y="3803904"/>
            <a:ext cx="438912" cy="438912"/>
          </a:xfrm>
          <a:prstGeom prst="ellipse">
            <a:avLst/>
          </a:prstGeom>
          <a:solidFill>
            <a:srgbClr val="2F9D68"/>
          </a:solidFill>
          <a:ln w="12700">
            <a:solidFill>
              <a:srgbClr val="2F9D68"/>
            </a:solidFill>
            <a:prstDash val="solid"/>
          </a:ln>
        </p:spPr>
        <p:txBody>
          <a:bodyPr/>
          <a:lstStyle/>
          <a:p>
            <a:endParaRPr lang="en-US"/>
          </a:p>
        </p:txBody>
      </p:sp>
      <p:pic>
        <p:nvPicPr>
          <p:cNvPr id="1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99248" y="3913632"/>
            <a:ext cx="219456" cy="219456"/>
          </a:xfrm>
          <a:prstGeom prst="rect">
            <a:avLst/>
          </a:prstGeom>
        </p:spPr>
      </p:pic>
      <p:sp>
        <p:nvSpPr>
          <p:cNvPr id="18" name="Text 12"/>
          <p:cNvSpPr txBox="1"/>
          <p:nvPr/>
        </p:nvSpPr>
        <p:spPr>
          <a:xfrm>
            <a:off x="8202168" y="3785616"/>
            <a:ext cx="3291840" cy="256032"/>
          </a:xfrm>
          <a:prstGeom prst="rect">
            <a:avLst/>
          </a:prstGeom>
          <a:noFill/>
          <a:ln/>
        </p:spPr>
        <p:txBody>
          <a:bodyPr wrap="square" lIns="0" tIns="0" rIns="0" bIns="0" rtlCol="0" anchor="ctr">
            <a:normAutofit/>
          </a:bodyPr>
          <a:lstStyle/>
          <a:p>
            <a:pPr marL="0" indent="0" algn="l">
              <a:buNone/>
            </a:pPr>
            <a:r>
              <a:rPr lang="en-US" sz="1320" b="1" dirty="0">
                <a:solidFill>
                  <a:srgbClr val="173042"/>
                </a:solidFill>
                <a:latin typeface="Aptos" pitchFamily="34" charset="0"/>
                <a:ea typeface="Aptos" pitchFamily="34" charset="-122"/>
                <a:cs typeface="Aptos" pitchFamily="34" charset="-120"/>
              </a:rPr>
              <a:t>Persistencia aislada</a:t>
            </a:r>
            <a:endParaRPr lang="en-US" sz="1320" dirty="0"/>
          </a:p>
        </p:txBody>
      </p:sp>
      <p:sp>
        <p:nvSpPr>
          <p:cNvPr id="19" name="Text 13"/>
          <p:cNvSpPr txBox="1"/>
          <p:nvPr/>
        </p:nvSpPr>
        <p:spPr>
          <a:xfrm>
            <a:off x="8202168" y="4078224"/>
            <a:ext cx="3328416" cy="512064"/>
          </a:xfrm>
          <a:prstGeom prst="rect">
            <a:avLst/>
          </a:prstGeom>
          <a:noFill/>
          <a:ln/>
        </p:spPr>
        <p:txBody>
          <a:bodyPr wrap="square" lIns="0" tIns="0" rIns="0" bIns="0" rtlCol="0" anchor="t">
            <a:normAutofit/>
          </a:bodyPr>
          <a:lstStyle/>
          <a:p>
            <a:pPr marL="0" indent="0" algn="l">
              <a:buNone/>
            </a:pPr>
            <a:r>
              <a:rPr lang="en-US" sz="950" dirty="0">
                <a:solidFill>
                  <a:srgbClr val="5F7484"/>
                </a:solidFill>
                <a:latin typeface="Aptos" pitchFamily="34" charset="0"/>
                <a:ea typeface="Aptos" pitchFamily="34" charset="-122"/>
                <a:cs typeface="Aptos" pitchFamily="34" charset="-120"/>
              </a:rPr>
              <a:t>El Repository aplica el contexto del operador a la consulta o comando.</a:t>
            </a:r>
            <a:endParaRPr lang="en-US" sz="950" dirty="0"/>
          </a:p>
        </p:txBody>
      </p:sp>
      <p:sp>
        <p:nvSpPr>
          <p:cNvPr id="20" name="Shape 14"/>
          <p:cNvSpPr/>
          <p:nvPr/>
        </p:nvSpPr>
        <p:spPr>
          <a:xfrm>
            <a:off x="7589520" y="4828032"/>
            <a:ext cx="438912" cy="438912"/>
          </a:xfrm>
          <a:prstGeom prst="ellipse">
            <a:avLst/>
          </a:prstGeom>
          <a:solidFill>
            <a:srgbClr val="6B6FD8"/>
          </a:solidFill>
          <a:ln w="12700">
            <a:solidFill>
              <a:srgbClr val="6B6FD8"/>
            </a:solidFill>
            <a:prstDash val="solid"/>
          </a:ln>
        </p:spPr>
        <p:txBody>
          <a:bodyPr/>
          <a:lstStyle/>
          <a:p>
            <a:endParaRPr lang="en-US"/>
          </a:p>
        </p:txBody>
      </p:sp>
      <p:pic>
        <p:nvPicPr>
          <p:cNvPr id="2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699248" y="4937760"/>
            <a:ext cx="219456" cy="219456"/>
          </a:xfrm>
          <a:prstGeom prst="rect">
            <a:avLst/>
          </a:prstGeom>
        </p:spPr>
      </p:pic>
      <p:sp>
        <p:nvSpPr>
          <p:cNvPr id="22" name="Text 15"/>
          <p:cNvSpPr txBox="1"/>
          <p:nvPr/>
        </p:nvSpPr>
        <p:spPr>
          <a:xfrm>
            <a:off x="8202168" y="4809744"/>
            <a:ext cx="3291840" cy="256032"/>
          </a:xfrm>
          <a:prstGeom prst="rect">
            <a:avLst/>
          </a:prstGeom>
          <a:noFill/>
          <a:ln/>
        </p:spPr>
        <p:txBody>
          <a:bodyPr wrap="square" lIns="0" tIns="0" rIns="0" bIns="0" rtlCol="0" anchor="ctr">
            <a:normAutofit/>
          </a:bodyPr>
          <a:lstStyle/>
          <a:p>
            <a:pPr marL="0" indent="0" algn="l">
              <a:buNone/>
            </a:pPr>
            <a:r>
              <a:rPr lang="en-US" sz="1320" b="1" dirty="0">
                <a:solidFill>
                  <a:srgbClr val="173042"/>
                </a:solidFill>
                <a:latin typeface="Aptos" pitchFamily="34" charset="0"/>
                <a:ea typeface="Aptos" pitchFamily="34" charset="-122"/>
                <a:cs typeface="Aptos" pitchFamily="34" charset="-120"/>
              </a:rPr>
              <a:t>Trazabilidad completa</a:t>
            </a:r>
            <a:endParaRPr lang="en-US" sz="1320" dirty="0"/>
          </a:p>
        </p:txBody>
      </p:sp>
      <p:sp>
        <p:nvSpPr>
          <p:cNvPr id="23" name="Text 16"/>
          <p:cNvSpPr txBox="1"/>
          <p:nvPr/>
        </p:nvSpPr>
        <p:spPr>
          <a:xfrm>
            <a:off x="8202168" y="5102352"/>
            <a:ext cx="3328416" cy="512064"/>
          </a:xfrm>
          <a:prstGeom prst="rect">
            <a:avLst/>
          </a:prstGeom>
          <a:noFill/>
          <a:ln/>
        </p:spPr>
        <p:txBody>
          <a:bodyPr wrap="square" lIns="0" tIns="0" rIns="0" bIns="0" rtlCol="0" anchor="t">
            <a:normAutofit/>
          </a:bodyPr>
          <a:lstStyle/>
          <a:p>
            <a:pPr marL="0" indent="0" algn="l">
              <a:buNone/>
            </a:pPr>
            <a:r>
              <a:rPr lang="en-US" sz="950" dirty="0">
                <a:solidFill>
                  <a:srgbClr val="5F7484"/>
                </a:solidFill>
                <a:latin typeface="Aptos" pitchFamily="34" charset="0"/>
                <a:ea typeface="Aptos" pitchFamily="34" charset="-122"/>
                <a:cs typeface="Aptos" pitchFamily="34" charset="-120"/>
              </a:rPr>
              <a:t>Un identificador de correlación enlaza API, eventos y auditoría.</a:t>
            </a:r>
            <a:endParaRPr lang="en-US" sz="950" dirty="0"/>
          </a:p>
        </p:txBody>
      </p:sp>
      <p:sp>
        <p:nvSpPr>
          <p:cNvPr id="24" name="Shape 17"/>
          <p:cNvSpPr/>
          <p:nvPr/>
        </p:nvSpPr>
        <p:spPr>
          <a:xfrm>
            <a:off x="7571232" y="5614416"/>
            <a:ext cx="3886200" cy="438912"/>
          </a:xfrm>
          <a:prstGeom prst="roundRect">
            <a:avLst>
              <a:gd name="adj" fmla="val 25000"/>
            </a:avLst>
          </a:prstGeom>
          <a:solidFill>
            <a:srgbClr val="FCEAEC"/>
          </a:solidFill>
          <a:ln w="12700">
            <a:solidFill>
              <a:srgbClr val="F2C8CD"/>
            </a:solidFill>
            <a:prstDash val="solid"/>
          </a:ln>
        </p:spPr>
        <p:txBody>
          <a:bodyPr/>
          <a:lstStyle/>
          <a:p>
            <a:endParaRPr lang="en-US"/>
          </a:p>
        </p:txBody>
      </p:sp>
      <p:pic>
        <p:nvPicPr>
          <p:cNvPr id="25"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799832" y="5724144"/>
            <a:ext cx="219456" cy="219456"/>
          </a:xfrm>
          <a:prstGeom prst="rect">
            <a:avLst/>
          </a:prstGeom>
        </p:spPr>
      </p:pic>
      <p:sp>
        <p:nvSpPr>
          <p:cNvPr id="26" name="Text 18"/>
          <p:cNvSpPr txBox="1"/>
          <p:nvPr/>
        </p:nvSpPr>
        <p:spPr>
          <a:xfrm>
            <a:off x="8119872" y="5669280"/>
            <a:ext cx="3054096" cy="256032"/>
          </a:xfrm>
          <a:prstGeom prst="rect">
            <a:avLst/>
          </a:prstGeom>
          <a:noFill/>
          <a:ln/>
        </p:spPr>
        <p:txBody>
          <a:bodyPr wrap="square" lIns="0" tIns="0" rIns="0" bIns="0" rtlCol="0" anchor="ctr">
            <a:normAutofit/>
          </a:bodyPr>
          <a:lstStyle/>
          <a:p>
            <a:pPr marL="0" indent="0" algn="ctr">
              <a:buNone/>
            </a:pPr>
            <a:r>
              <a:rPr lang="en-US" sz="1010" b="1" dirty="0">
                <a:solidFill>
                  <a:srgbClr val="D85B63"/>
                </a:solidFill>
                <a:latin typeface="Aptos" pitchFamily="34" charset="0"/>
                <a:ea typeface="Aptos" pitchFamily="34" charset="-122"/>
                <a:cs typeface="Aptos" pitchFamily="34" charset="-120"/>
              </a:rPr>
              <a:t>Movix no almacena contraseñas de usuarios.</a:t>
            </a:r>
            <a:endParaRPr lang="en-US" sz="1010" dirty="0"/>
          </a:p>
        </p:txBody>
      </p:sp>
      <p:sp>
        <p:nvSpPr>
          <p:cNvPr id="28" name="Slide Number Placeholder 0"/>
          <p:cNvSpPr>
            <a:spLocks noGrp="1"/>
          </p:cNvSpPr>
          <p:nvPr>
            <p:ph type="sldNum" sz="quarter" idx="4294967295"/>
          </p:nvPr>
        </p:nvSpPr>
        <p:spPr>
          <a:xfrm>
            <a:off x="11823192"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AAB6C0"/>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292608"/>
            <a:ext cx="3017520" cy="201168"/>
          </a:xfrm>
          <a:prstGeom prst="rect">
            <a:avLst/>
          </a:prstGeom>
          <a:noFill/>
          <a:ln/>
        </p:spPr>
        <p:txBody>
          <a:bodyPr wrap="square" lIns="0" tIns="0" rIns="0" bIns="0" rtlCol="0" anchor="ctr">
            <a:normAutofit/>
          </a:bodyPr>
          <a:lstStyle/>
          <a:p>
            <a:pPr marL="0" indent="0" algn="l">
              <a:buNone/>
            </a:pPr>
            <a:r>
              <a:rPr lang="en-US" sz="900" b="1" kern="0" spc="120" dirty="0">
                <a:solidFill>
                  <a:srgbClr val="0A5E8C"/>
                </a:solidFill>
                <a:latin typeface="Aptos" pitchFamily="34" charset="0"/>
                <a:ea typeface="Aptos" pitchFamily="34" charset="-122"/>
                <a:cs typeface="Aptos" pitchFamily="34" charset="-120"/>
              </a:rPr>
              <a:t>09 · DECISIONES ARQUITECTÓNICAS</a:t>
            </a:r>
            <a:endParaRPr lang="en-US" sz="900" dirty="0"/>
          </a:p>
        </p:txBody>
      </p:sp>
      <p:sp>
        <p:nvSpPr>
          <p:cNvPr id="3" name="Text 1"/>
          <p:cNvSpPr txBox="1"/>
          <p:nvPr/>
        </p:nvSpPr>
        <p:spPr>
          <a:xfrm>
            <a:off x="502920" y="530352"/>
            <a:ext cx="11064240" cy="493776"/>
          </a:xfrm>
          <a:prstGeom prst="rect">
            <a:avLst/>
          </a:prstGeom>
          <a:noFill/>
          <a:ln/>
        </p:spPr>
        <p:txBody>
          <a:bodyPr wrap="square" lIns="0" tIns="0" rIns="0" bIns="0" rtlCol="0" anchor="ctr">
            <a:normAutofit/>
          </a:bodyPr>
          <a:lstStyle/>
          <a:p>
            <a:pPr marL="0" indent="0" algn="l">
              <a:buNone/>
            </a:pPr>
            <a:r>
              <a:rPr lang="en-US" sz="2700" b="1" dirty="0">
                <a:solidFill>
                  <a:srgbClr val="173042"/>
                </a:solidFill>
                <a:latin typeface="Aptos" pitchFamily="34" charset="0"/>
                <a:ea typeface="Aptos" pitchFamily="34" charset="-122"/>
                <a:cs typeface="Aptos" pitchFamily="34" charset="-120"/>
              </a:rPr>
              <a:t>Tres ADR establecen la línea base aprobada de Movix</a:t>
            </a:r>
            <a:endParaRPr lang="en-US" sz="2700" dirty="0"/>
          </a:p>
        </p:txBody>
      </p:sp>
      <p:sp>
        <p:nvSpPr>
          <p:cNvPr id="4" name="Text 2"/>
          <p:cNvSpPr txBox="1"/>
          <p:nvPr/>
        </p:nvSpPr>
        <p:spPr>
          <a:xfrm>
            <a:off x="502920" y="1024128"/>
            <a:ext cx="10972800" cy="384048"/>
          </a:xfrm>
          <a:prstGeom prst="rect">
            <a:avLst/>
          </a:prstGeom>
          <a:noFill/>
          <a:ln/>
        </p:spPr>
        <p:txBody>
          <a:bodyPr wrap="square" lIns="0" tIns="0" rIns="0" bIns="0" rtlCol="0" anchor="t">
            <a:normAutofit/>
          </a:bodyPr>
          <a:lstStyle/>
          <a:p>
            <a:pPr marL="0" indent="0" algn="l">
              <a:buNone/>
            </a:pPr>
            <a:r>
              <a:rPr lang="en-US" sz="1250" dirty="0">
                <a:solidFill>
                  <a:srgbClr val="5F7484"/>
                </a:solidFill>
                <a:latin typeface="Aptos" pitchFamily="34" charset="0"/>
                <a:ea typeface="Aptos" pitchFamily="34" charset="-122"/>
                <a:cs typeface="Aptos" pitchFamily="34" charset="-120"/>
              </a:rPr>
              <a:t>Las decisiones formalizan la relación entre el modelo de negocio, la estructura de servicios y la propiedad de los datos.</a:t>
            </a:r>
            <a:endParaRPr lang="en-US" sz="1250" dirty="0"/>
          </a:p>
        </p:txBody>
      </p:sp>
      <p:sp>
        <p:nvSpPr>
          <p:cNvPr id="5" name="Shape 3"/>
          <p:cNvSpPr/>
          <p:nvPr/>
        </p:nvSpPr>
        <p:spPr>
          <a:xfrm>
            <a:off x="502920" y="1673352"/>
            <a:ext cx="3383280" cy="4279392"/>
          </a:xfrm>
          <a:prstGeom prst="roundRect">
            <a:avLst>
              <a:gd name="adj" fmla="val 3243"/>
            </a:avLst>
          </a:prstGeom>
          <a:solidFill>
            <a:srgbClr val="FFFFFF"/>
          </a:solidFill>
          <a:ln w="12700">
            <a:solidFill>
              <a:srgbClr val="D8E4EC"/>
            </a:solidFill>
            <a:prstDash val="solid"/>
          </a:ln>
        </p:spPr>
        <p:txBody>
          <a:bodyPr/>
          <a:lstStyle/>
          <a:p>
            <a:endParaRPr lang="en-US"/>
          </a:p>
        </p:txBody>
      </p:sp>
      <p:sp>
        <p:nvSpPr>
          <p:cNvPr id="6" name="Shape 4"/>
          <p:cNvSpPr/>
          <p:nvPr/>
        </p:nvSpPr>
        <p:spPr>
          <a:xfrm>
            <a:off x="502920" y="1673352"/>
            <a:ext cx="3383280" cy="109728"/>
          </a:xfrm>
          <a:prstGeom prst="rect">
            <a:avLst/>
          </a:prstGeom>
          <a:solidFill>
            <a:srgbClr val="0A5E8C"/>
          </a:solidFill>
          <a:ln w="12700">
            <a:solidFill>
              <a:srgbClr val="0A5E8C"/>
            </a:solidFill>
            <a:prstDash val="solid"/>
          </a:ln>
        </p:spPr>
        <p:txBody>
          <a:bodyPr/>
          <a:lstStyle/>
          <a:p>
            <a:endParaRPr lang="en-US"/>
          </a:p>
        </p:txBody>
      </p:sp>
      <p:sp>
        <p:nvSpPr>
          <p:cNvPr id="7" name="Shape 5"/>
          <p:cNvSpPr/>
          <p:nvPr/>
        </p:nvSpPr>
        <p:spPr>
          <a:xfrm>
            <a:off x="667512" y="1938528"/>
            <a:ext cx="804672" cy="310896"/>
          </a:xfrm>
          <a:prstGeom prst="roundRect">
            <a:avLst>
              <a:gd name="adj" fmla="val 35294"/>
            </a:avLst>
          </a:prstGeom>
          <a:solidFill>
            <a:srgbClr val="0A5E8C"/>
          </a:solidFill>
          <a:ln w="12700">
            <a:solidFill>
              <a:srgbClr val="0A5E8C"/>
            </a:solidFill>
            <a:prstDash val="solid"/>
          </a:ln>
        </p:spPr>
        <p:txBody>
          <a:bodyPr/>
          <a:lstStyle/>
          <a:p>
            <a:endParaRPr lang="en-US"/>
          </a:p>
        </p:txBody>
      </p:sp>
      <p:sp>
        <p:nvSpPr>
          <p:cNvPr id="8" name="Text 6"/>
          <p:cNvSpPr txBox="1"/>
          <p:nvPr/>
        </p:nvSpPr>
        <p:spPr>
          <a:xfrm>
            <a:off x="740664" y="1947672"/>
            <a:ext cx="658368" cy="274320"/>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AD-001</a:t>
            </a:r>
            <a:endParaRPr lang="en-US" sz="950" dirty="0"/>
          </a:p>
        </p:txBody>
      </p:sp>
      <p:sp>
        <p:nvSpPr>
          <p:cNvPr id="9" name="Shape 7"/>
          <p:cNvSpPr/>
          <p:nvPr/>
        </p:nvSpPr>
        <p:spPr>
          <a:xfrm>
            <a:off x="2761488" y="1938528"/>
            <a:ext cx="896112" cy="310896"/>
          </a:xfrm>
          <a:prstGeom prst="roundRect">
            <a:avLst>
              <a:gd name="adj" fmla="val 35294"/>
            </a:avLst>
          </a:prstGeom>
          <a:solidFill>
            <a:srgbClr val="E4F4EC"/>
          </a:solidFill>
          <a:ln w="12700">
            <a:solidFill>
              <a:srgbClr val="E4F4EC"/>
            </a:solidFill>
            <a:prstDash val="solid"/>
          </a:ln>
        </p:spPr>
        <p:txBody>
          <a:bodyPr/>
          <a:lstStyle/>
          <a:p>
            <a:endParaRPr lang="en-US"/>
          </a:p>
        </p:txBody>
      </p:sp>
      <p:sp>
        <p:nvSpPr>
          <p:cNvPr id="10" name="Text 8"/>
          <p:cNvSpPr txBox="1"/>
          <p:nvPr/>
        </p:nvSpPr>
        <p:spPr>
          <a:xfrm>
            <a:off x="2834640" y="1947672"/>
            <a:ext cx="749808" cy="274320"/>
          </a:xfrm>
          <a:prstGeom prst="rect">
            <a:avLst/>
          </a:prstGeom>
          <a:noFill/>
          <a:ln/>
        </p:spPr>
        <p:txBody>
          <a:bodyPr wrap="square" lIns="0" tIns="0" rIns="0" bIns="0" rtlCol="0" anchor="ctr">
            <a:normAutofit/>
          </a:bodyPr>
          <a:lstStyle/>
          <a:p>
            <a:pPr marL="0" indent="0" algn="ctr">
              <a:buNone/>
            </a:pPr>
            <a:r>
              <a:rPr lang="en-US" sz="950" b="1" dirty="0">
                <a:solidFill>
                  <a:srgbClr val="2F9D68"/>
                </a:solidFill>
                <a:latin typeface="Aptos" pitchFamily="34" charset="0"/>
                <a:ea typeface="Aptos" pitchFamily="34" charset="-122"/>
                <a:cs typeface="Aptos" pitchFamily="34" charset="-120"/>
              </a:rPr>
              <a:t>APROBADA</a:t>
            </a:r>
            <a:endParaRPr lang="en-US" sz="950" dirty="0"/>
          </a:p>
        </p:txBody>
      </p:sp>
      <p:sp>
        <p:nvSpPr>
          <p:cNvPr id="11" name="Shape 9"/>
          <p:cNvSpPr/>
          <p:nvPr/>
        </p:nvSpPr>
        <p:spPr>
          <a:xfrm>
            <a:off x="1801368" y="2487168"/>
            <a:ext cx="768096" cy="768096"/>
          </a:xfrm>
          <a:prstGeom prst="ellipse">
            <a:avLst/>
          </a:prstGeom>
          <a:solidFill>
            <a:srgbClr val="0A5E8C"/>
          </a:solidFill>
          <a:ln w="12700">
            <a:solidFill>
              <a:srgbClr val="0A5E8C"/>
            </a:solidFill>
            <a:prstDash val="solid"/>
          </a:ln>
        </p:spPr>
        <p:txBody>
          <a:bodyPr/>
          <a:lstStyle/>
          <a:p>
            <a:endParaRPr lang="en-US"/>
          </a:p>
        </p:txBody>
      </p:sp>
      <p:pic>
        <p:nvPicPr>
          <p:cNvPr id="1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93392" y="2679192"/>
            <a:ext cx="384048" cy="384048"/>
          </a:xfrm>
          <a:prstGeom prst="rect">
            <a:avLst/>
          </a:prstGeom>
        </p:spPr>
      </p:pic>
      <p:sp>
        <p:nvSpPr>
          <p:cNvPr id="13" name="Text 10"/>
          <p:cNvSpPr txBox="1"/>
          <p:nvPr/>
        </p:nvSpPr>
        <p:spPr>
          <a:xfrm>
            <a:off x="758952" y="3401568"/>
            <a:ext cx="2871216" cy="566928"/>
          </a:xfrm>
          <a:prstGeom prst="rect">
            <a:avLst/>
          </a:prstGeom>
          <a:noFill/>
          <a:ln/>
        </p:spPr>
        <p:txBody>
          <a:bodyPr wrap="square" lIns="0" tIns="0" rIns="0" bIns="0" rtlCol="0" anchor="ctr">
            <a:normAutofit/>
          </a:bodyPr>
          <a:lstStyle/>
          <a:p>
            <a:pPr marL="0" indent="0" algn="ctr">
              <a:buNone/>
            </a:pPr>
            <a:r>
              <a:rPr lang="en-US" sz="1650" b="1" dirty="0">
                <a:solidFill>
                  <a:srgbClr val="173042"/>
                </a:solidFill>
                <a:latin typeface="Aptos" pitchFamily="34" charset="0"/>
                <a:ea typeface="Aptos" pitchFamily="34" charset="-122"/>
                <a:cs typeface="Aptos" pitchFamily="34" charset="-120"/>
              </a:rPr>
              <a:t>Microservicios</a:t>
            </a:r>
            <a:endParaRPr lang="en-US" sz="1650" dirty="0"/>
          </a:p>
        </p:txBody>
      </p:sp>
      <p:sp>
        <p:nvSpPr>
          <p:cNvPr id="14" name="Text 11"/>
          <p:cNvSpPr txBox="1"/>
          <p:nvPr/>
        </p:nvSpPr>
        <p:spPr>
          <a:xfrm>
            <a:off x="758952" y="4041648"/>
            <a:ext cx="749808" cy="201168"/>
          </a:xfrm>
          <a:prstGeom prst="rect">
            <a:avLst/>
          </a:prstGeom>
          <a:noFill/>
          <a:ln/>
        </p:spPr>
        <p:txBody>
          <a:bodyPr wrap="square" lIns="0" tIns="0" rIns="0" bIns="0" rtlCol="0" anchor="ctr">
            <a:normAutofit/>
          </a:bodyPr>
          <a:lstStyle/>
          <a:p>
            <a:pPr marL="0" indent="0" algn="l">
              <a:buNone/>
            </a:pPr>
            <a:r>
              <a:rPr lang="en-US" sz="920" b="1" dirty="0">
                <a:solidFill>
                  <a:srgbClr val="0A5E8C"/>
                </a:solidFill>
                <a:latin typeface="Aptos" pitchFamily="34" charset="0"/>
                <a:ea typeface="Aptos" pitchFamily="34" charset="-122"/>
                <a:cs typeface="Aptos" pitchFamily="34" charset="-120"/>
              </a:rPr>
              <a:t>Decisión</a:t>
            </a:r>
            <a:endParaRPr lang="en-US" sz="920" dirty="0"/>
          </a:p>
        </p:txBody>
      </p:sp>
      <p:sp>
        <p:nvSpPr>
          <p:cNvPr id="15" name="Text 12"/>
          <p:cNvSpPr txBox="1"/>
          <p:nvPr/>
        </p:nvSpPr>
        <p:spPr>
          <a:xfrm>
            <a:off x="1527048" y="3986784"/>
            <a:ext cx="2084832" cy="512064"/>
          </a:xfrm>
          <a:prstGeom prst="rect">
            <a:avLst/>
          </a:prstGeom>
          <a:noFill/>
          <a:ln/>
        </p:spPr>
        <p:txBody>
          <a:bodyPr wrap="square" lIns="0" tIns="0" rIns="0" bIns="0" rtlCol="0" anchor="t">
            <a:normAutofit/>
          </a:bodyPr>
          <a:lstStyle/>
          <a:p>
            <a:pPr marL="0" indent="0" algn="l">
              <a:buNone/>
            </a:pPr>
            <a:r>
              <a:rPr lang="en-US" sz="980" dirty="0">
                <a:solidFill>
                  <a:srgbClr val="173042"/>
                </a:solidFill>
                <a:latin typeface="Aptos" pitchFamily="34" charset="0"/>
                <a:ea typeface="Aptos" pitchFamily="34" charset="-122"/>
                <a:cs typeface="Aptos" pitchFamily="34" charset="-120"/>
              </a:rPr>
              <a:t>Separar capacidades de negocio en servicios autónomos.</a:t>
            </a:r>
            <a:endParaRPr lang="en-US" sz="980" dirty="0"/>
          </a:p>
        </p:txBody>
      </p:sp>
      <p:sp>
        <p:nvSpPr>
          <p:cNvPr id="16" name="Text 13"/>
          <p:cNvSpPr txBox="1"/>
          <p:nvPr/>
        </p:nvSpPr>
        <p:spPr>
          <a:xfrm>
            <a:off x="758952" y="4636008"/>
            <a:ext cx="749808" cy="201168"/>
          </a:xfrm>
          <a:prstGeom prst="rect">
            <a:avLst/>
          </a:prstGeom>
          <a:noFill/>
          <a:ln/>
        </p:spPr>
        <p:txBody>
          <a:bodyPr wrap="square" lIns="0" tIns="0" rIns="0" bIns="0" rtlCol="0" anchor="ctr">
            <a:normAutofit/>
          </a:bodyPr>
          <a:lstStyle/>
          <a:p>
            <a:pPr marL="0" indent="0" algn="l">
              <a:buNone/>
            </a:pPr>
            <a:r>
              <a:rPr lang="en-US" sz="920" b="1" dirty="0">
                <a:solidFill>
                  <a:srgbClr val="2F9D68"/>
                </a:solidFill>
                <a:latin typeface="Aptos" pitchFamily="34" charset="0"/>
                <a:ea typeface="Aptos" pitchFamily="34" charset="-122"/>
                <a:cs typeface="Aptos" pitchFamily="34" charset="-120"/>
              </a:rPr>
              <a:t>Valor</a:t>
            </a:r>
            <a:endParaRPr lang="en-US" sz="920" dirty="0"/>
          </a:p>
        </p:txBody>
      </p:sp>
      <p:sp>
        <p:nvSpPr>
          <p:cNvPr id="17" name="Text 14"/>
          <p:cNvSpPr txBox="1"/>
          <p:nvPr/>
        </p:nvSpPr>
        <p:spPr>
          <a:xfrm>
            <a:off x="1527048" y="4581144"/>
            <a:ext cx="2084832" cy="512064"/>
          </a:xfrm>
          <a:prstGeom prst="rect">
            <a:avLst/>
          </a:prstGeom>
          <a:noFill/>
          <a:ln/>
        </p:spPr>
        <p:txBody>
          <a:bodyPr wrap="square" lIns="0" tIns="0" rIns="0" bIns="0" rtlCol="0" anchor="t">
            <a:normAutofit/>
          </a:bodyPr>
          <a:lstStyle/>
          <a:p>
            <a:pPr marL="0" indent="0" algn="l">
              <a:buNone/>
            </a:pPr>
            <a:r>
              <a:rPr lang="en-US" sz="980" dirty="0">
                <a:solidFill>
                  <a:srgbClr val="173042"/>
                </a:solidFill>
                <a:latin typeface="Aptos" pitchFamily="34" charset="0"/>
                <a:ea typeface="Aptos" pitchFamily="34" charset="-122"/>
                <a:cs typeface="Aptos" pitchFamily="34" charset="-120"/>
              </a:rPr>
              <a:t>Escalamiento, despliegue y evolución independiente.</a:t>
            </a:r>
            <a:endParaRPr lang="en-US" sz="980" dirty="0"/>
          </a:p>
        </p:txBody>
      </p:sp>
      <p:sp>
        <p:nvSpPr>
          <p:cNvPr id="18" name="Text 15"/>
          <p:cNvSpPr txBox="1"/>
          <p:nvPr/>
        </p:nvSpPr>
        <p:spPr>
          <a:xfrm>
            <a:off x="758952" y="5230368"/>
            <a:ext cx="749808" cy="201168"/>
          </a:xfrm>
          <a:prstGeom prst="rect">
            <a:avLst/>
          </a:prstGeom>
          <a:noFill/>
          <a:ln/>
        </p:spPr>
        <p:txBody>
          <a:bodyPr wrap="square" lIns="0" tIns="0" rIns="0" bIns="0" rtlCol="0" anchor="ctr">
            <a:normAutofit/>
          </a:bodyPr>
          <a:lstStyle/>
          <a:p>
            <a:pPr marL="0" indent="0" algn="l">
              <a:buNone/>
            </a:pPr>
            <a:r>
              <a:rPr lang="en-US" sz="920" b="1" dirty="0">
                <a:solidFill>
                  <a:srgbClr val="D79A27"/>
                </a:solidFill>
                <a:latin typeface="Aptos" pitchFamily="34" charset="0"/>
                <a:ea typeface="Aptos" pitchFamily="34" charset="-122"/>
                <a:cs typeface="Aptos" pitchFamily="34" charset="-120"/>
              </a:rPr>
              <a:t>Trade-off</a:t>
            </a:r>
            <a:endParaRPr lang="en-US" sz="920" dirty="0"/>
          </a:p>
        </p:txBody>
      </p:sp>
      <p:sp>
        <p:nvSpPr>
          <p:cNvPr id="19" name="Text 16"/>
          <p:cNvSpPr txBox="1"/>
          <p:nvPr/>
        </p:nvSpPr>
        <p:spPr>
          <a:xfrm>
            <a:off x="1527048" y="5175504"/>
            <a:ext cx="2084832" cy="512064"/>
          </a:xfrm>
          <a:prstGeom prst="rect">
            <a:avLst/>
          </a:prstGeom>
          <a:noFill/>
          <a:ln/>
        </p:spPr>
        <p:txBody>
          <a:bodyPr wrap="square" lIns="0" tIns="0" rIns="0" bIns="0" rtlCol="0" anchor="t">
            <a:normAutofit/>
          </a:bodyPr>
          <a:lstStyle/>
          <a:p>
            <a:pPr marL="0" indent="0" algn="l">
              <a:buNone/>
            </a:pPr>
            <a:r>
              <a:rPr lang="en-US" sz="980" dirty="0">
                <a:solidFill>
                  <a:srgbClr val="173042"/>
                </a:solidFill>
                <a:latin typeface="Aptos" pitchFamily="34" charset="0"/>
                <a:ea typeface="Aptos" pitchFamily="34" charset="-122"/>
                <a:cs typeface="Aptos" pitchFamily="34" charset="-120"/>
              </a:rPr>
              <a:t>Mayor complejidad distribuida y operativa.</a:t>
            </a:r>
            <a:endParaRPr lang="en-US" sz="980" dirty="0"/>
          </a:p>
        </p:txBody>
      </p:sp>
      <p:sp>
        <p:nvSpPr>
          <p:cNvPr id="20" name="Shape 17"/>
          <p:cNvSpPr/>
          <p:nvPr/>
        </p:nvSpPr>
        <p:spPr>
          <a:xfrm>
            <a:off x="4160520" y="1673352"/>
            <a:ext cx="3383280" cy="4279392"/>
          </a:xfrm>
          <a:prstGeom prst="roundRect">
            <a:avLst>
              <a:gd name="adj" fmla="val 3243"/>
            </a:avLst>
          </a:prstGeom>
          <a:solidFill>
            <a:srgbClr val="FFFFFF"/>
          </a:solidFill>
          <a:ln w="12700">
            <a:solidFill>
              <a:srgbClr val="D8E4EC"/>
            </a:solidFill>
            <a:prstDash val="solid"/>
          </a:ln>
        </p:spPr>
        <p:txBody>
          <a:bodyPr/>
          <a:lstStyle/>
          <a:p>
            <a:endParaRPr lang="en-US"/>
          </a:p>
        </p:txBody>
      </p:sp>
      <p:sp>
        <p:nvSpPr>
          <p:cNvPr id="21" name="Shape 18"/>
          <p:cNvSpPr/>
          <p:nvPr/>
        </p:nvSpPr>
        <p:spPr>
          <a:xfrm>
            <a:off x="4160520" y="1673352"/>
            <a:ext cx="3383280" cy="109728"/>
          </a:xfrm>
          <a:prstGeom prst="rect">
            <a:avLst/>
          </a:prstGeom>
          <a:solidFill>
            <a:srgbClr val="19A394"/>
          </a:solidFill>
          <a:ln w="12700">
            <a:solidFill>
              <a:srgbClr val="19A394"/>
            </a:solidFill>
            <a:prstDash val="solid"/>
          </a:ln>
        </p:spPr>
        <p:txBody>
          <a:bodyPr/>
          <a:lstStyle/>
          <a:p>
            <a:endParaRPr lang="en-US"/>
          </a:p>
        </p:txBody>
      </p:sp>
      <p:sp>
        <p:nvSpPr>
          <p:cNvPr id="22" name="Shape 19"/>
          <p:cNvSpPr/>
          <p:nvPr/>
        </p:nvSpPr>
        <p:spPr>
          <a:xfrm>
            <a:off x="4325112" y="1938528"/>
            <a:ext cx="804672" cy="310896"/>
          </a:xfrm>
          <a:prstGeom prst="roundRect">
            <a:avLst>
              <a:gd name="adj" fmla="val 35294"/>
            </a:avLst>
          </a:prstGeom>
          <a:solidFill>
            <a:srgbClr val="19A394"/>
          </a:solidFill>
          <a:ln w="12700">
            <a:solidFill>
              <a:srgbClr val="19A394"/>
            </a:solidFill>
            <a:prstDash val="solid"/>
          </a:ln>
        </p:spPr>
        <p:txBody>
          <a:bodyPr/>
          <a:lstStyle/>
          <a:p>
            <a:endParaRPr lang="en-US"/>
          </a:p>
        </p:txBody>
      </p:sp>
      <p:sp>
        <p:nvSpPr>
          <p:cNvPr id="23" name="Text 20"/>
          <p:cNvSpPr txBox="1"/>
          <p:nvPr/>
        </p:nvSpPr>
        <p:spPr>
          <a:xfrm>
            <a:off x="4398264" y="1947672"/>
            <a:ext cx="658368" cy="274320"/>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AD-002</a:t>
            </a:r>
            <a:endParaRPr lang="en-US" sz="950" dirty="0"/>
          </a:p>
        </p:txBody>
      </p:sp>
      <p:sp>
        <p:nvSpPr>
          <p:cNvPr id="24" name="Shape 21"/>
          <p:cNvSpPr/>
          <p:nvPr/>
        </p:nvSpPr>
        <p:spPr>
          <a:xfrm>
            <a:off x="6419088" y="1938528"/>
            <a:ext cx="896112" cy="310896"/>
          </a:xfrm>
          <a:prstGeom prst="roundRect">
            <a:avLst>
              <a:gd name="adj" fmla="val 35294"/>
            </a:avLst>
          </a:prstGeom>
          <a:solidFill>
            <a:srgbClr val="E4F4EC"/>
          </a:solidFill>
          <a:ln w="12700">
            <a:solidFill>
              <a:srgbClr val="E4F4EC"/>
            </a:solidFill>
            <a:prstDash val="solid"/>
          </a:ln>
        </p:spPr>
        <p:txBody>
          <a:bodyPr/>
          <a:lstStyle/>
          <a:p>
            <a:endParaRPr lang="en-US"/>
          </a:p>
        </p:txBody>
      </p:sp>
      <p:sp>
        <p:nvSpPr>
          <p:cNvPr id="25" name="Text 22"/>
          <p:cNvSpPr txBox="1"/>
          <p:nvPr/>
        </p:nvSpPr>
        <p:spPr>
          <a:xfrm>
            <a:off x="6492240" y="1947672"/>
            <a:ext cx="749808" cy="274320"/>
          </a:xfrm>
          <a:prstGeom prst="rect">
            <a:avLst/>
          </a:prstGeom>
          <a:noFill/>
          <a:ln/>
        </p:spPr>
        <p:txBody>
          <a:bodyPr wrap="square" lIns="0" tIns="0" rIns="0" bIns="0" rtlCol="0" anchor="ctr">
            <a:normAutofit/>
          </a:bodyPr>
          <a:lstStyle/>
          <a:p>
            <a:pPr marL="0" indent="0" algn="ctr">
              <a:buNone/>
            </a:pPr>
            <a:r>
              <a:rPr lang="en-US" sz="950" b="1" dirty="0">
                <a:solidFill>
                  <a:srgbClr val="2F9D68"/>
                </a:solidFill>
                <a:latin typeface="Aptos" pitchFamily="34" charset="0"/>
                <a:ea typeface="Aptos" pitchFamily="34" charset="-122"/>
                <a:cs typeface="Aptos" pitchFamily="34" charset="-120"/>
              </a:rPr>
              <a:t>APROBADA</a:t>
            </a:r>
            <a:endParaRPr lang="en-US" sz="950" dirty="0"/>
          </a:p>
        </p:txBody>
      </p:sp>
      <p:sp>
        <p:nvSpPr>
          <p:cNvPr id="26" name="Shape 23"/>
          <p:cNvSpPr/>
          <p:nvPr/>
        </p:nvSpPr>
        <p:spPr>
          <a:xfrm>
            <a:off x="5458968" y="2487168"/>
            <a:ext cx="768096" cy="768096"/>
          </a:xfrm>
          <a:prstGeom prst="ellipse">
            <a:avLst/>
          </a:prstGeom>
          <a:solidFill>
            <a:srgbClr val="19A394"/>
          </a:solidFill>
          <a:ln w="12700">
            <a:solidFill>
              <a:srgbClr val="19A394"/>
            </a:solidFill>
            <a:prstDash val="solid"/>
          </a:ln>
        </p:spPr>
        <p:txBody>
          <a:bodyPr/>
          <a:lstStyle/>
          <a:p>
            <a:endParaRPr lang="en-US"/>
          </a:p>
        </p:txBody>
      </p:sp>
      <p:pic>
        <p:nvPicPr>
          <p:cNvPr id="2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50992" y="2679192"/>
            <a:ext cx="384048" cy="384048"/>
          </a:xfrm>
          <a:prstGeom prst="rect">
            <a:avLst/>
          </a:prstGeom>
        </p:spPr>
      </p:pic>
      <p:sp>
        <p:nvSpPr>
          <p:cNvPr id="28" name="Text 24"/>
          <p:cNvSpPr txBox="1"/>
          <p:nvPr/>
        </p:nvSpPr>
        <p:spPr>
          <a:xfrm>
            <a:off x="4416552" y="3401568"/>
            <a:ext cx="2871216" cy="566928"/>
          </a:xfrm>
          <a:prstGeom prst="rect">
            <a:avLst/>
          </a:prstGeom>
          <a:noFill/>
          <a:ln/>
        </p:spPr>
        <p:txBody>
          <a:bodyPr wrap="square" lIns="0" tIns="0" rIns="0" bIns="0" rtlCol="0" anchor="ctr">
            <a:normAutofit/>
          </a:bodyPr>
          <a:lstStyle/>
          <a:p>
            <a:pPr marL="0" indent="0" algn="ctr">
              <a:buNone/>
            </a:pPr>
            <a:r>
              <a:rPr lang="en-US" sz="1650" b="1" dirty="0">
                <a:solidFill>
                  <a:srgbClr val="173042"/>
                </a:solidFill>
                <a:latin typeface="Aptos" pitchFamily="34" charset="0"/>
                <a:ea typeface="Aptos" pitchFamily="34" charset="-122"/>
                <a:cs typeface="Aptos" pitchFamily="34" charset="-120"/>
              </a:rPr>
              <a:t>SaaS multioperador</a:t>
            </a:r>
            <a:endParaRPr lang="en-US" sz="1650" dirty="0"/>
          </a:p>
        </p:txBody>
      </p:sp>
      <p:sp>
        <p:nvSpPr>
          <p:cNvPr id="29" name="Text 25"/>
          <p:cNvSpPr txBox="1"/>
          <p:nvPr/>
        </p:nvSpPr>
        <p:spPr>
          <a:xfrm>
            <a:off x="4416552" y="4041648"/>
            <a:ext cx="749808" cy="201168"/>
          </a:xfrm>
          <a:prstGeom prst="rect">
            <a:avLst/>
          </a:prstGeom>
          <a:noFill/>
          <a:ln/>
        </p:spPr>
        <p:txBody>
          <a:bodyPr wrap="square" lIns="0" tIns="0" rIns="0" bIns="0" rtlCol="0" anchor="ctr">
            <a:normAutofit/>
          </a:bodyPr>
          <a:lstStyle/>
          <a:p>
            <a:pPr marL="0" indent="0" algn="l">
              <a:buNone/>
            </a:pPr>
            <a:r>
              <a:rPr lang="en-US" sz="920" b="1" dirty="0">
                <a:solidFill>
                  <a:srgbClr val="19A394"/>
                </a:solidFill>
                <a:latin typeface="Aptos" pitchFamily="34" charset="0"/>
                <a:ea typeface="Aptos" pitchFamily="34" charset="-122"/>
                <a:cs typeface="Aptos" pitchFamily="34" charset="-120"/>
              </a:rPr>
              <a:t>Decisión</a:t>
            </a:r>
            <a:endParaRPr lang="en-US" sz="920" dirty="0"/>
          </a:p>
        </p:txBody>
      </p:sp>
      <p:sp>
        <p:nvSpPr>
          <p:cNvPr id="30" name="Text 26"/>
          <p:cNvSpPr txBox="1"/>
          <p:nvPr/>
        </p:nvSpPr>
        <p:spPr>
          <a:xfrm>
            <a:off x="5184648" y="3986784"/>
            <a:ext cx="2084832" cy="512064"/>
          </a:xfrm>
          <a:prstGeom prst="rect">
            <a:avLst/>
          </a:prstGeom>
          <a:noFill/>
          <a:ln/>
        </p:spPr>
        <p:txBody>
          <a:bodyPr wrap="square" lIns="0" tIns="0" rIns="0" bIns="0" rtlCol="0" anchor="t">
            <a:normAutofit/>
          </a:bodyPr>
          <a:lstStyle/>
          <a:p>
            <a:pPr marL="0" indent="0" algn="l">
              <a:buNone/>
            </a:pPr>
            <a:r>
              <a:rPr lang="en-US" sz="980" dirty="0">
                <a:solidFill>
                  <a:srgbClr val="173042"/>
                </a:solidFill>
                <a:latin typeface="Aptos" pitchFamily="34" charset="0"/>
                <a:ea typeface="Aptos" pitchFamily="34" charset="-122"/>
                <a:cs typeface="Aptos" pitchFamily="34" charset="-120"/>
              </a:rPr>
              <a:t>Compartir la plataforma con aislamiento lógico estricto.</a:t>
            </a:r>
            <a:endParaRPr lang="en-US" sz="980" dirty="0"/>
          </a:p>
        </p:txBody>
      </p:sp>
      <p:sp>
        <p:nvSpPr>
          <p:cNvPr id="31" name="Text 27"/>
          <p:cNvSpPr txBox="1"/>
          <p:nvPr/>
        </p:nvSpPr>
        <p:spPr>
          <a:xfrm>
            <a:off x="4416552" y="4636008"/>
            <a:ext cx="749808" cy="201168"/>
          </a:xfrm>
          <a:prstGeom prst="rect">
            <a:avLst/>
          </a:prstGeom>
          <a:noFill/>
          <a:ln/>
        </p:spPr>
        <p:txBody>
          <a:bodyPr wrap="square" lIns="0" tIns="0" rIns="0" bIns="0" rtlCol="0" anchor="ctr">
            <a:normAutofit/>
          </a:bodyPr>
          <a:lstStyle/>
          <a:p>
            <a:pPr marL="0" indent="0" algn="l">
              <a:buNone/>
            </a:pPr>
            <a:r>
              <a:rPr lang="en-US" sz="920" b="1" dirty="0">
                <a:solidFill>
                  <a:srgbClr val="2F9D68"/>
                </a:solidFill>
                <a:latin typeface="Aptos" pitchFamily="34" charset="0"/>
                <a:ea typeface="Aptos" pitchFamily="34" charset="-122"/>
                <a:cs typeface="Aptos" pitchFamily="34" charset="-120"/>
              </a:rPr>
              <a:t>Valor</a:t>
            </a:r>
            <a:endParaRPr lang="en-US" sz="920" dirty="0"/>
          </a:p>
        </p:txBody>
      </p:sp>
      <p:sp>
        <p:nvSpPr>
          <p:cNvPr id="32" name="Text 28"/>
          <p:cNvSpPr txBox="1"/>
          <p:nvPr/>
        </p:nvSpPr>
        <p:spPr>
          <a:xfrm>
            <a:off x="5184648" y="4581144"/>
            <a:ext cx="2084832" cy="512064"/>
          </a:xfrm>
          <a:prstGeom prst="rect">
            <a:avLst/>
          </a:prstGeom>
          <a:noFill/>
          <a:ln/>
        </p:spPr>
        <p:txBody>
          <a:bodyPr wrap="square" lIns="0" tIns="0" rIns="0" bIns="0" rtlCol="0" anchor="t">
            <a:normAutofit/>
          </a:bodyPr>
          <a:lstStyle/>
          <a:p>
            <a:pPr marL="0" indent="0" algn="l">
              <a:buNone/>
            </a:pPr>
            <a:r>
              <a:rPr lang="en-US" sz="980" dirty="0">
                <a:solidFill>
                  <a:srgbClr val="173042"/>
                </a:solidFill>
                <a:latin typeface="Aptos" pitchFamily="34" charset="0"/>
                <a:ea typeface="Aptos" pitchFamily="34" charset="-122"/>
                <a:cs typeface="Aptos" pitchFamily="34" charset="-120"/>
              </a:rPr>
              <a:t>Configuración y crecimiento por operador sin mezclar datos.</a:t>
            </a:r>
            <a:endParaRPr lang="en-US" sz="980" dirty="0"/>
          </a:p>
        </p:txBody>
      </p:sp>
      <p:sp>
        <p:nvSpPr>
          <p:cNvPr id="33" name="Text 29"/>
          <p:cNvSpPr txBox="1"/>
          <p:nvPr/>
        </p:nvSpPr>
        <p:spPr>
          <a:xfrm>
            <a:off x="4416552" y="5230368"/>
            <a:ext cx="749808" cy="201168"/>
          </a:xfrm>
          <a:prstGeom prst="rect">
            <a:avLst/>
          </a:prstGeom>
          <a:noFill/>
          <a:ln/>
        </p:spPr>
        <p:txBody>
          <a:bodyPr wrap="square" lIns="0" tIns="0" rIns="0" bIns="0" rtlCol="0" anchor="ctr">
            <a:normAutofit/>
          </a:bodyPr>
          <a:lstStyle/>
          <a:p>
            <a:pPr marL="0" indent="0" algn="l">
              <a:buNone/>
            </a:pPr>
            <a:r>
              <a:rPr lang="en-US" sz="920" b="1" dirty="0">
                <a:solidFill>
                  <a:srgbClr val="D79A27"/>
                </a:solidFill>
                <a:latin typeface="Aptos" pitchFamily="34" charset="0"/>
                <a:ea typeface="Aptos" pitchFamily="34" charset="-122"/>
                <a:cs typeface="Aptos" pitchFamily="34" charset="-120"/>
              </a:rPr>
              <a:t>Trade-off</a:t>
            </a:r>
            <a:endParaRPr lang="en-US" sz="920" dirty="0"/>
          </a:p>
        </p:txBody>
      </p:sp>
      <p:sp>
        <p:nvSpPr>
          <p:cNvPr id="34" name="Text 30"/>
          <p:cNvSpPr txBox="1"/>
          <p:nvPr/>
        </p:nvSpPr>
        <p:spPr>
          <a:xfrm>
            <a:off x="5184648" y="5175504"/>
            <a:ext cx="2084832" cy="512064"/>
          </a:xfrm>
          <a:prstGeom prst="rect">
            <a:avLst/>
          </a:prstGeom>
          <a:noFill/>
          <a:ln/>
        </p:spPr>
        <p:txBody>
          <a:bodyPr wrap="square" lIns="0" tIns="0" rIns="0" bIns="0" rtlCol="0" anchor="t">
            <a:normAutofit/>
          </a:bodyPr>
          <a:lstStyle/>
          <a:p>
            <a:pPr marL="0" indent="0" algn="l">
              <a:buNone/>
            </a:pPr>
            <a:r>
              <a:rPr lang="en-US" sz="980" dirty="0">
                <a:solidFill>
                  <a:srgbClr val="173042"/>
                </a:solidFill>
                <a:latin typeface="Aptos" pitchFamily="34" charset="0"/>
                <a:ea typeface="Aptos" pitchFamily="34" charset="-122"/>
                <a:cs typeface="Aptos" pitchFamily="34" charset="-120"/>
              </a:rPr>
              <a:t>Mayor exigencia en autorización y modelado.</a:t>
            </a:r>
            <a:endParaRPr lang="en-US" sz="980" dirty="0"/>
          </a:p>
        </p:txBody>
      </p:sp>
      <p:sp>
        <p:nvSpPr>
          <p:cNvPr id="35" name="Shape 31"/>
          <p:cNvSpPr/>
          <p:nvPr/>
        </p:nvSpPr>
        <p:spPr>
          <a:xfrm>
            <a:off x="7818120" y="1673352"/>
            <a:ext cx="3383280" cy="4279392"/>
          </a:xfrm>
          <a:prstGeom prst="roundRect">
            <a:avLst>
              <a:gd name="adj" fmla="val 3243"/>
            </a:avLst>
          </a:prstGeom>
          <a:solidFill>
            <a:srgbClr val="FFFFFF"/>
          </a:solidFill>
          <a:ln w="12700">
            <a:solidFill>
              <a:srgbClr val="D8E4EC"/>
            </a:solidFill>
            <a:prstDash val="solid"/>
          </a:ln>
        </p:spPr>
        <p:txBody>
          <a:bodyPr/>
          <a:lstStyle/>
          <a:p>
            <a:endParaRPr lang="en-US"/>
          </a:p>
        </p:txBody>
      </p:sp>
      <p:sp>
        <p:nvSpPr>
          <p:cNvPr id="36" name="Shape 32"/>
          <p:cNvSpPr/>
          <p:nvPr/>
        </p:nvSpPr>
        <p:spPr>
          <a:xfrm>
            <a:off x="7818120" y="1673352"/>
            <a:ext cx="3383280" cy="109728"/>
          </a:xfrm>
          <a:prstGeom prst="rect">
            <a:avLst/>
          </a:prstGeom>
          <a:solidFill>
            <a:srgbClr val="6B6FD8"/>
          </a:solidFill>
          <a:ln w="12700">
            <a:solidFill>
              <a:srgbClr val="6B6FD8"/>
            </a:solidFill>
            <a:prstDash val="solid"/>
          </a:ln>
        </p:spPr>
        <p:txBody>
          <a:bodyPr/>
          <a:lstStyle/>
          <a:p>
            <a:endParaRPr lang="en-US"/>
          </a:p>
        </p:txBody>
      </p:sp>
      <p:sp>
        <p:nvSpPr>
          <p:cNvPr id="37" name="Shape 33"/>
          <p:cNvSpPr/>
          <p:nvPr/>
        </p:nvSpPr>
        <p:spPr>
          <a:xfrm>
            <a:off x="7982712" y="1938528"/>
            <a:ext cx="804672" cy="310896"/>
          </a:xfrm>
          <a:prstGeom prst="roundRect">
            <a:avLst>
              <a:gd name="adj" fmla="val 35294"/>
            </a:avLst>
          </a:prstGeom>
          <a:solidFill>
            <a:srgbClr val="6B6FD8"/>
          </a:solidFill>
          <a:ln w="12700">
            <a:solidFill>
              <a:srgbClr val="6B6FD8"/>
            </a:solidFill>
            <a:prstDash val="solid"/>
          </a:ln>
        </p:spPr>
        <p:txBody>
          <a:bodyPr/>
          <a:lstStyle/>
          <a:p>
            <a:endParaRPr lang="en-US"/>
          </a:p>
        </p:txBody>
      </p:sp>
      <p:sp>
        <p:nvSpPr>
          <p:cNvPr id="38" name="Text 34"/>
          <p:cNvSpPr txBox="1"/>
          <p:nvPr/>
        </p:nvSpPr>
        <p:spPr>
          <a:xfrm>
            <a:off x="8055864" y="1947672"/>
            <a:ext cx="658368" cy="274320"/>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AD-003</a:t>
            </a:r>
            <a:endParaRPr lang="en-US" sz="950" dirty="0"/>
          </a:p>
        </p:txBody>
      </p:sp>
      <p:sp>
        <p:nvSpPr>
          <p:cNvPr id="39" name="Shape 35"/>
          <p:cNvSpPr/>
          <p:nvPr/>
        </p:nvSpPr>
        <p:spPr>
          <a:xfrm>
            <a:off x="10076688" y="1938528"/>
            <a:ext cx="896112" cy="310896"/>
          </a:xfrm>
          <a:prstGeom prst="roundRect">
            <a:avLst>
              <a:gd name="adj" fmla="val 35294"/>
            </a:avLst>
          </a:prstGeom>
          <a:solidFill>
            <a:srgbClr val="E4F4EC"/>
          </a:solidFill>
          <a:ln w="12700">
            <a:solidFill>
              <a:srgbClr val="E4F4EC"/>
            </a:solidFill>
            <a:prstDash val="solid"/>
          </a:ln>
        </p:spPr>
        <p:txBody>
          <a:bodyPr/>
          <a:lstStyle/>
          <a:p>
            <a:endParaRPr lang="en-US"/>
          </a:p>
        </p:txBody>
      </p:sp>
      <p:sp>
        <p:nvSpPr>
          <p:cNvPr id="40" name="Text 36"/>
          <p:cNvSpPr txBox="1"/>
          <p:nvPr/>
        </p:nvSpPr>
        <p:spPr>
          <a:xfrm>
            <a:off x="10149840" y="1947672"/>
            <a:ext cx="749808" cy="274320"/>
          </a:xfrm>
          <a:prstGeom prst="rect">
            <a:avLst/>
          </a:prstGeom>
          <a:noFill/>
          <a:ln/>
        </p:spPr>
        <p:txBody>
          <a:bodyPr wrap="square" lIns="0" tIns="0" rIns="0" bIns="0" rtlCol="0" anchor="ctr">
            <a:normAutofit/>
          </a:bodyPr>
          <a:lstStyle/>
          <a:p>
            <a:pPr marL="0" indent="0" algn="ctr">
              <a:buNone/>
            </a:pPr>
            <a:r>
              <a:rPr lang="en-US" sz="950" b="1" dirty="0">
                <a:solidFill>
                  <a:srgbClr val="2F9D68"/>
                </a:solidFill>
                <a:latin typeface="Aptos" pitchFamily="34" charset="0"/>
                <a:ea typeface="Aptos" pitchFamily="34" charset="-122"/>
                <a:cs typeface="Aptos" pitchFamily="34" charset="-120"/>
              </a:rPr>
              <a:t>APROBADA</a:t>
            </a:r>
            <a:endParaRPr lang="en-US" sz="950" dirty="0"/>
          </a:p>
        </p:txBody>
      </p:sp>
      <p:sp>
        <p:nvSpPr>
          <p:cNvPr id="41" name="Shape 37"/>
          <p:cNvSpPr/>
          <p:nvPr/>
        </p:nvSpPr>
        <p:spPr>
          <a:xfrm>
            <a:off x="9116568" y="2487168"/>
            <a:ext cx="768096" cy="768096"/>
          </a:xfrm>
          <a:prstGeom prst="ellipse">
            <a:avLst/>
          </a:prstGeom>
          <a:solidFill>
            <a:srgbClr val="6B6FD8"/>
          </a:solidFill>
          <a:ln w="12700">
            <a:solidFill>
              <a:srgbClr val="6B6FD8"/>
            </a:solidFill>
            <a:prstDash val="solid"/>
          </a:ln>
        </p:spPr>
        <p:txBody>
          <a:bodyPr/>
          <a:lstStyle/>
          <a:p>
            <a:endParaRPr lang="en-US"/>
          </a:p>
        </p:txBody>
      </p:sp>
      <p:pic>
        <p:nvPicPr>
          <p:cNvPr id="4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08592" y="2679192"/>
            <a:ext cx="384048" cy="384048"/>
          </a:xfrm>
          <a:prstGeom prst="rect">
            <a:avLst/>
          </a:prstGeom>
        </p:spPr>
      </p:pic>
      <p:sp>
        <p:nvSpPr>
          <p:cNvPr id="43" name="Text 38"/>
          <p:cNvSpPr txBox="1"/>
          <p:nvPr/>
        </p:nvSpPr>
        <p:spPr>
          <a:xfrm>
            <a:off x="8074152" y="3401568"/>
            <a:ext cx="2871216" cy="566928"/>
          </a:xfrm>
          <a:prstGeom prst="rect">
            <a:avLst/>
          </a:prstGeom>
          <a:noFill/>
          <a:ln/>
        </p:spPr>
        <p:txBody>
          <a:bodyPr wrap="square" lIns="0" tIns="0" rIns="0" bIns="0" rtlCol="0" anchor="ctr">
            <a:normAutofit/>
          </a:bodyPr>
          <a:lstStyle/>
          <a:p>
            <a:pPr marL="0" indent="0" algn="ctr">
              <a:buNone/>
            </a:pPr>
            <a:r>
              <a:rPr lang="en-US" sz="1650" b="1" dirty="0">
                <a:solidFill>
                  <a:srgbClr val="173042"/>
                </a:solidFill>
                <a:latin typeface="Aptos" pitchFamily="34" charset="0"/>
                <a:ea typeface="Aptos" pitchFamily="34" charset="-122"/>
                <a:cs typeface="Aptos" pitchFamily="34" charset="-120"/>
              </a:rPr>
              <a:t>Persistencia políglota distribuida</a:t>
            </a:r>
            <a:endParaRPr lang="en-US" sz="1650" dirty="0"/>
          </a:p>
        </p:txBody>
      </p:sp>
      <p:sp>
        <p:nvSpPr>
          <p:cNvPr id="44" name="Text 39"/>
          <p:cNvSpPr txBox="1"/>
          <p:nvPr/>
        </p:nvSpPr>
        <p:spPr>
          <a:xfrm>
            <a:off x="8074152" y="4041648"/>
            <a:ext cx="749808" cy="201168"/>
          </a:xfrm>
          <a:prstGeom prst="rect">
            <a:avLst/>
          </a:prstGeom>
          <a:noFill/>
          <a:ln/>
        </p:spPr>
        <p:txBody>
          <a:bodyPr wrap="square" lIns="0" tIns="0" rIns="0" bIns="0" rtlCol="0" anchor="ctr">
            <a:normAutofit/>
          </a:bodyPr>
          <a:lstStyle/>
          <a:p>
            <a:pPr marL="0" indent="0" algn="l">
              <a:buNone/>
            </a:pPr>
            <a:r>
              <a:rPr lang="en-US" sz="920" b="1" dirty="0">
                <a:solidFill>
                  <a:srgbClr val="6B6FD8"/>
                </a:solidFill>
                <a:latin typeface="Aptos" pitchFamily="34" charset="0"/>
                <a:ea typeface="Aptos" pitchFamily="34" charset="-122"/>
                <a:cs typeface="Aptos" pitchFamily="34" charset="-120"/>
              </a:rPr>
              <a:t>Decisión</a:t>
            </a:r>
            <a:endParaRPr lang="en-US" sz="920" dirty="0"/>
          </a:p>
        </p:txBody>
      </p:sp>
      <p:sp>
        <p:nvSpPr>
          <p:cNvPr id="45" name="Text 40"/>
          <p:cNvSpPr txBox="1"/>
          <p:nvPr/>
        </p:nvSpPr>
        <p:spPr>
          <a:xfrm>
            <a:off x="8842248" y="3986784"/>
            <a:ext cx="2084832" cy="512064"/>
          </a:xfrm>
          <a:prstGeom prst="rect">
            <a:avLst/>
          </a:prstGeom>
          <a:noFill/>
          <a:ln/>
        </p:spPr>
        <p:txBody>
          <a:bodyPr wrap="square" lIns="0" tIns="0" rIns="0" bIns="0" rtlCol="0" anchor="t">
            <a:normAutofit/>
          </a:bodyPr>
          <a:lstStyle/>
          <a:p>
            <a:pPr marL="0" indent="0" algn="l">
              <a:buNone/>
            </a:pPr>
            <a:r>
              <a:rPr lang="en-US" sz="980" dirty="0">
                <a:solidFill>
                  <a:srgbClr val="173042"/>
                </a:solidFill>
                <a:latin typeface="Aptos" pitchFamily="34" charset="0"/>
                <a:ea typeface="Aptos" pitchFamily="34" charset="-122"/>
                <a:cs typeface="Aptos" pitchFamily="34" charset="-120"/>
              </a:rPr>
              <a:t>Cada servicio administra su propio mecanismo de persistencia.</a:t>
            </a:r>
            <a:endParaRPr lang="en-US" sz="980" dirty="0"/>
          </a:p>
        </p:txBody>
      </p:sp>
      <p:sp>
        <p:nvSpPr>
          <p:cNvPr id="46" name="Text 41"/>
          <p:cNvSpPr txBox="1"/>
          <p:nvPr/>
        </p:nvSpPr>
        <p:spPr>
          <a:xfrm>
            <a:off x="8074152" y="4636008"/>
            <a:ext cx="749808" cy="201168"/>
          </a:xfrm>
          <a:prstGeom prst="rect">
            <a:avLst/>
          </a:prstGeom>
          <a:noFill/>
          <a:ln/>
        </p:spPr>
        <p:txBody>
          <a:bodyPr wrap="square" lIns="0" tIns="0" rIns="0" bIns="0" rtlCol="0" anchor="ctr">
            <a:normAutofit/>
          </a:bodyPr>
          <a:lstStyle/>
          <a:p>
            <a:pPr marL="0" indent="0" algn="l">
              <a:buNone/>
            </a:pPr>
            <a:r>
              <a:rPr lang="en-US" sz="920" b="1" dirty="0">
                <a:solidFill>
                  <a:srgbClr val="2F9D68"/>
                </a:solidFill>
                <a:latin typeface="Aptos" pitchFamily="34" charset="0"/>
                <a:ea typeface="Aptos" pitchFamily="34" charset="-122"/>
                <a:cs typeface="Aptos" pitchFamily="34" charset="-120"/>
              </a:rPr>
              <a:t>Valor</a:t>
            </a:r>
            <a:endParaRPr lang="en-US" sz="920" dirty="0"/>
          </a:p>
        </p:txBody>
      </p:sp>
      <p:sp>
        <p:nvSpPr>
          <p:cNvPr id="47" name="Text 42"/>
          <p:cNvSpPr txBox="1"/>
          <p:nvPr/>
        </p:nvSpPr>
        <p:spPr>
          <a:xfrm>
            <a:off x="8842248" y="4581144"/>
            <a:ext cx="2084832" cy="512064"/>
          </a:xfrm>
          <a:prstGeom prst="rect">
            <a:avLst/>
          </a:prstGeom>
          <a:noFill/>
          <a:ln/>
        </p:spPr>
        <p:txBody>
          <a:bodyPr wrap="square" lIns="0" tIns="0" rIns="0" bIns="0" rtlCol="0" anchor="t">
            <a:normAutofit/>
          </a:bodyPr>
          <a:lstStyle/>
          <a:p>
            <a:pPr marL="0" indent="0" algn="l">
              <a:buNone/>
            </a:pPr>
            <a:r>
              <a:rPr lang="en-US" sz="980" dirty="0">
                <a:solidFill>
                  <a:srgbClr val="173042"/>
                </a:solidFill>
                <a:latin typeface="Aptos" pitchFamily="34" charset="0"/>
                <a:ea typeface="Aptos" pitchFamily="34" charset="-122"/>
                <a:cs typeface="Aptos" pitchFamily="34" charset="-120"/>
              </a:rPr>
              <a:t>Autonomía, offline móvil y evolución por dominio.</a:t>
            </a:r>
            <a:endParaRPr lang="en-US" sz="980" dirty="0"/>
          </a:p>
        </p:txBody>
      </p:sp>
      <p:sp>
        <p:nvSpPr>
          <p:cNvPr id="48" name="Text 43"/>
          <p:cNvSpPr txBox="1"/>
          <p:nvPr/>
        </p:nvSpPr>
        <p:spPr>
          <a:xfrm>
            <a:off x="8074152" y="5230368"/>
            <a:ext cx="749808" cy="201168"/>
          </a:xfrm>
          <a:prstGeom prst="rect">
            <a:avLst/>
          </a:prstGeom>
          <a:noFill/>
          <a:ln/>
        </p:spPr>
        <p:txBody>
          <a:bodyPr wrap="square" lIns="0" tIns="0" rIns="0" bIns="0" rtlCol="0" anchor="ctr">
            <a:normAutofit/>
          </a:bodyPr>
          <a:lstStyle/>
          <a:p>
            <a:pPr marL="0" indent="0" algn="l">
              <a:buNone/>
            </a:pPr>
            <a:r>
              <a:rPr lang="en-US" sz="920" b="1" dirty="0">
                <a:solidFill>
                  <a:srgbClr val="D79A27"/>
                </a:solidFill>
                <a:latin typeface="Aptos" pitchFamily="34" charset="0"/>
                <a:ea typeface="Aptos" pitchFamily="34" charset="-122"/>
                <a:cs typeface="Aptos" pitchFamily="34" charset="-120"/>
              </a:rPr>
              <a:t>Trade-off</a:t>
            </a:r>
            <a:endParaRPr lang="en-US" sz="920" dirty="0"/>
          </a:p>
        </p:txBody>
      </p:sp>
      <p:sp>
        <p:nvSpPr>
          <p:cNvPr id="49" name="Text 44"/>
          <p:cNvSpPr txBox="1"/>
          <p:nvPr/>
        </p:nvSpPr>
        <p:spPr>
          <a:xfrm>
            <a:off x="8842248" y="5175504"/>
            <a:ext cx="2084832" cy="512064"/>
          </a:xfrm>
          <a:prstGeom prst="rect">
            <a:avLst/>
          </a:prstGeom>
          <a:noFill/>
          <a:ln/>
        </p:spPr>
        <p:txBody>
          <a:bodyPr wrap="square" lIns="0" tIns="0" rIns="0" bIns="0" rtlCol="0" anchor="t">
            <a:normAutofit/>
          </a:bodyPr>
          <a:lstStyle/>
          <a:p>
            <a:pPr marL="0" indent="0" algn="l">
              <a:buNone/>
            </a:pPr>
            <a:r>
              <a:rPr lang="en-US" sz="980" dirty="0">
                <a:solidFill>
                  <a:srgbClr val="173042"/>
                </a:solidFill>
                <a:latin typeface="Aptos" pitchFamily="34" charset="0"/>
                <a:ea typeface="Aptos" pitchFamily="34" charset="-122"/>
                <a:cs typeface="Aptos" pitchFamily="34" charset="-120"/>
              </a:rPr>
              <a:t>Consistencia eventual y consultas transversales más complejas.</a:t>
            </a:r>
            <a:endParaRPr lang="en-US" sz="980" dirty="0"/>
          </a:p>
        </p:txBody>
      </p:sp>
      <p:sp>
        <p:nvSpPr>
          <p:cNvPr id="51" name="Slide Number Placeholder 0"/>
          <p:cNvSpPr>
            <a:spLocks noGrp="1"/>
          </p:cNvSpPr>
          <p:nvPr>
            <p:ph type="sldNum" sz="quarter" idx="4294967295"/>
          </p:nvPr>
        </p:nvSpPr>
        <p:spPr>
          <a:xfrm>
            <a:off x="11823192"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AAB6C0"/>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2A42"/>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20A3B8"/>
          </a:solidFill>
          <a:ln w="12700">
            <a:solidFill>
              <a:srgbClr val="20A3B8"/>
            </a:solidFill>
            <a:prstDash val="solid"/>
          </a:ln>
        </p:spPr>
        <p:txBody>
          <a:bodyPr/>
          <a:lstStyle/>
          <a:p>
            <a:endParaRPr lang="en-US"/>
          </a:p>
        </p:txBody>
      </p:sp>
      <p:sp>
        <p:nvSpPr>
          <p:cNvPr id="3" name="Text 1"/>
          <p:cNvSpPr txBox="1"/>
          <p:nvPr/>
        </p:nvSpPr>
        <p:spPr>
          <a:xfrm>
            <a:off x="640080" y="713232"/>
            <a:ext cx="2286000" cy="438912"/>
          </a:xfrm>
          <a:prstGeom prst="rect">
            <a:avLst/>
          </a:prstGeom>
          <a:noFill/>
          <a:ln/>
        </p:spPr>
        <p:txBody>
          <a:bodyPr wrap="square" lIns="0" tIns="0" rIns="0" bIns="0" rtlCol="0" anchor="ctr">
            <a:normAutofit/>
          </a:bodyPr>
          <a:lstStyle/>
          <a:p>
            <a:pPr marL="0" indent="0" algn="l">
              <a:buNone/>
            </a:pPr>
            <a:r>
              <a:rPr lang="en-US" sz="2800" b="1" dirty="0">
                <a:solidFill>
                  <a:srgbClr val="FFFFFF"/>
                </a:solidFill>
                <a:latin typeface="Aptos" pitchFamily="34" charset="0"/>
                <a:ea typeface="Aptos" pitchFamily="34" charset="-122"/>
                <a:cs typeface="Aptos" pitchFamily="34" charset="-120"/>
              </a:rPr>
              <a:t>MOVIX</a:t>
            </a:r>
            <a:endParaRPr lang="en-US" sz="2800" dirty="0"/>
          </a:p>
        </p:txBody>
      </p:sp>
      <p:sp>
        <p:nvSpPr>
          <p:cNvPr id="4" name="Text 2"/>
          <p:cNvSpPr txBox="1"/>
          <p:nvPr/>
        </p:nvSpPr>
        <p:spPr>
          <a:xfrm>
            <a:off x="640080" y="1170432"/>
            <a:ext cx="9875520" cy="502920"/>
          </a:xfrm>
          <a:prstGeom prst="rect">
            <a:avLst/>
          </a:prstGeom>
          <a:noFill/>
          <a:ln/>
        </p:spPr>
        <p:txBody>
          <a:bodyPr wrap="square" lIns="0" tIns="0" rIns="0" bIns="0" rtlCol="0" anchor="ctr">
            <a:normAutofit/>
          </a:bodyPr>
          <a:lstStyle/>
          <a:p>
            <a:pPr marL="0" indent="0" algn="l">
              <a:buNone/>
            </a:pPr>
            <a:r>
              <a:rPr lang="en-US" sz="2300" b="1" dirty="0">
                <a:solidFill>
                  <a:srgbClr val="DCEAF1"/>
                </a:solidFill>
                <a:latin typeface="Aptos" pitchFamily="34" charset="0"/>
                <a:ea typeface="Aptos" pitchFamily="34" charset="-122"/>
                <a:cs typeface="Aptos" pitchFamily="34" charset="-120"/>
              </a:rPr>
              <a:t>Una arquitectura alineada con el negocio del transporte asistido</a:t>
            </a:r>
            <a:endParaRPr lang="en-US" sz="2300" dirty="0"/>
          </a:p>
        </p:txBody>
      </p:sp>
      <p:sp>
        <p:nvSpPr>
          <p:cNvPr id="5" name="Text 3"/>
          <p:cNvSpPr txBox="1"/>
          <p:nvPr/>
        </p:nvSpPr>
        <p:spPr>
          <a:xfrm>
            <a:off x="640080" y="1783080"/>
            <a:ext cx="9966960" cy="457200"/>
          </a:xfrm>
          <a:prstGeom prst="rect">
            <a:avLst/>
          </a:prstGeom>
          <a:noFill/>
          <a:ln/>
        </p:spPr>
        <p:txBody>
          <a:bodyPr wrap="square" lIns="0" tIns="0" rIns="0" bIns="0" rtlCol="0" anchor="ctr">
            <a:normAutofit/>
          </a:bodyPr>
          <a:lstStyle/>
          <a:p>
            <a:pPr marL="0" indent="0" algn="l">
              <a:buNone/>
            </a:pPr>
            <a:r>
              <a:rPr lang="en-US" sz="1450" dirty="0">
                <a:solidFill>
                  <a:srgbClr val="AEC8D6"/>
                </a:solidFill>
                <a:latin typeface="Aptos" pitchFamily="34" charset="0"/>
                <a:ea typeface="Aptos" pitchFamily="34" charset="-122"/>
                <a:cs typeface="Aptos" pitchFamily="34" charset="-120"/>
              </a:rPr>
              <a:t>La plataforma integra seguridad, trazabilidad, continuidad operativa y escalabilidad sin perder el aislamiento entre operadores.</a:t>
            </a:r>
            <a:endParaRPr lang="en-US" sz="1450" dirty="0"/>
          </a:p>
        </p:txBody>
      </p:sp>
      <p:sp>
        <p:nvSpPr>
          <p:cNvPr id="6" name="Shape 4"/>
          <p:cNvSpPr/>
          <p:nvPr/>
        </p:nvSpPr>
        <p:spPr>
          <a:xfrm>
            <a:off x="640080" y="2834640"/>
            <a:ext cx="3154680" cy="1600200"/>
          </a:xfrm>
          <a:prstGeom prst="roundRect">
            <a:avLst>
              <a:gd name="adj" fmla="val 6857"/>
            </a:avLst>
          </a:prstGeom>
          <a:solidFill>
            <a:srgbClr val="0D3B59"/>
          </a:solidFill>
          <a:ln w="12700">
            <a:solidFill>
              <a:srgbClr val="235671"/>
            </a:solidFill>
            <a:prstDash val="solid"/>
          </a:ln>
        </p:spPr>
        <p:txBody>
          <a:bodyPr/>
          <a:lstStyle/>
          <a:p>
            <a:endParaRPr lang="en-US"/>
          </a:p>
        </p:txBody>
      </p:sp>
      <p:sp>
        <p:nvSpPr>
          <p:cNvPr id="7" name="Shape 5"/>
          <p:cNvSpPr/>
          <p:nvPr/>
        </p:nvSpPr>
        <p:spPr>
          <a:xfrm>
            <a:off x="877824" y="3163824"/>
            <a:ext cx="566928" cy="566928"/>
          </a:xfrm>
          <a:prstGeom prst="ellipse">
            <a:avLst/>
          </a:prstGeom>
          <a:solidFill>
            <a:srgbClr val="0A5E8C"/>
          </a:solidFill>
          <a:ln w="12700">
            <a:solidFill>
              <a:srgbClr val="0A5E8C"/>
            </a:solidFill>
            <a:prstDash val="solid"/>
          </a:ln>
        </p:spPr>
        <p:txBody>
          <a:bodyPr/>
          <a:lstStyle/>
          <a:p>
            <a:endParaRPr lang="en-US"/>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19556" y="3305556"/>
            <a:ext cx="283464" cy="283464"/>
          </a:xfrm>
          <a:prstGeom prst="rect">
            <a:avLst/>
          </a:prstGeom>
        </p:spPr>
      </p:pic>
      <p:sp>
        <p:nvSpPr>
          <p:cNvPr id="9" name="Text 6"/>
          <p:cNvSpPr txBox="1"/>
          <p:nvPr/>
        </p:nvSpPr>
        <p:spPr>
          <a:xfrm>
            <a:off x="1609344" y="3136392"/>
            <a:ext cx="1874520" cy="310896"/>
          </a:xfrm>
          <a:prstGeom prst="rect">
            <a:avLst/>
          </a:prstGeom>
          <a:noFill/>
          <a:ln/>
        </p:spPr>
        <p:txBody>
          <a:bodyPr wrap="square" lIns="0" tIns="0" rIns="0" bIns="0" rtlCol="0" anchor="ctr">
            <a:normAutofit/>
          </a:bodyPr>
          <a:lstStyle/>
          <a:p>
            <a:pPr marL="0" indent="0" algn="l">
              <a:buNone/>
            </a:pPr>
            <a:r>
              <a:rPr lang="en-US" sz="1570" b="1" dirty="0">
                <a:solidFill>
                  <a:srgbClr val="FFFFFF"/>
                </a:solidFill>
                <a:latin typeface="Aptos" pitchFamily="34" charset="0"/>
                <a:ea typeface="Aptos" pitchFamily="34" charset="-122"/>
                <a:cs typeface="Aptos" pitchFamily="34" charset="-120"/>
              </a:rPr>
              <a:t>Una plataforma</a:t>
            </a:r>
            <a:endParaRPr lang="en-US" sz="1570" dirty="0"/>
          </a:p>
        </p:txBody>
      </p:sp>
      <p:sp>
        <p:nvSpPr>
          <p:cNvPr id="10" name="Text 7"/>
          <p:cNvSpPr txBox="1"/>
          <p:nvPr/>
        </p:nvSpPr>
        <p:spPr>
          <a:xfrm>
            <a:off x="1609344" y="3538728"/>
            <a:ext cx="1856232" cy="566928"/>
          </a:xfrm>
          <a:prstGeom prst="rect">
            <a:avLst/>
          </a:prstGeom>
          <a:noFill/>
          <a:ln/>
        </p:spPr>
        <p:txBody>
          <a:bodyPr wrap="square" lIns="0" tIns="0" rIns="0" bIns="0" rtlCol="0" anchor="t">
            <a:normAutofit/>
          </a:bodyPr>
          <a:lstStyle/>
          <a:p>
            <a:pPr marL="0" indent="0" algn="l">
              <a:buNone/>
            </a:pPr>
            <a:r>
              <a:rPr lang="en-US" sz="1050" dirty="0">
                <a:solidFill>
                  <a:srgbClr val="C5D8E2"/>
                </a:solidFill>
                <a:latin typeface="Aptos" pitchFamily="34" charset="0"/>
                <a:ea typeface="Aptos" pitchFamily="34" charset="-122"/>
                <a:cs typeface="Aptos" pitchFamily="34" charset="-120"/>
              </a:rPr>
              <a:t>para escolar, turismo grupal y mascotas.</a:t>
            </a:r>
            <a:endParaRPr lang="en-US" sz="1050" dirty="0"/>
          </a:p>
        </p:txBody>
      </p:sp>
      <p:sp>
        <p:nvSpPr>
          <p:cNvPr id="11" name="Shape 8"/>
          <p:cNvSpPr/>
          <p:nvPr/>
        </p:nvSpPr>
        <p:spPr>
          <a:xfrm>
            <a:off x="4142232" y="2834640"/>
            <a:ext cx="3154680" cy="1600200"/>
          </a:xfrm>
          <a:prstGeom prst="roundRect">
            <a:avLst>
              <a:gd name="adj" fmla="val 6857"/>
            </a:avLst>
          </a:prstGeom>
          <a:solidFill>
            <a:srgbClr val="0D3B59"/>
          </a:solidFill>
          <a:ln w="12700">
            <a:solidFill>
              <a:srgbClr val="235671"/>
            </a:solidFill>
            <a:prstDash val="solid"/>
          </a:ln>
        </p:spPr>
        <p:txBody>
          <a:bodyPr/>
          <a:lstStyle/>
          <a:p>
            <a:endParaRPr lang="en-US"/>
          </a:p>
        </p:txBody>
      </p:sp>
      <p:sp>
        <p:nvSpPr>
          <p:cNvPr id="12" name="Shape 9"/>
          <p:cNvSpPr/>
          <p:nvPr/>
        </p:nvSpPr>
        <p:spPr>
          <a:xfrm>
            <a:off x="4379976" y="3163824"/>
            <a:ext cx="566928" cy="566928"/>
          </a:xfrm>
          <a:prstGeom prst="ellipse">
            <a:avLst/>
          </a:prstGeom>
          <a:solidFill>
            <a:srgbClr val="19A394"/>
          </a:solidFill>
          <a:ln w="12700">
            <a:solidFill>
              <a:srgbClr val="19A394"/>
            </a:solidFill>
            <a:prstDash val="solid"/>
          </a:ln>
        </p:spPr>
        <p:txBody>
          <a:bodyPr/>
          <a:lstStyle/>
          <a:p>
            <a:endParaRPr lang="en-US"/>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21708" y="3305556"/>
            <a:ext cx="283464" cy="283464"/>
          </a:xfrm>
          <a:prstGeom prst="rect">
            <a:avLst/>
          </a:prstGeom>
        </p:spPr>
      </p:pic>
      <p:sp>
        <p:nvSpPr>
          <p:cNvPr id="14" name="Text 10"/>
          <p:cNvSpPr txBox="1"/>
          <p:nvPr/>
        </p:nvSpPr>
        <p:spPr>
          <a:xfrm>
            <a:off x="5111496" y="3136392"/>
            <a:ext cx="1874520" cy="310896"/>
          </a:xfrm>
          <a:prstGeom prst="rect">
            <a:avLst/>
          </a:prstGeom>
          <a:noFill/>
          <a:ln/>
        </p:spPr>
        <p:txBody>
          <a:bodyPr wrap="square" lIns="0" tIns="0" rIns="0" bIns="0" rtlCol="0" anchor="ctr">
            <a:normAutofit/>
          </a:bodyPr>
          <a:lstStyle/>
          <a:p>
            <a:pPr marL="0" indent="0" algn="l">
              <a:buNone/>
            </a:pPr>
            <a:r>
              <a:rPr lang="en-US" sz="1570" b="1" dirty="0">
                <a:solidFill>
                  <a:srgbClr val="FFFFFF"/>
                </a:solidFill>
                <a:latin typeface="Aptos" pitchFamily="34" charset="0"/>
                <a:ea typeface="Aptos" pitchFamily="34" charset="-122"/>
                <a:cs typeface="Aptos" pitchFamily="34" charset="-120"/>
              </a:rPr>
              <a:t>Continuidad en campo</a:t>
            </a:r>
            <a:endParaRPr lang="en-US" sz="1570" dirty="0"/>
          </a:p>
        </p:txBody>
      </p:sp>
      <p:sp>
        <p:nvSpPr>
          <p:cNvPr id="15" name="Text 11"/>
          <p:cNvSpPr txBox="1"/>
          <p:nvPr/>
        </p:nvSpPr>
        <p:spPr>
          <a:xfrm>
            <a:off x="5111496" y="3538728"/>
            <a:ext cx="1856232" cy="566928"/>
          </a:xfrm>
          <a:prstGeom prst="rect">
            <a:avLst/>
          </a:prstGeom>
          <a:noFill/>
          <a:ln/>
        </p:spPr>
        <p:txBody>
          <a:bodyPr wrap="square" lIns="0" tIns="0" rIns="0" bIns="0" rtlCol="0" anchor="t">
            <a:normAutofit/>
          </a:bodyPr>
          <a:lstStyle/>
          <a:p>
            <a:pPr marL="0" indent="0" algn="l">
              <a:buNone/>
            </a:pPr>
            <a:r>
              <a:rPr lang="en-US" sz="1050" dirty="0">
                <a:solidFill>
                  <a:srgbClr val="C5D8E2"/>
                </a:solidFill>
                <a:latin typeface="Aptos" pitchFamily="34" charset="0"/>
                <a:ea typeface="Aptos" pitchFamily="34" charset="-122"/>
                <a:cs typeface="Aptos" pitchFamily="34" charset="-120"/>
              </a:rPr>
              <a:t>con operación online y offline controlada.</a:t>
            </a:r>
            <a:endParaRPr lang="en-US" sz="1050" dirty="0"/>
          </a:p>
        </p:txBody>
      </p:sp>
      <p:sp>
        <p:nvSpPr>
          <p:cNvPr id="16" name="Shape 12"/>
          <p:cNvSpPr/>
          <p:nvPr/>
        </p:nvSpPr>
        <p:spPr>
          <a:xfrm>
            <a:off x="7644384" y="2834640"/>
            <a:ext cx="3154680" cy="1600200"/>
          </a:xfrm>
          <a:prstGeom prst="roundRect">
            <a:avLst>
              <a:gd name="adj" fmla="val 6857"/>
            </a:avLst>
          </a:prstGeom>
          <a:solidFill>
            <a:srgbClr val="0D3B59"/>
          </a:solidFill>
          <a:ln w="12700">
            <a:solidFill>
              <a:srgbClr val="235671"/>
            </a:solidFill>
            <a:prstDash val="solid"/>
          </a:ln>
        </p:spPr>
        <p:txBody>
          <a:bodyPr/>
          <a:lstStyle/>
          <a:p>
            <a:endParaRPr lang="en-US"/>
          </a:p>
        </p:txBody>
      </p:sp>
      <p:sp>
        <p:nvSpPr>
          <p:cNvPr id="17" name="Shape 13"/>
          <p:cNvSpPr/>
          <p:nvPr/>
        </p:nvSpPr>
        <p:spPr>
          <a:xfrm>
            <a:off x="7882128" y="3163824"/>
            <a:ext cx="566928" cy="566928"/>
          </a:xfrm>
          <a:prstGeom prst="ellipse">
            <a:avLst/>
          </a:prstGeom>
          <a:solidFill>
            <a:srgbClr val="6B6FD8"/>
          </a:solidFill>
          <a:ln w="12700">
            <a:solidFill>
              <a:srgbClr val="6B6FD8"/>
            </a:solidFill>
            <a:prstDash val="solid"/>
          </a:ln>
        </p:spPr>
        <p:txBody>
          <a:bodyPr/>
          <a:lstStyle/>
          <a:p>
            <a:endParaRPr lang="en-US"/>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23860" y="3305556"/>
            <a:ext cx="283464" cy="283464"/>
          </a:xfrm>
          <a:prstGeom prst="rect">
            <a:avLst/>
          </a:prstGeom>
        </p:spPr>
      </p:pic>
      <p:sp>
        <p:nvSpPr>
          <p:cNvPr id="19" name="Text 14"/>
          <p:cNvSpPr txBox="1"/>
          <p:nvPr/>
        </p:nvSpPr>
        <p:spPr>
          <a:xfrm>
            <a:off x="8613648" y="3136392"/>
            <a:ext cx="1874520" cy="310896"/>
          </a:xfrm>
          <a:prstGeom prst="rect">
            <a:avLst/>
          </a:prstGeom>
          <a:noFill/>
          <a:ln/>
        </p:spPr>
        <p:txBody>
          <a:bodyPr wrap="square" lIns="0" tIns="0" rIns="0" bIns="0" rtlCol="0" anchor="ctr">
            <a:normAutofit/>
          </a:bodyPr>
          <a:lstStyle/>
          <a:p>
            <a:pPr marL="0" indent="0" algn="l">
              <a:buNone/>
            </a:pPr>
            <a:r>
              <a:rPr lang="en-US" sz="1570" b="1" dirty="0">
                <a:solidFill>
                  <a:srgbClr val="FFFFFF"/>
                </a:solidFill>
                <a:latin typeface="Aptos" pitchFamily="34" charset="0"/>
                <a:ea typeface="Aptos" pitchFamily="34" charset="-122"/>
                <a:cs typeface="Aptos" pitchFamily="34" charset="-120"/>
              </a:rPr>
              <a:t>Preparada para crecer</a:t>
            </a:r>
            <a:endParaRPr lang="en-US" sz="1570" dirty="0"/>
          </a:p>
        </p:txBody>
      </p:sp>
      <p:sp>
        <p:nvSpPr>
          <p:cNvPr id="20" name="Text 15"/>
          <p:cNvSpPr txBox="1"/>
          <p:nvPr/>
        </p:nvSpPr>
        <p:spPr>
          <a:xfrm>
            <a:off x="8613648" y="3538728"/>
            <a:ext cx="1856232" cy="566928"/>
          </a:xfrm>
          <a:prstGeom prst="rect">
            <a:avLst/>
          </a:prstGeom>
          <a:noFill/>
          <a:ln/>
        </p:spPr>
        <p:txBody>
          <a:bodyPr wrap="square" lIns="0" tIns="0" rIns="0" bIns="0" rtlCol="0" anchor="t">
            <a:normAutofit/>
          </a:bodyPr>
          <a:lstStyle/>
          <a:p>
            <a:pPr marL="0" indent="0" algn="l">
              <a:buNone/>
            </a:pPr>
            <a:r>
              <a:rPr lang="en-US" sz="1050" dirty="0">
                <a:solidFill>
                  <a:srgbClr val="C5D8E2"/>
                </a:solidFill>
                <a:latin typeface="Aptos" pitchFamily="34" charset="0"/>
                <a:ea typeface="Aptos" pitchFamily="34" charset="-122"/>
                <a:cs typeface="Aptos" pitchFamily="34" charset="-120"/>
              </a:rPr>
              <a:t>con servicios, datos y despliegues independientes.</a:t>
            </a:r>
            <a:endParaRPr lang="en-US" sz="1050" dirty="0"/>
          </a:p>
        </p:txBody>
      </p:sp>
      <p:sp>
        <p:nvSpPr>
          <p:cNvPr id="21" name="Shape 16"/>
          <p:cNvSpPr/>
          <p:nvPr/>
        </p:nvSpPr>
        <p:spPr>
          <a:xfrm>
            <a:off x="3246120" y="5001768"/>
            <a:ext cx="5715000" cy="713232"/>
          </a:xfrm>
          <a:prstGeom prst="roundRect">
            <a:avLst>
              <a:gd name="adj" fmla="val 15385"/>
            </a:avLst>
          </a:prstGeom>
          <a:solidFill>
            <a:srgbClr val="20A3B8"/>
          </a:solidFill>
          <a:ln w="12700">
            <a:solidFill>
              <a:srgbClr val="20A3B8"/>
            </a:solidFill>
            <a:prstDash val="solid"/>
          </a:ln>
        </p:spPr>
        <p:txBody>
          <a:bodyPr/>
          <a:lstStyle/>
          <a:p>
            <a:endParaRPr lang="en-US"/>
          </a:p>
        </p:txBody>
      </p:sp>
      <p:pic>
        <p:nvPicPr>
          <p:cNvPr id="2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767328" y="5193978"/>
            <a:ext cx="292608" cy="292608"/>
          </a:xfrm>
          <a:prstGeom prst="rect">
            <a:avLst/>
          </a:prstGeom>
        </p:spPr>
      </p:pic>
      <p:sp>
        <p:nvSpPr>
          <p:cNvPr id="23" name="Text 17"/>
          <p:cNvSpPr txBox="1"/>
          <p:nvPr/>
        </p:nvSpPr>
        <p:spPr>
          <a:xfrm>
            <a:off x="4224528" y="5176439"/>
            <a:ext cx="4224528" cy="310896"/>
          </a:xfrm>
          <a:prstGeom prst="rect">
            <a:avLst/>
          </a:prstGeom>
          <a:noFill/>
          <a:ln/>
        </p:spPr>
        <p:txBody>
          <a:bodyPr wrap="square" lIns="0" tIns="0" rIns="0" bIns="0" rtlCol="0" anchor="ctr">
            <a:normAutofit/>
          </a:bodyPr>
          <a:lstStyle/>
          <a:p>
            <a:pPr marL="0" indent="0" algn="ctr">
              <a:buNone/>
            </a:pPr>
            <a:r>
              <a:rPr lang="en-US" sz="2000" b="1" dirty="0" err="1">
                <a:solidFill>
                  <a:srgbClr val="FFFFFF"/>
                </a:solidFill>
                <a:latin typeface="Aptos" pitchFamily="34" charset="0"/>
                <a:ea typeface="Aptos" pitchFamily="34" charset="-122"/>
                <a:cs typeface="Aptos" pitchFamily="34" charset="-120"/>
              </a:rPr>
              <a:t>Preguntas</a:t>
            </a:r>
            <a:endParaRPr lang="en-US" sz="2000" dirty="0"/>
          </a:p>
        </p:txBody>
      </p:sp>
      <p:sp>
        <p:nvSpPr>
          <p:cNvPr id="24" name="Text 18"/>
          <p:cNvSpPr txBox="1"/>
          <p:nvPr/>
        </p:nvSpPr>
        <p:spPr>
          <a:xfrm>
            <a:off x="640080" y="6199632"/>
            <a:ext cx="4572000" cy="228600"/>
          </a:xfrm>
          <a:prstGeom prst="rect">
            <a:avLst/>
          </a:prstGeom>
          <a:noFill/>
          <a:ln/>
        </p:spPr>
        <p:txBody>
          <a:bodyPr wrap="square" lIns="0" tIns="0" rIns="0" bIns="0" rtlCol="0" anchor="ctr">
            <a:normAutofit/>
          </a:bodyPr>
          <a:lstStyle/>
          <a:p>
            <a:pPr marL="0" indent="0" algn="l">
              <a:buNone/>
            </a:pPr>
            <a:r>
              <a:rPr lang="en-US" sz="1050" dirty="0">
                <a:solidFill>
                  <a:srgbClr val="8FB2C3"/>
                </a:solidFill>
                <a:latin typeface="Aptos" pitchFamily="34" charset="0"/>
                <a:ea typeface="Aptos" pitchFamily="34" charset="-122"/>
                <a:cs typeface="Aptos" pitchFamily="34" charset="-120"/>
              </a:rPr>
              <a:t>Design Nexus · Universidad CENFOTEC</a:t>
            </a:r>
            <a:endParaRPr lang="en-US" sz="1050" dirty="0"/>
          </a:p>
        </p:txBody>
      </p:sp>
      <p:sp>
        <p:nvSpPr>
          <p:cNvPr id="25" name="Text 19"/>
          <p:cNvSpPr txBox="1"/>
          <p:nvPr/>
        </p:nvSpPr>
        <p:spPr>
          <a:xfrm>
            <a:off x="9400032" y="6199632"/>
            <a:ext cx="2148840" cy="228600"/>
          </a:xfrm>
          <a:prstGeom prst="rect">
            <a:avLst/>
          </a:prstGeom>
          <a:noFill/>
          <a:ln/>
        </p:spPr>
        <p:txBody>
          <a:bodyPr wrap="square" lIns="0" tIns="0" rIns="0" bIns="0" rtlCol="0" anchor="ctr">
            <a:normAutofit/>
          </a:bodyPr>
          <a:lstStyle/>
          <a:p>
            <a:pPr marL="0" indent="0" algn="r">
              <a:buNone/>
            </a:pPr>
            <a:r>
              <a:rPr lang="en-US" sz="1050" dirty="0">
                <a:solidFill>
                  <a:srgbClr val="8FB2C3"/>
                </a:solidFill>
                <a:latin typeface="Aptos" pitchFamily="34" charset="0"/>
                <a:ea typeface="Aptos" pitchFamily="34" charset="-122"/>
                <a:cs typeface="Aptos" pitchFamily="34" charset="-120"/>
              </a:rPr>
              <a:t>10 de agosto de 2026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1814</Words>
  <Application>Microsoft Office PowerPoint</Application>
  <PresentationFormat>Widescreen</PresentationFormat>
  <Paragraphs>249</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Universidad CENFOTEC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Movix - Plataforma SaaS de Transporte Asistido</dc:title>
  <dc:subject>Presentación ejecutiva de Movix</dc:subject>
  <dc:creator>Design Nexus</dc:creator>
  <cp:lastModifiedBy>Tomás Azofeifa</cp:lastModifiedBy>
  <cp:revision>1</cp:revision>
  <dcterms:created xsi:type="dcterms:W3CDTF">2026-08-10T00:44:15Z</dcterms:created>
  <dcterms:modified xsi:type="dcterms:W3CDTF">2026-08-10T01:33:28Z</dcterms:modified>
</cp:coreProperties>
</file>
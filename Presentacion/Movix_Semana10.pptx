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B286FC-DF23-49CA-B94B-B7F20C339B20}" v="1" dt="2026-07-11T05:21:42.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ás Azofeifa" userId="a105d2f67a7af5de" providerId="LiveId" clId="{DFE61046-DF64-4E4A-8E75-50DE415B0D7F}"/>
    <pc:docChg chg="undo custSel modSld">
      <pc:chgData name="Tomás Azofeifa" userId="a105d2f67a7af5de" providerId="LiveId" clId="{DFE61046-DF64-4E4A-8E75-50DE415B0D7F}" dt="2026-07-11T05:24:04.446" v="44" actId="478"/>
      <pc:docMkLst>
        <pc:docMk/>
      </pc:docMkLst>
      <pc:sldChg chg="modSp mod">
        <pc:chgData name="Tomás Azofeifa" userId="a105d2f67a7af5de" providerId="LiveId" clId="{DFE61046-DF64-4E4A-8E75-50DE415B0D7F}" dt="2026-07-11T05:21:51.685" v="33" actId="404"/>
        <pc:sldMkLst>
          <pc:docMk/>
          <pc:sldMk cId="0" sldId="259"/>
        </pc:sldMkLst>
        <pc:spChg chg="mod">
          <ac:chgData name="Tomás Azofeifa" userId="a105d2f67a7af5de" providerId="LiveId" clId="{DFE61046-DF64-4E4A-8E75-50DE415B0D7F}" dt="2026-07-11T05:21:35.455" v="28" actId="1076"/>
          <ac:spMkLst>
            <pc:docMk/>
            <pc:sldMk cId="0" sldId="259"/>
            <ac:spMk id="7" creationId="{00000000-0000-0000-0000-000000000000}"/>
          </ac:spMkLst>
        </pc:spChg>
        <pc:spChg chg="mod">
          <ac:chgData name="Tomás Azofeifa" userId="a105d2f67a7af5de" providerId="LiveId" clId="{DFE61046-DF64-4E4A-8E75-50DE415B0D7F}" dt="2026-07-11T05:21:51.685" v="33" actId="404"/>
          <ac:spMkLst>
            <pc:docMk/>
            <pc:sldMk cId="0" sldId="259"/>
            <ac:spMk id="8" creationId="{00000000-0000-0000-0000-000000000000}"/>
          </ac:spMkLst>
        </pc:spChg>
        <pc:picChg chg="mod ord modCrop">
          <ac:chgData name="Tomás Azofeifa" userId="a105d2f67a7af5de" providerId="LiveId" clId="{DFE61046-DF64-4E4A-8E75-50DE415B0D7F}" dt="2026-07-11T05:21:26.040" v="25" actId="1076"/>
          <ac:picMkLst>
            <pc:docMk/>
            <pc:sldMk cId="0" sldId="259"/>
            <ac:picMk id="6" creationId="{00000000-0000-0000-0000-000000000000}"/>
          </ac:picMkLst>
        </pc:picChg>
      </pc:sldChg>
      <pc:sldChg chg="delSp modSp mod">
        <pc:chgData name="Tomás Azofeifa" userId="a105d2f67a7af5de" providerId="LiveId" clId="{DFE61046-DF64-4E4A-8E75-50DE415B0D7F}" dt="2026-07-11T05:23:19.896" v="42" actId="732"/>
        <pc:sldMkLst>
          <pc:docMk/>
          <pc:sldMk cId="0" sldId="263"/>
        </pc:sldMkLst>
        <pc:spChg chg="mod">
          <ac:chgData name="Tomás Azofeifa" userId="a105d2f67a7af5de" providerId="LiveId" clId="{DFE61046-DF64-4E4A-8E75-50DE415B0D7F}" dt="2026-07-11T05:22:57.277" v="37" actId="14100"/>
          <ac:spMkLst>
            <pc:docMk/>
            <pc:sldMk cId="0" sldId="263"/>
            <ac:spMk id="7" creationId="{00000000-0000-0000-0000-000000000000}"/>
          </ac:spMkLst>
        </pc:spChg>
        <pc:spChg chg="del">
          <ac:chgData name="Tomás Azofeifa" userId="a105d2f67a7af5de" providerId="LiveId" clId="{DFE61046-DF64-4E4A-8E75-50DE415B0D7F}" dt="2026-07-11T05:22:53.265" v="36" actId="478"/>
          <ac:spMkLst>
            <pc:docMk/>
            <pc:sldMk cId="0" sldId="263"/>
            <ac:spMk id="8" creationId="{00000000-0000-0000-0000-000000000000}"/>
          </ac:spMkLst>
        </pc:spChg>
        <pc:spChg chg="mod">
          <ac:chgData name="Tomás Azofeifa" userId="a105d2f67a7af5de" providerId="LiveId" clId="{DFE61046-DF64-4E4A-8E75-50DE415B0D7F}" dt="2026-07-11T05:23:02.510" v="39" actId="1076"/>
          <ac:spMkLst>
            <pc:docMk/>
            <pc:sldMk cId="0" sldId="263"/>
            <ac:spMk id="9" creationId="{00000000-0000-0000-0000-000000000000}"/>
          </ac:spMkLst>
        </pc:spChg>
        <pc:spChg chg="mod">
          <ac:chgData name="Tomás Azofeifa" userId="a105d2f67a7af5de" providerId="LiveId" clId="{DFE61046-DF64-4E4A-8E75-50DE415B0D7F}" dt="2026-07-11T05:22:59.936" v="38" actId="1076"/>
          <ac:spMkLst>
            <pc:docMk/>
            <pc:sldMk cId="0" sldId="263"/>
            <ac:spMk id="10" creationId="{00000000-0000-0000-0000-000000000000}"/>
          </ac:spMkLst>
        </pc:spChg>
        <pc:spChg chg="mod">
          <ac:chgData name="Tomás Azofeifa" userId="a105d2f67a7af5de" providerId="LiveId" clId="{DFE61046-DF64-4E4A-8E75-50DE415B0D7F}" dt="2026-07-11T05:23:07.103" v="40" actId="1076"/>
          <ac:spMkLst>
            <pc:docMk/>
            <pc:sldMk cId="0" sldId="263"/>
            <ac:spMk id="11" creationId="{00000000-0000-0000-0000-000000000000}"/>
          </ac:spMkLst>
        </pc:spChg>
        <pc:spChg chg="mod">
          <ac:chgData name="Tomás Azofeifa" userId="a105d2f67a7af5de" providerId="LiveId" clId="{DFE61046-DF64-4E4A-8E75-50DE415B0D7F}" dt="2026-07-11T05:23:10.638" v="41" actId="1076"/>
          <ac:spMkLst>
            <pc:docMk/>
            <pc:sldMk cId="0" sldId="263"/>
            <ac:spMk id="12" creationId="{00000000-0000-0000-0000-000000000000}"/>
          </ac:spMkLst>
        </pc:spChg>
        <pc:picChg chg="mod modCrop">
          <ac:chgData name="Tomás Azofeifa" userId="a105d2f67a7af5de" providerId="LiveId" clId="{DFE61046-DF64-4E4A-8E75-50DE415B0D7F}" dt="2026-07-11T05:23:19.896" v="42" actId="732"/>
          <ac:picMkLst>
            <pc:docMk/>
            <pc:sldMk cId="0" sldId="263"/>
            <ac:picMk id="6" creationId="{00000000-0000-0000-0000-000000000000}"/>
          </ac:picMkLst>
        </pc:picChg>
      </pc:sldChg>
      <pc:sldChg chg="delSp modSp mod">
        <pc:chgData name="Tomás Azofeifa" userId="a105d2f67a7af5de" providerId="LiveId" clId="{DFE61046-DF64-4E4A-8E75-50DE415B0D7F}" dt="2026-07-11T05:24:04.446" v="44" actId="478"/>
        <pc:sldMkLst>
          <pc:docMk/>
          <pc:sldMk cId="0" sldId="265"/>
        </pc:sldMkLst>
        <pc:spChg chg="mod">
          <ac:chgData name="Tomás Azofeifa" userId="a105d2f67a7af5de" providerId="LiveId" clId="{DFE61046-DF64-4E4A-8E75-50DE415B0D7F}" dt="2026-07-11T05:21:42.844" v="32" actId="27636"/>
          <ac:spMkLst>
            <pc:docMk/>
            <pc:sldMk cId="0" sldId="265"/>
            <ac:spMk id="12" creationId="{00000000-0000-0000-0000-000000000000}"/>
          </ac:spMkLst>
        </pc:spChg>
        <pc:spChg chg="del">
          <ac:chgData name="Tomás Azofeifa" userId="a105d2f67a7af5de" providerId="LiveId" clId="{DFE61046-DF64-4E4A-8E75-50DE415B0D7F}" dt="2026-07-11T05:24:04.446" v="44" actId="478"/>
          <ac:spMkLst>
            <pc:docMk/>
            <pc:sldMk cId="0" sldId="265"/>
            <ac:spMk id="19" creationId="{00000000-0000-0000-0000-000000000000}"/>
          </ac:spMkLst>
        </pc:spChg>
        <pc:spChg chg="del">
          <ac:chgData name="Tomás Azofeifa" userId="a105d2f67a7af5de" providerId="LiveId" clId="{DFE61046-DF64-4E4A-8E75-50DE415B0D7F}" dt="2026-07-11T05:24:02.710" v="43" actId="478"/>
          <ac:spMkLst>
            <pc:docMk/>
            <pc:sldMk cId="0" sldId="265"/>
            <ac:spMk id="20" creationId="{00000000-0000-0000-0000-000000000000}"/>
          </ac:spMkLst>
        </pc:spChg>
        <pc:spChg chg="del">
          <ac:chgData name="Tomás Azofeifa" userId="a105d2f67a7af5de" providerId="LiveId" clId="{DFE61046-DF64-4E4A-8E75-50DE415B0D7F}" dt="2026-07-11T05:24:02.710" v="43" actId="478"/>
          <ac:spMkLst>
            <pc:docMk/>
            <pc:sldMk cId="0" sldId="265"/>
            <ac:spMk id="21" creationId="{00000000-0000-0000-0000-000000000000}"/>
          </ac:spMkLst>
        </pc:spChg>
        <pc:spChg chg="mod">
          <ac:chgData name="Tomás Azofeifa" userId="a105d2f67a7af5de" providerId="LiveId" clId="{DFE61046-DF64-4E4A-8E75-50DE415B0D7F}" dt="2026-07-11T05:21:42.842" v="31" actId="27636"/>
          <ac:spMkLst>
            <pc:docMk/>
            <pc:sldMk cId="0" sldId="265"/>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952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sesión indicando que el objetivo no es vender una implementación final, sino recibir feedback de la Junta Directiva sobre el diseño de contenedores.
Enfatizar que se responderán tres preocupaciones: disponibilidad, costos y alineación al negocio.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Ubicar al cliente: no estamos presentando todo arc42 completo, sino el avance arquitectónico preparado para feedback.
Dejar claro que los contenedores, la estrategia de persistencia y las ADRs sí están listas para revisión.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diseño no nace desde tecnología, sino desde el negocio: múltiples operadores, tres líneas de servicio y datos sensibles.
Mencionar que el contexto C4 muestra claramente los actores y los servicios externos que Movix coordina.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primero la estructura general, no los detalles de cada flecha.
Anticipar que la Junta puede cuestionar si es mucho para el inicio: responder que la separación se puede desplegar con infraestructura compartida al principio, sin perder límites arquitectónicos.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esta filmina para contestar la pregunta de alineación al negocio.
Explicar que la separación no es caprichosa: cada contenedor refleja una capacidad real del negocio o una preocupación transversal.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para cliente: disponibilidad no es solo tener servidores activos; es mantener el proceso operativo aunque una parte falle.
Mencionar que RPO/RTO aún se deben convertir en escenarios medibles en el capítulo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Responder sin prometer números: explicar que la arquitectura permite controlar costos mediante despliegue inicial compartido, escalamiento selectivo y uso de servicios administrados.
El costo se debe validar en la vista de despliegue cuando se elija proveedor cloud.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filmina conecta con la estrategia de persistencia del capítulo 8 y el ADR-003.
Explicar que “políglota” no significa multiplicar tecnologías sin control, sino elegir la persistencia adecuada para cada necesidad.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esta filmina para mostrar madurez: no ocultamos trade-offs, los explicitamos y proponemos mitigación.
Evitar defender que todo está perfecto; invitar al feedback.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pidiendo feedback explícito, no solo aprobación.
Recordar que los clientes cuestionarán disponibilidad, costos y alineación; estas preguntas abren esa conversación.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VIX">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502920" y="6455664"/>
            <a:ext cx="11192256" cy="0"/>
          </a:xfrm>
          <a:prstGeom prst="line">
            <a:avLst/>
          </a:prstGeom>
          <a:noFill/>
          <a:ln w="12700">
            <a:solidFill>
              <a:srgbClr val="D6E4F2"/>
            </a:solidFill>
            <a:prstDash val="solid"/>
          </a:ln>
        </p:spPr>
        <p:txBody>
          <a:bodyPr/>
          <a:lstStyle/>
          <a:p>
            <a:endParaRPr lang="en-US"/>
          </a:p>
        </p:txBody>
      </p:sp>
      <p:sp>
        <p:nvSpPr>
          <p:cNvPr id="3" name="Text 1"/>
          <p:cNvSpPr/>
          <p:nvPr/>
        </p:nvSpPr>
        <p:spPr>
          <a:xfrm>
            <a:off x="594360" y="6510528"/>
            <a:ext cx="5852160" cy="201168"/>
          </a:xfrm>
          <a:prstGeom prst="rect">
            <a:avLst/>
          </a:prstGeom>
          <a:noFill/>
          <a:ln/>
        </p:spPr>
        <p:txBody>
          <a:bodyPr wrap="square" lIns="0" tIns="0" rIns="0" bIns="0" rtlCol="0" anchor="ctr"/>
          <a:lstStyle/>
          <a:p>
            <a:pPr marL="0" indent="0">
              <a:buNone/>
            </a:pPr>
            <a:r>
              <a:rPr lang="en-US" sz="750" dirty="0">
                <a:solidFill>
                  <a:srgbClr val="5D6D7E"/>
                </a:solidFill>
                <a:latin typeface="Aptos" pitchFamily="34" charset="0"/>
                <a:ea typeface="Aptos" pitchFamily="34" charset="-122"/>
                <a:cs typeface="Aptos" pitchFamily="34" charset="-120"/>
              </a:rPr>
              <a:t>Movix · Architecture Review Board · Design Nexus</a:t>
            </a:r>
            <a:endParaRPr lang="en-US" sz="750" dirty="0"/>
          </a:p>
        </p:txBody>
      </p:sp>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545"/>
          </a:solidFill>
          <a:ln w="12700">
            <a:solidFill>
              <a:srgbClr val="0B2545">
                <a:alpha val="0"/>
              </a:srgbClr>
            </a:solidFill>
            <a:prstDash val="solid"/>
          </a:ln>
        </p:spPr>
        <p:txBody>
          <a:bodyPr/>
          <a:lstStyle/>
          <a:p>
            <a:endParaRPr lang="en-US"/>
          </a:p>
        </p:txBody>
      </p:sp>
      <p:sp>
        <p:nvSpPr>
          <p:cNvPr id="3" name="Shape 1"/>
          <p:cNvSpPr/>
          <p:nvPr/>
        </p:nvSpPr>
        <p:spPr>
          <a:xfrm>
            <a:off x="91440" y="4343400"/>
            <a:ext cx="2743200" cy="2148840"/>
          </a:xfrm>
          <a:prstGeom prst="arc">
            <a:avLst/>
          </a:prstGeom>
          <a:solidFill>
            <a:srgbClr val="000000">
              <a:alpha val="0"/>
            </a:srgbClr>
          </a:solidFill>
          <a:ln w="63500">
            <a:solidFill>
              <a:srgbClr val="2E75B5">
                <a:alpha val="70000"/>
              </a:srgbClr>
            </a:solidFill>
            <a:prstDash val="solid"/>
          </a:ln>
        </p:spPr>
        <p:txBody>
          <a:bodyPr/>
          <a:lstStyle/>
          <a:p>
            <a:endParaRPr lang="en-US"/>
          </a:p>
        </p:txBody>
      </p:sp>
      <p:sp>
        <p:nvSpPr>
          <p:cNvPr id="4" name="Shape 2"/>
          <p:cNvSpPr/>
          <p:nvPr/>
        </p:nvSpPr>
        <p:spPr>
          <a:xfrm>
            <a:off x="8961120" y="164592"/>
            <a:ext cx="2743200" cy="1965960"/>
          </a:xfrm>
          <a:prstGeom prst="arc">
            <a:avLst/>
          </a:prstGeom>
          <a:solidFill>
            <a:srgbClr val="000000">
              <a:alpha val="0"/>
            </a:srgbClr>
          </a:solidFill>
          <a:ln w="50800">
            <a:solidFill>
              <a:srgbClr val="46A6FF">
                <a:alpha val="58000"/>
              </a:srgbClr>
            </a:solidFill>
            <a:prstDash val="solid"/>
          </a:ln>
        </p:spPr>
        <p:txBody>
          <a:bodyPr/>
          <a:lstStyle/>
          <a:p>
            <a:endParaRPr lang="en-US"/>
          </a:p>
        </p:txBody>
      </p:sp>
      <p:sp>
        <p:nvSpPr>
          <p:cNvPr id="5" name="Text 3"/>
          <p:cNvSpPr/>
          <p:nvPr/>
        </p:nvSpPr>
        <p:spPr>
          <a:xfrm>
            <a:off x="658368" y="960120"/>
            <a:ext cx="4114800" cy="658368"/>
          </a:xfrm>
          <a:prstGeom prst="rect">
            <a:avLst/>
          </a:prstGeom>
          <a:noFill/>
          <a:ln/>
        </p:spPr>
        <p:txBody>
          <a:bodyPr wrap="square" lIns="0" tIns="0" rIns="0" bIns="0" rtlCol="0" anchor="ctr"/>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Movix</a:t>
            </a:r>
            <a:endParaRPr lang="en-US" sz="4000" dirty="0"/>
          </a:p>
        </p:txBody>
      </p:sp>
      <p:sp>
        <p:nvSpPr>
          <p:cNvPr id="6" name="Text 4"/>
          <p:cNvSpPr/>
          <p:nvPr/>
        </p:nvSpPr>
        <p:spPr>
          <a:xfrm>
            <a:off x="685800" y="1691640"/>
            <a:ext cx="5166360" cy="411480"/>
          </a:xfrm>
          <a:prstGeom prst="rect">
            <a:avLst/>
          </a:prstGeom>
          <a:noFill/>
          <a:ln/>
        </p:spPr>
        <p:txBody>
          <a:bodyPr wrap="square" lIns="0" tIns="0" rIns="0" bIns="0" rtlCol="0" anchor="ctr"/>
          <a:lstStyle/>
          <a:p>
            <a:pPr marL="0" indent="0">
              <a:buNone/>
            </a:pPr>
            <a:r>
              <a:rPr lang="en-US" sz="2400" b="1" dirty="0">
                <a:solidFill>
                  <a:srgbClr val="BEE3FF"/>
                </a:solidFill>
                <a:latin typeface="Aptos Display" pitchFamily="34" charset="0"/>
                <a:ea typeface="Aptos Display" pitchFamily="34" charset="-122"/>
                <a:cs typeface="Aptos Display" pitchFamily="34" charset="-120"/>
              </a:rPr>
              <a:t>Architecture Review Board</a:t>
            </a:r>
            <a:endParaRPr lang="en-US" sz="2400" dirty="0"/>
          </a:p>
        </p:txBody>
      </p:sp>
      <p:sp>
        <p:nvSpPr>
          <p:cNvPr id="7" name="Text 5"/>
          <p:cNvSpPr/>
          <p:nvPr/>
        </p:nvSpPr>
        <p:spPr>
          <a:xfrm>
            <a:off x="704088" y="2176272"/>
            <a:ext cx="5440680" cy="320040"/>
          </a:xfrm>
          <a:prstGeom prst="rect">
            <a:avLst/>
          </a:prstGeom>
          <a:noFill/>
          <a:ln/>
        </p:spPr>
        <p:txBody>
          <a:bodyPr wrap="square" lIns="0" tIns="0" rIns="0" bIns="0" rtlCol="0" anchor="ctr"/>
          <a:lstStyle/>
          <a:p>
            <a:pPr marL="0" indent="0">
              <a:buNone/>
            </a:pPr>
            <a:r>
              <a:rPr lang="en-US" sz="1300" dirty="0">
                <a:solidFill>
                  <a:srgbClr val="DBEAFE"/>
                </a:solidFill>
                <a:latin typeface="Aptos" pitchFamily="34" charset="0"/>
                <a:ea typeface="Aptos" pitchFamily="34" charset="-122"/>
                <a:cs typeface="Aptos" pitchFamily="34" charset="-120"/>
              </a:rPr>
              <a:t>Avance Semana 10 · Diseño de contenedores, disponibilidad, costos y alineación al negocio</a:t>
            </a:r>
            <a:endParaRPr lang="en-US" sz="1300" dirty="0"/>
          </a:p>
        </p:txBody>
      </p:sp>
      <p:sp>
        <p:nvSpPr>
          <p:cNvPr id="8" name="Shape 6"/>
          <p:cNvSpPr/>
          <p:nvPr/>
        </p:nvSpPr>
        <p:spPr>
          <a:xfrm>
            <a:off x="713232" y="3090672"/>
            <a:ext cx="2743200" cy="384048"/>
          </a:xfrm>
          <a:prstGeom prst="roundRect">
            <a:avLst>
              <a:gd name="adj" fmla="val 19048"/>
            </a:avLst>
          </a:prstGeom>
          <a:solidFill>
            <a:srgbClr val="1E4E8C"/>
          </a:solidFill>
          <a:ln w="12700">
            <a:solidFill>
              <a:srgbClr val="1E4E8C"/>
            </a:solidFill>
            <a:prstDash val="solid"/>
          </a:ln>
        </p:spPr>
        <p:txBody>
          <a:bodyPr/>
          <a:lstStyle/>
          <a:p>
            <a:endParaRPr lang="en-US"/>
          </a:p>
        </p:txBody>
      </p:sp>
      <p:sp>
        <p:nvSpPr>
          <p:cNvPr id="9" name="Text 7"/>
          <p:cNvSpPr/>
          <p:nvPr/>
        </p:nvSpPr>
        <p:spPr>
          <a:xfrm>
            <a:off x="841248" y="3182112"/>
            <a:ext cx="2194560" cy="164592"/>
          </a:xfrm>
          <a:prstGeom prst="rect">
            <a:avLst/>
          </a:prstGeom>
          <a:noFill/>
          <a:ln/>
        </p:spPr>
        <p:txBody>
          <a:bodyPr wrap="square" lIns="0" tIns="0" rIns="0" bIns="0" rtlCol="0" anchor="ctr"/>
          <a:lstStyle/>
          <a:p>
            <a:pPr marL="0" indent="0">
              <a:buNone/>
            </a:pPr>
            <a:r>
              <a:rPr lang="en-US" sz="1100" b="1" dirty="0">
                <a:solidFill>
                  <a:srgbClr val="FFFFFF"/>
                </a:solidFill>
                <a:latin typeface="Aptos" pitchFamily="34" charset="0"/>
                <a:ea typeface="Aptos" pitchFamily="34" charset="-122"/>
                <a:cs typeface="Aptos" pitchFamily="34" charset="-120"/>
              </a:rPr>
              <a:t>Design Nexus</a:t>
            </a:r>
            <a:endParaRPr lang="en-US" sz="1100" dirty="0"/>
          </a:p>
        </p:txBody>
      </p:sp>
      <p:sp>
        <p:nvSpPr>
          <p:cNvPr id="10" name="Text 8"/>
          <p:cNvSpPr/>
          <p:nvPr/>
        </p:nvSpPr>
        <p:spPr>
          <a:xfrm>
            <a:off x="713232" y="6062472"/>
            <a:ext cx="5760720" cy="256032"/>
          </a:xfrm>
          <a:prstGeom prst="rect">
            <a:avLst/>
          </a:prstGeom>
          <a:noFill/>
          <a:ln/>
        </p:spPr>
        <p:txBody>
          <a:bodyPr wrap="square" lIns="0" tIns="0" rIns="0" bIns="0" rtlCol="0" anchor="ctr"/>
          <a:lstStyle/>
          <a:p>
            <a:pPr marL="0" indent="0">
              <a:buNone/>
            </a:pPr>
            <a:r>
              <a:rPr lang="en-US" sz="1150" dirty="0">
                <a:solidFill>
                  <a:srgbClr val="DBEAFE"/>
                </a:solidFill>
                <a:latin typeface="Aptos" pitchFamily="34" charset="0"/>
                <a:ea typeface="Aptos" pitchFamily="34" charset="-122"/>
                <a:cs typeface="Aptos" pitchFamily="34" charset="-120"/>
              </a:rPr>
              <a:t>Plataforma Digital de Gestión de Transporte Asistido</a:t>
            </a:r>
            <a:endParaRPr lang="en-US" sz="1150" dirty="0"/>
          </a:p>
        </p:txBody>
      </p:sp>
      <p:sp>
        <p:nvSpPr>
          <p:cNvPr id="11" name="Shape 9"/>
          <p:cNvSpPr/>
          <p:nvPr/>
        </p:nvSpPr>
        <p:spPr>
          <a:xfrm>
            <a:off x="7360920" y="2971800"/>
            <a:ext cx="914400" cy="0"/>
          </a:xfrm>
          <a:prstGeom prst="line">
            <a:avLst/>
          </a:prstGeom>
          <a:noFill/>
          <a:ln w="16510">
            <a:solidFill>
              <a:srgbClr val="9CCBFF"/>
            </a:solidFill>
            <a:prstDash val="solid"/>
            <a:headEnd type="none"/>
            <a:tailEnd type="triangle"/>
          </a:ln>
        </p:spPr>
        <p:txBody>
          <a:bodyPr/>
          <a:lstStyle/>
          <a:p>
            <a:endParaRPr lang="en-US"/>
          </a:p>
        </p:txBody>
      </p:sp>
      <p:sp>
        <p:nvSpPr>
          <p:cNvPr id="12" name="Shape 10"/>
          <p:cNvSpPr/>
          <p:nvPr/>
        </p:nvSpPr>
        <p:spPr>
          <a:xfrm>
            <a:off x="9006840" y="2971800"/>
            <a:ext cx="914400" cy="0"/>
          </a:xfrm>
          <a:prstGeom prst="line">
            <a:avLst/>
          </a:prstGeom>
          <a:noFill/>
          <a:ln w="16510">
            <a:solidFill>
              <a:srgbClr val="9CCBFF"/>
            </a:solidFill>
            <a:prstDash val="solid"/>
            <a:headEnd type="none"/>
            <a:tailEnd type="triangle"/>
          </a:ln>
        </p:spPr>
        <p:txBody>
          <a:bodyPr/>
          <a:lstStyle/>
          <a:p>
            <a:endParaRPr lang="en-US"/>
          </a:p>
        </p:txBody>
      </p:sp>
      <p:sp>
        <p:nvSpPr>
          <p:cNvPr id="13" name="Shape 11"/>
          <p:cNvSpPr/>
          <p:nvPr/>
        </p:nvSpPr>
        <p:spPr>
          <a:xfrm>
            <a:off x="9692640" y="3749040"/>
            <a:ext cx="0" cy="594360"/>
          </a:xfrm>
          <a:prstGeom prst="line">
            <a:avLst/>
          </a:prstGeom>
          <a:noFill/>
          <a:ln w="16510">
            <a:solidFill>
              <a:srgbClr val="9CCBFF"/>
            </a:solidFill>
            <a:prstDash val="solid"/>
            <a:headEnd type="none"/>
            <a:tailEnd type="triangle"/>
          </a:ln>
        </p:spPr>
        <p:txBody>
          <a:bodyPr/>
          <a:lstStyle/>
          <a:p>
            <a:endParaRPr lang="en-US"/>
          </a:p>
        </p:txBody>
      </p:sp>
      <p:sp>
        <p:nvSpPr>
          <p:cNvPr id="14" name="Text 12"/>
          <p:cNvSpPr/>
          <p:nvPr/>
        </p:nvSpPr>
        <p:spPr>
          <a:xfrm>
            <a:off x="6217920" y="2468880"/>
            <a:ext cx="1645920" cy="329184"/>
          </a:xfrm>
          <a:prstGeom prst="roundRect">
            <a:avLst>
              <a:gd name="adj" fmla="val 16667"/>
            </a:avLst>
          </a:prstGeom>
          <a:solidFill>
            <a:srgbClr val="2E75B5"/>
          </a:solidFill>
          <a:ln>
            <a:solidFill>
              <a:srgbClr val="2E75B5">
                <a:alpha val="0"/>
              </a:srgbClr>
            </a:solidFill>
          </a:ln>
        </p:spPr>
        <p:txBody>
          <a:bodyPr wrap="square" lIns="508" tIns="508" rIns="508" bIns="508"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Web / Mobile</a:t>
            </a:r>
            <a:endParaRPr lang="en-US" sz="1200" dirty="0"/>
          </a:p>
        </p:txBody>
      </p:sp>
      <p:sp>
        <p:nvSpPr>
          <p:cNvPr id="15" name="Text 13"/>
          <p:cNvSpPr/>
          <p:nvPr/>
        </p:nvSpPr>
        <p:spPr>
          <a:xfrm>
            <a:off x="6309360" y="2871216"/>
            <a:ext cx="1463040" cy="475488"/>
          </a:xfrm>
          <a:prstGeom prst="rect">
            <a:avLst/>
          </a:prstGeom>
          <a:noFill/>
          <a:ln/>
        </p:spPr>
        <p:txBody>
          <a:bodyPr wrap="square" lIns="635" tIns="635" rIns="635" bIns="635" rtlCol="0" anchor="ctr">
            <a:normAutofit/>
          </a:bodyPr>
          <a:lstStyle/>
          <a:p>
            <a:pPr marL="0" indent="0" algn="ctr">
              <a:buNone/>
            </a:pPr>
            <a:r>
              <a:rPr lang="en-US" sz="920" dirty="0">
                <a:solidFill>
                  <a:schemeClr val="bg1"/>
                </a:solidFill>
                <a:latin typeface="Aptos" pitchFamily="34" charset="0"/>
                <a:ea typeface="Aptos" pitchFamily="34" charset="-122"/>
                <a:cs typeface="Aptos" pitchFamily="34" charset="-120"/>
              </a:rPr>
              <a:t>Administradores, clientes y choferes</a:t>
            </a:r>
            <a:endParaRPr lang="en-US" sz="920" dirty="0">
              <a:solidFill>
                <a:schemeClr val="bg1"/>
              </a:solidFill>
            </a:endParaRPr>
          </a:p>
        </p:txBody>
      </p:sp>
      <p:sp>
        <p:nvSpPr>
          <p:cNvPr id="16" name="Text 14"/>
          <p:cNvSpPr/>
          <p:nvPr/>
        </p:nvSpPr>
        <p:spPr>
          <a:xfrm>
            <a:off x="8092440" y="2468880"/>
            <a:ext cx="1554480" cy="329184"/>
          </a:xfrm>
          <a:prstGeom prst="roundRect">
            <a:avLst>
              <a:gd name="adj" fmla="val 16667"/>
            </a:avLst>
          </a:prstGeom>
          <a:solidFill>
            <a:srgbClr val="46A6FF"/>
          </a:solidFill>
          <a:ln>
            <a:solidFill>
              <a:srgbClr val="46A6FF">
                <a:alpha val="0"/>
              </a:srgbClr>
            </a:solidFill>
          </a:ln>
        </p:spPr>
        <p:txBody>
          <a:bodyPr wrap="square" lIns="508" tIns="508" rIns="508" bIns="508"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API Gateway</a:t>
            </a:r>
            <a:endParaRPr lang="en-US" sz="1200" dirty="0"/>
          </a:p>
        </p:txBody>
      </p:sp>
      <p:sp>
        <p:nvSpPr>
          <p:cNvPr id="17" name="Text 15"/>
          <p:cNvSpPr/>
          <p:nvPr/>
        </p:nvSpPr>
        <p:spPr>
          <a:xfrm>
            <a:off x="8183880" y="2871216"/>
            <a:ext cx="1371600" cy="475488"/>
          </a:xfrm>
          <a:prstGeom prst="rect">
            <a:avLst/>
          </a:prstGeom>
          <a:noFill/>
          <a:ln/>
        </p:spPr>
        <p:txBody>
          <a:bodyPr wrap="square" lIns="635" tIns="635" rIns="635" bIns="635" rtlCol="0" anchor="ctr">
            <a:normAutofit/>
          </a:bodyPr>
          <a:lstStyle/>
          <a:p>
            <a:pPr marL="0" indent="0" algn="ctr">
              <a:buNone/>
            </a:pPr>
            <a:r>
              <a:rPr lang="en-US" sz="920" dirty="0">
                <a:solidFill>
                  <a:schemeClr val="bg1"/>
                </a:solidFill>
                <a:latin typeface="Aptos" pitchFamily="34" charset="0"/>
                <a:ea typeface="Aptos" pitchFamily="34" charset="-122"/>
                <a:cs typeface="Aptos" pitchFamily="34" charset="-120"/>
              </a:rPr>
              <a:t>Entrada segura y controlada</a:t>
            </a:r>
            <a:endParaRPr lang="en-US" sz="920" dirty="0">
              <a:solidFill>
                <a:schemeClr val="bg1"/>
              </a:solidFill>
            </a:endParaRPr>
          </a:p>
        </p:txBody>
      </p:sp>
      <p:sp>
        <p:nvSpPr>
          <p:cNvPr id="18" name="Text 16"/>
          <p:cNvSpPr/>
          <p:nvPr/>
        </p:nvSpPr>
        <p:spPr>
          <a:xfrm>
            <a:off x="9829800" y="2468880"/>
            <a:ext cx="1828800" cy="329184"/>
          </a:xfrm>
          <a:prstGeom prst="roundRect">
            <a:avLst>
              <a:gd name="adj" fmla="val 16667"/>
            </a:avLst>
          </a:prstGeom>
          <a:solidFill>
            <a:srgbClr val="2E75B5"/>
          </a:solidFill>
          <a:ln>
            <a:solidFill>
              <a:srgbClr val="2E75B5">
                <a:alpha val="0"/>
              </a:srgbClr>
            </a:solidFill>
          </a:ln>
        </p:spPr>
        <p:txBody>
          <a:bodyPr wrap="square" lIns="508" tIns="508" rIns="508" bIns="508"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Microservicios</a:t>
            </a:r>
            <a:endParaRPr lang="en-US" sz="1200" dirty="0"/>
          </a:p>
        </p:txBody>
      </p:sp>
      <p:sp>
        <p:nvSpPr>
          <p:cNvPr id="19" name="Text 17"/>
          <p:cNvSpPr/>
          <p:nvPr/>
        </p:nvSpPr>
        <p:spPr>
          <a:xfrm>
            <a:off x="9921240" y="2871216"/>
            <a:ext cx="1645920" cy="475488"/>
          </a:xfrm>
          <a:prstGeom prst="rect">
            <a:avLst/>
          </a:prstGeom>
          <a:noFill/>
          <a:ln/>
        </p:spPr>
        <p:txBody>
          <a:bodyPr wrap="square" lIns="635" tIns="635" rIns="635" bIns="635" rtlCol="0" anchor="ctr">
            <a:normAutofit/>
          </a:bodyPr>
          <a:lstStyle/>
          <a:p>
            <a:pPr marL="0" indent="0" algn="ctr">
              <a:buNone/>
            </a:pPr>
            <a:r>
              <a:rPr lang="en-US" sz="920" dirty="0">
                <a:solidFill>
                  <a:schemeClr val="bg1"/>
                </a:solidFill>
                <a:latin typeface="Aptos" pitchFamily="34" charset="0"/>
                <a:ea typeface="Aptos" pitchFamily="34" charset="-122"/>
                <a:cs typeface="Aptos" pitchFamily="34" charset="-120"/>
              </a:rPr>
              <a:t>Principal · Operaciones · Interacción</a:t>
            </a:r>
            <a:endParaRPr lang="en-US" sz="920" dirty="0">
              <a:solidFill>
                <a:schemeClr val="bg1"/>
              </a:solidFill>
            </a:endParaRPr>
          </a:p>
        </p:txBody>
      </p:sp>
      <p:sp>
        <p:nvSpPr>
          <p:cNvPr id="20" name="Text 18"/>
          <p:cNvSpPr/>
          <p:nvPr/>
        </p:nvSpPr>
        <p:spPr>
          <a:xfrm>
            <a:off x="8321040" y="4389120"/>
            <a:ext cx="2011680" cy="329184"/>
          </a:xfrm>
          <a:prstGeom prst="roundRect">
            <a:avLst>
              <a:gd name="adj" fmla="val 16667"/>
            </a:avLst>
          </a:prstGeom>
          <a:solidFill>
            <a:srgbClr val="5A9BD6"/>
          </a:solidFill>
          <a:ln>
            <a:solidFill>
              <a:srgbClr val="5A9BD6">
                <a:alpha val="0"/>
              </a:srgbClr>
            </a:solidFill>
          </a:ln>
        </p:spPr>
        <p:txBody>
          <a:bodyPr wrap="square" lIns="508" tIns="508" rIns="508" bIns="508"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Persistencia</a:t>
            </a:r>
            <a:endParaRPr lang="en-US" sz="1200" dirty="0"/>
          </a:p>
        </p:txBody>
      </p:sp>
      <p:sp>
        <p:nvSpPr>
          <p:cNvPr id="21" name="Text 19"/>
          <p:cNvSpPr/>
          <p:nvPr/>
        </p:nvSpPr>
        <p:spPr>
          <a:xfrm>
            <a:off x="8412480" y="4791456"/>
            <a:ext cx="1828800" cy="475488"/>
          </a:xfrm>
          <a:prstGeom prst="rect">
            <a:avLst/>
          </a:prstGeom>
          <a:noFill/>
          <a:ln/>
        </p:spPr>
        <p:txBody>
          <a:bodyPr wrap="square" lIns="635" tIns="635" rIns="635" bIns="635" rtlCol="0" anchor="ctr">
            <a:normAutofit/>
          </a:bodyPr>
          <a:lstStyle/>
          <a:p>
            <a:pPr marL="0" indent="0" algn="ctr">
              <a:buNone/>
            </a:pPr>
            <a:r>
              <a:rPr lang="en-US" sz="920" dirty="0">
                <a:solidFill>
                  <a:schemeClr val="bg1"/>
                </a:solidFill>
                <a:latin typeface="Aptos" pitchFamily="34" charset="0"/>
                <a:ea typeface="Aptos" pitchFamily="34" charset="-122"/>
                <a:cs typeface="Aptos" pitchFamily="34" charset="-120"/>
              </a:rPr>
              <a:t>PostgreSQL + WatermelonDB</a:t>
            </a:r>
            <a:endParaRPr lang="en-US" sz="920" dirty="0">
              <a:solidFill>
                <a:schemeClr val="bg1"/>
              </a:solidFill>
            </a:endParaRPr>
          </a:p>
        </p:txBody>
      </p:sp>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4E8C"/>
          </a:solidFill>
          <a:ln w="12700">
            <a:solidFill>
              <a:srgbClr val="1E4E8C">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Alcance del avance arc42</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Qué está listo para revisión y qué queda pendiente de completar</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alcance</a:t>
            </a:r>
            <a:endParaRPr lang="en-US" sz="800" dirty="0"/>
          </a:p>
        </p:txBody>
      </p:sp>
      <p:sp>
        <p:nvSpPr>
          <p:cNvPr id="6" name="Shape 4"/>
          <p:cNvSpPr/>
          <p:nvPr/>
        </p:nvSpPr>
        <p:spPr>
          <a:xfrm>
            <a:off x="1938528" y="2029968"/>
            <a:ext cx="777240" cy="0"/>
          </a:xfrm>
          <a:prstGeom prst="line">
            <a:avLst/>
          </a:prstGeom>
          <a:noFill/>
          <a:ln w="16510">
            <a:solidFill>
              <a:srgbClr val="A3B4C7"/>
            </a:solidFill>
            <a:prstDash val="solid"/>
            <a:headEnd type="none"/>
            <a:tailEnd type="triangle"/>
          </a:ln>
        </p:spPr>
        <p:txBody>
          <a:bodyPr/>
          <a:lstStyle/>
          <a:p>
            <a:endParaRPr lang="en-US"/>
          </a:p>
        </p:txBody>
      </p:sp>
      <p:sp>
        <p:nvSpPr>
          <p:cNvPr id="7" name="Shape 5"/>
          <p:cNvSpPr/>
          <p:nvPr/>
        </p:nvSpPr>
        <p:spPr>
          <a:xfrm>
            <a:off x="4087368" y="2029968"/>
            <a:ext cx="777240" cy="0"/>
          </a:xfrm>
          <a:prstGeom prst="line">
            <a:avLst/>
          </a:prstGeom>
          <a:noFill/>
          <a:ln w="16510">
            <a:solidFill>
              <a:srgbClr val="A3B4C7"/>
            </a:solidFill>
            <a:prstDash val="solid"/>
            <a:headEnd type="none"/>
            <a:tailEnd type="triangle"/>
          </a:ln>
        </p:spPr>
        <p:txBody>
          <a:bodyPr/>
          <a:lstStyle/>
          <a:p>
            <a:endParaRPr lang="en-US"/>
          </a:p>
        </p:txBody>
      </p:sp>
      <p:sp>
        <p:nvSpPr>
          <p:cNvPr id="8" name="Shape 6"/>
          <p:cNvSpPr/>
          <p:nvPr/>
        </p:nvSpPr>
        <p:spPr>
          <a:xfrm>
            <a:off x="6236208" y="2029968"/>
            <a:ext cx="777240" cy="0"/>
          </a:xfrm>
          <a:prstGeom prst="line">
            <a:avLst/>
          </a:prstGeom>
          <a:noFill/>
          <a:ln w="16510">
            <a:solidFill>
              <a:srgbClr val="A3B4C7"/>
            </a:solidFill>
            <a:prstDash val="solid"/>
            <a:headEnd type="none"/>
            <a:tailEnd type="triangle"/>
          </a:ln>
        </p:spPr>
        <p:txBody>
          <a:bodyPr/>
          <a:lstStyle/>
          <a:p>
            <a:endParaRPr lang="en-US"/>
          </a:p>
        </p:txBody>
      </p:sp>
      <p:sp>
        <p:nvSpPr>
          <p:cNvPr id="9" name="Shape 7"/>
          <p:cNvSpPr/>
          <p:nvPr/>
        </p:nvSpPr>
        <p:spPr>
          <a:xfrm>
            <a:off x="8385048" y="2029968"/>
            <a:ext cx="777240" cy="0"/>
          </a:xfrm>
          <a:prstGeom prst="line">
            <a:avLst/>
          </a:prstGeom>
          <a:noFill/>
          <a:ln w="16510">
            <a:solidFill>
              <a:srgbClr val="A3B4C7"/>
            </a:solidFill>
            <a:prstDash val="solid"/>
            <a:headEnd type="none"/>
            <a:tailEnd type="triangle"/>
          </a:ln>
        </p:spPr>
        <p:txBody>
          <a:bodyPr/>
          <a:lstStyle/>
          <a:p>
            <a:endParaRPr lang="en-US"/>
          </a:p>
        </p:txBody>
      </p:sp>
      <p:sp>
        <p:nvSpPr>
          <p:cNvPr id="10" name="Shape 8"/>
          <p:cNvSpPr/>
          <p:nvPr/>
        </p:nvSpPr>
        <p:spPr>
          <a:xfrm>
            <a:off x="731520" y="1828800"/>
            <a:ext cx="475488" cy="475488"/>
          </a:xfrm>
          <a:prstGeom prst="ellipse">
            <a:avLst/>
          </a:prstGeom>
          <a:solidFill>
            <a:srgbClr val="1E4E8C"/>
          </a:solidFill>
          <a:ln w="12700">
            <a:solidFill>
              <a:srgbClr val="1E4E8C"/>
            </a:solidFill>
            <a:prstDash val="solid"/>
          </a:ln>
        </p:spPr>
        <p:txBody>
          <a:bodyPr/>
          <a:lstStyle/>
          <a:p>
            <a:endParaRPr lang="en-US"/>
          </a:p>
        </p:txBody>
      </p:sp>
      <p:sp>
        <p:nvSpPr>
          <p:cNvPr id="11" name="Text 9"/>
          <p:cNvSpPr/>
          <p:nvPr/>
        </p:nvSpPr>
        <p:spPr>
          <a:xfrm>
            <a:off x="731520" y="1929384"/>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10"/>
          <p:cNvSpPr/>
          <p:nvPr/>
        </p:nvSpPr>
        <p:spPr>
          <a:xfrm>
            <a:off x="594360" y="2487168"/>
            <a:ext cx="1417320" cy="256032"/>
          </a:xfrm>
          <a:prstGeom prst="rect">
            <a:avLst/>
          </a:prstGeom>
          <a:noFill/>
          <a:ln/>
        </p:spPr>
        <p:txBody>
          <a:bodyPr wrap="square" lIns="0" tIns="0" rIns="0" bIns="0" rtlCol="0" anchor="ctr"/>
          <a:lstStyle/>
          <a:p>
            <a:pPr marL="0" indent="0" algn="ctr">
              <a:buNone/>
            </a:pPr>
            <a:r>
              <a:rPr lang="en-US" sz="1200" b="1" dirty="0">
                <a:solidFill>
                  <a:srgbClr val="0B2545"/>
                </a:solidFill>
                <a:latin typeface="Aptos" pitchFamily="34" charset="0"/>
                <a:ea typeface="Aptos" pitchFamily="34" charset="-122"/>
                <a:cs typeface="Aptos" pitchFamily="34" charset="-120"/>
              </a:rPr>
              <a:t>Contexto y actores</a:t>
            </a:r>
            <a:endParaRPr lang="en-US" sz="1200" dirty="0"/>
          </a:p>
        </p:txBody>
      </p:sp>
      <p:sp>
        <p:nvSpPr>
          <p:cNvPr id="13" name="Text 11"/>
          <p:cNvSpPr/>
          <p:nvPr/>
        </p:nvSpPr>
        <p:spPr>
          <a:xfrm>
            <a:off x="411480" y="2852928"/>
            <a:ext cx="1783080" cy="658368"/>
          </a:xfrm>
          <a:prstGeom prst="rect">
            <a:avLst/>
          </a:prstGeom>
          <a:noFill/>
          <a:ln/>
        </p:spPr>
        <p:txBody>
          <a:bodyPr wrap="square" lIns="508" tIns="508" rIns="508" bIns="508" rtlCol="0" anchor="ctr">
            <a:normAutofit/>
          </a:bodyPr>
          <a:lstStyle/>
          <a:p>
            <a:pPr marL="0" indent="0" algn="ctr">
              <a:buNone/>
            </a:pPr>
            <a:r>
              <a:rPr lang="en-US" sz="920" dirty="0">
                <a:solidFill>
                  <a:srgbClr val="586777"/>
                </a:solidFill>
                <a:latin typeface="Aptos" pitchFamily="34" charset="0"/>
                <a:ea typeface="Aptos" pitchFamily="34" charset="-122"/>
                <a:cs typeface="Aptos" pitchFamily="34" charset="-120"/>
              </a:rPr>
              <a:t>Cliente · Administrador · Chofer · sistemas externos</a:t>
            </a:r>
            <a:endParaRPr lang="en-US" sz="920" dirty="0"/>
          </a:p>
        </p:txBody>
      </p:sp>
      <p:sp>
        <p:nvSpPr>
          <p:cNvPr id="14" name="Shape 12"/>
          <p:cNvSpPr/>
          <p:nvPr/>
        </p:nvSpPr>
        <p:spPr>
          <a:xfrm>
            <a:off x="2880360" y="1828800"/>
            <a:ext cx="475488" cy="475488"/>
          </a:xfrm>
          <a:prstGeom prst="ellipse">
            <a:avLst/>
          </a:prstGeom>
          <a:solidFill>
            <a:srgbClr val="1E4E8C"/>
          </a:solidFill>
          <a:ln w="12700">
            <a:solidFill>
              <a:srgbClr val="1E4E8C"/>
            </a:solidFill>
            <a:prstDash val="solid"/>
          </a:ln>
        </p:spPr>
        <p:txBody>
          <a:bodyPr/>
          <a:lstStyle/>
          <a:p>
            <a:endParaRPr lang="en-US"/>
          </a:p>
        </p:txBody>
      </p:sp>
      <p:sp>
        <p:nvSpPr>
          <p:cNvPr id="15" name="Text 13"/>
          <p:cNvSpPr/>
          <p:nvPr/>
        </p:nvSpPr>
        <p:spPr>
          <a:xfrm>
            <a:off x="2880360" y="1929384"/>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16" name="Text 14"/>
          <p:cNvSpPr/>
          <p:nvPr/>
        </p:nvSpPr>
        <p:spPr>
          <a:xfrm>
            <a:off x="2743200" y="2487168"/>
            <a:ext cx="1417320" cy="256032"/>
          </a:xfrm>
          <a:prstGeom prst="rect">
            <a:avLst/>
          </a:prstGeom>
          <a:noFill/>
          <a:ln/>
        </p:spPr>
        <p:txBody>
          <a:bodyPr wrap="square" lIns="0" tIns="0" rIns="0" bIns="0" rtlCol="0" anchor="ctr"/>
          <a:lstStyle/>
          <a:p>
            <a:pPr marL="0" indent="0" algn="ctr">
              <a:buNone/>
            </a:pPr>
            <a:r>
              <a:rPr lang="en-US" sz="1200" b="1" dirty="0">
                <a:solidFill>
                  <a:srgbClr val="0B2545"/>
                </a:solidFill>
                <a:latin typeface="Aptos" pitchFamily="34" charset="0"/>
                <a:ea typeface="Aptos" pitchFamily="34" charset="-122"/>
                <a:cs typeface="Aptos" pitchFamily="34" charset="-120"/>
              </a:rPr>
              <a:t>Estrategia</a:t>
            </a:r>
            <a:endParaRPr lang="en-US" sz="1200" dirty="0"/>
          </a:p>
        </p:txBody>
      </p:sp>
      <p:sp>
        <p:nvSpPr>
          <p:cNvPr id="17" name="Text 15"/>
          <p:cNvSpPr/>
          <p:nvPr/>
        </p:nvSpPr>
        <p:spPr>
          <a:xfrm>
            <a:off x="2560320" y="2852928"/>
            <a:ext cx="1783080" cy="658368"/>
          </a:xfrm>
          <a:prstGeom prst="rect">
            <a:avLst/>
          </a:prstGeom>
          <a:noFill/>
          <a:ln/>
        </p:spPr>
        <p:txBody>
          <a:bodyPr wrap="square" lIns="508" tIns="508" rIns="508" bIns="508" rtlCol="0" anchor="ctr">
            <a:normAutofit/>
          </a:bodyPr>
          <a:lstStyle/>
          <a:p>
            <a:pPr marL="0" indent="0" algn="ctr">
              <a:buNone/>
            </a:pPr>
            <a:r>
              <a:rPr lang="en-US" sz="920" dirty="0">
                <a:solidFill>
                  <a:srgbClr val="586777"/>
                </a:solidFill>
                <a:latin typeface="Aptos" pitchFamily="34" charset="0"/>
                <a:ea typeface="Aptos" pitchFamily="34" charset="-122"/>
                <a:cs typeface="Aptos" pitchFamily="34" charset="-120"/>
              </a:rPr>
              <a:t>Microservicios como estilo macro</a:t>
            </a:r>
            <a:endParaRPr lang="en-US" sz="920" dirty="0"/>
          </a:p>
        </p:txBody>
      </p:sp>
      <p:sp>
        <p:nvSpPr>
          <p:cNvPr id="18" name="Shape 16"/>
          <p:cNvSpPr/>
          <p:nvPr/>
        </p:nvSpPr>
        <p:spPr>
          <a:xfrm>
            <a:off x="5029200" y="1828800"/>
            <a:ext cx="475488" cy="475488"/>
          </a:xfrm>
          <a:prstGeom prst="ellipse">
            <a:avLst/>
          </a:prstGeom>
          <a:solidFill>
            <a:srgbClr val="1E4E8C"/>
          </a:solidFill>
          <a:ln w="12700">
            <a:solidFill>
              <a:srgbClr val="1E4E8C"/>
            </a:solidFill>
            <a:prstDash val="solid"/>
          </a:ln>
        </p:spPr>
        <p:txBody>
          <a:bodyPr/>
          <a:lstStyle/>
          <a:p>
            <a:endParaRPr lang="en-US"/>
          </a:p>
        </p:txBody>
      </p:sp>
      <p:sp>
        <p:nvSpPr>
          <p:cNvPr id="19" name="Text 17"/>
          <p:cNvSpPr/>
          <p:nvPr/>
        </p:nvSpPr>
        <p:spPr>
          <a:xfrm>
            <a:off x="5029200" y="1929384"/>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20" name="Text 18"/>
          <p:cNvSpPr/>
          <p:nvPr/>
        </p:nvSpPr>
        <p:spPr>
          <a:xfrm>
            <a:off x="4892040" y="2487168"/>
            <a:ext cx="1417320" cy="256032"/>
          </a:xfrm>
          <a:prstGeom prst="rect">
            <a:avLst/>
          </a:prstGeom>
          <a:noFill/>
          <a:ln/>
        </p:spPr>
        <p:txBody>
          <a:bodyPr wrap="square" lIns="0" tIns="0" rIns="0" bIns="0" rtlCol="0" anchor="ctr"/>
          <a:lstStyle/>
          <a:p>
            <a:pPr marL="0" indent="0" algn="ctr">
              <a:buNone/>
            </a:pPr>
            <a:r>
              <a:rPr lang="en-US" sz="1200" b="1" dirty="0">
                <a:solidFill>
                  <a:srgbClr val="0B2545"/>
                </a:solidFill>
                <a:latin typeface="Aptos" pitchFamily="34" charset="0"/>
                <a:ea typeface="Aptos" pitchFamily="34" charset="-122"/>
                <a:cs typeface="Aptos" pitchFamily="34" charset="-120"/>
              </a:rPr>
              <a:t>Contenedores</a:t>
            </a:r>
            <a:endParaRPr lang="en-US" sz="1200" dirty="0"/>
          </a:p>
        </p:txBody>
      </p:sp>
      <p:sp>
        <p:nvSpPr>
          <p:cNvPr id="21" name="Text 19"/>
          <p:cNvSpPr/>
          <p:nvPr/>
        </p:nvSpPr>
        <p:spPr>
          <a:xfrm>
            <a:off x="4709160" y="2852928"/>
            <a:ext cx="1783080" cy="658368"/>
          </a:xfrm>
          <a:prstGeom prst="rect">
            <a:avLst/>
          </a:prstGeom>
          <a:noFill/>
          <a:ln/>
        </p:spPr>
        <p:txBody>
          <a:bodyPr wrap="square" lIns="508" tIns="508" rIns="508" bIns="508" rtlCol="0" anchor="ctr">
            <a:normAutofit/>
          </a:bodyPr>
          <a:lstStyle/>
          <a:p>
            <a:pPr marL="0" indent="0" algn="ctr">
              <a:buNone/>
            </a:pPr>
            <a:r>
              <a:rPr lang="en-US" sz="920" dirty="0">
                <a:solidFill>
                  <a:srgbClr val="586777"/>
                </a:solidFill>
                <a:latin typeface="Aptos" pitchFamily="34" charset="0"/>
                <a:ea typeface="Aptos" pitchFamily="34" charset="-122"/>
                <a:cs typeface="Aptos" pitchFamily="34" charset="-120"/>
              </a:rPr>
              <a:t>Web, Mobile, API Gateway, servicios y eventos</a:t>
            </a:r>
            <a:endParaRPr lang="en-US" sz="920" dirty="0"/>
          </a:p>
        </p:txBody>
      </p:sp>
      <p:sp>
        <p:nvSpPr>
          <p:cNvPr id="22" name="Shape 20"/>
          <p:cNvSpPr/>
          <p:nvPr/>
        </p:nvSpPr>
        <p:spPr>
          <a:xfrm>
            <a:off x="7178040" y="1828800"/>
            <a:ext cx="475488" cy="475488"/>
          </a:xfrm>
          <a:prstGeom prst="ellipse">
            <a:avLst/>
          </a:prstGeom>
          <a:solidFill>
            <a:srgbClr val="1E4E8C"/>
          </a:solidFill>
          <a:ln w="12700">
            <a:solidFill>
              <a:srgbClr val="1E4E8C"/>
            </a:solidFill>
            <a:prstDash val="solid"/>
          </a:ln>
        </p:spPr>
        <p:txBody>
          <a:bodyPr/>
          <a:lstStyle/>
          <a:p>
            <a:endParaRPr lang="en-US"/>
          </a:p>
        </p:txBody>
      </p:sp>
      <p:sp>
        <p:nvSpPr>
          <p:cNvPr id="23" name="Text 21"/>
          <p:cNvSpPr/>
          <p:nvPr/>
        </p:nvSpPr>
        <p:spPr>
          <a:xfrm>
            <a:off x="7178040" y="1929384"/>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8</a:t>
            </a:r>
            <a:endParaRPr lang="en-US" sz="1200" dirty="0"/>
          </a:p>
        </p:txBody>
      </p:sp>
      <p:sp>
        <p:nvSpPr>
          <p:cNvPr id="24" name="Text 22"/>
          <p:cNvSpPr/>
          <p:nvPr/>
        </p:nvSpPr>
        <p:spPr>
          <a:xfrm>
            <a:off x="7040880" y="2487168"/>
            <a:ext cx="1417320" cy="256032"/>
          </a:xfrm>
          <a:prstGeom prst="rect">
            <a:avLst/>
          </a:prstGeom>
          <a:noFill/>
          <a:ln/>
        </p:spPr>
        <p:txBody>
          <a:bodyPr wrap="square" lIns="0" tIns="0" rIns="0" bIns="0" rtlCol="0" anchor="ctr"/>
          <a:lstStyle/>
          <a:p>
            <a:pPr marL="0" indent="0" algn="ctr">
              <a:buNone/>
            </a:pPr>
            <a:r>
              <a:rPr lang="en-US" sz="1200" b="1" dirty="0">
                <a:solidFill>
                  <a:srgbClr val="0B2545"/>
                </a:solidFill>
                <a:latin typeface="Aptos" pitchFamily="34" charset="0"/>
                <a:ea typeface="Aptos" pitchFamily="34" charset="-122"/>
                <a:cs typeface="Aptos" pitchFamily="34" charset="-120"/>
              </a:rPr>
              <a:t>Persistencia</a:t>
            </a:r>
            <a:endParaRPr lang="en-US" sz="1200" dirty="0"/>
          </a:p>
        </p:txBody>
      </p:sp>
      <p:sp>
        <p:nvSpPr>
          <p:cNvPr id="25" name="Text 23"/>
          <p:cNvSpPr/>
          <p:nvPr/>
        </p:nvSpPr>
        <p:spPr>
          <a:xfrm>
            <a:off x="6858000" y="2852928"/>
            <a:ext cx="1783080" cy="658368"/>
          </a:xfrm>
          <a:prstGeom prst="rect">
            <a:avLst/>
          </a:prstGeom>
          <a:noFill/>
          <a:ln/>
        </p:spPr>
        <p:txBody>
          <a:bodyPr wrap="square" lIns="508" tIns="508" rIns="508" bIns="508" rtlCol="0" anchor="ctr">
            <a:normAutofit/>
          </a:bodyPr>
          <a:lstStyle/>
          <a:p>
            <a:pPr marL="0" indent="0" algn="ctr">
              <a:buNone/>
            </a:pPr>
            <a:r>
              <a:rPr lang="en-US" sz="920" dirty="0">
                <a:solidFill>
                  <a:srgbClr val="586777"/>
                </a:solidFill>
                <a:latin typeface="Aptos" pitchFamily="34" charset="0"/>
                <a:ea typeface="Aptos" pitchFamily="34" charset="-122"/>
                <a:cs typeface="Aptos" pitchFamily="34" charset="-120"/>
              </a:rPr>
              <a:t>Políglota distribuida como concepto transversal</a:t>
            </a:r>
            <a:endParaRPr lang="en-US" sz="920" dirty="0"/>
          </a:p>
        </p:txBody>
      </p:sp>
      <p:sp>
        <p:nvSpPr>
          <p:cNvPr id="26" name="Shape 24"/>
          <p:cNvSpPr/>
          <p:nvPr/>
        </p:nvSpPr>
        <p:spPr>
          <a:xfrm>
            <a:off x="9326880" y="1828800"/>
            <a:ext cx="475488" cy="475488"/>
          </a:xfrm>
          <a:prstGeom prst="ellipse">
            <a:avLst/>
          </a:prstGeom>
          <a:solidFill>
            <a:srgbClr val="1E4E8C"/>
          </a:solidFill>
          <a:ln w="12700">
            <a:solidFill>
              <a:srgbClr val="1E4E8C"/>
            </a:solidFill>
            <a:prstDash val="solid"/>
          </a:ln>
        </p:spPr>
        <p:txBody>
          <a:bodyPr/>
          <a:lstStyle/>
          <a:p>
            <a:endParaRPr lang="en-US"/>
          </a:p>
        </p:txBody>
      </p:sp>
      <p:sp>
        <p:nvSpPr>
          <p:cNvPr id="27" name="Text 25"/>
          <p:cNvSpPr/>
          <p:nvPr/>
        </p:nvSpPr>
        <p:spPr>
          <a:xfrm>
            <a:off x="9326880" y="1929384"/>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9</a:t>
            </a:r>
            <a:endParaRPr lang="en-US" sz="1200" dirty="0"/>
          </a:p>
        </p:txBody>
      </p:sp>
      <p:sp>
        <p:nvSpPr>
          <p:cNvPr id="28" name="Text 26"/>
          <p:cNvSpPr/>
          <p:nvPr/>
        </p:nvSpPr>
        <p:spPr>
          <a:xfrm>
            <a:off x="9189720" y="2487168"/>
            <a:ext cx="1417320" cy="256032"/>
          </a:xfrm>
          <a:prstGeom prst="rect">
            <a:avLst/>
          </a:prstGeom>
          <a:noFill/>
          <a:ln/>
        </p:spPr>
        <p:txBody>
          <a:bodyPr wrap="square" lIns="0" tIns="0" rIns="0" bIns="0" rtlCol="0" anchor="ctr"/>
          <a:lstStyle/>
          <a:p>
            <a:pPr marL="0" indent="0" algn="ctr">
              <a:buNone/>
            </a:pPr>
            <a:r>
              <a:rPr lang="en-US" sz="1200" b="1" dirty="0">
                <a:solidFill>
                  <a:srgbClr val="0B2545"/>
                </a:solidFill>
                <a:latin typeface="Aptos" pitchFamily="34" charset="0"/>
                <a:ea typeface="Aptos" pitchFamily="34" charset="-122"/>
                <a:cs typeface="Aptos" pitchFamily="34" charset="-120"/>
              </a:rPr>
              <a:t>ADRs</a:t>
            </a:r>
            <a:endParaRPr lang="en-US" sz="1200" dirty="0"/>
          </a:p>
        </p:txBody>
      </p:sp>
      <p:sp>
        <p:nvSpPr>
          <p:cNvPr id="29" name="Text 27"/>
          <p:cNvSpPr/>
          <p:nvPr/>
        </p:nvSpPr>
        <p:spPr>
          <a:xfrm>
            <a:off x="9006840" y="2852928"/>
            <a:ext cx="1783080" cy="658368"/>
          </a:xfrm>
          <a:prstGeom prst="rect">
            <a:avLst/>
          </a:prstGeom>
          <a:noFill/>
          <a:ln/>
        </p:spPr>
        <p:txBody>
          <a:bodyPr wrap="square" lIns="508" tIns="508" rIns="508" bIns="508" rtlCol="0" anchor="ctr">
            <a:normAutofit/>
          </a:bodyPr>
          <a:lstStyle/>
          <a:p>
            <a:pPr marL="0" indent="0" algn="ctr">
              <a:buNone/>
            </a:pPr>
            <a:r>
              <a:rPr lang="en-US" sz="920" dirty="0">
                <a:solidFill>
                  <a:srgbClr val="586777"/>
                </a:solidFill>
                <a:latin typeface="Aptos" pitchFamily="34" charset="0"/>
                <a:ea typeface="Aptos" pitchFamily="34" charset="-122"/>
                <a:cs typeface="Aptos" pitchFamily="34" charset="-120"/>
              </a:rPr>
              <a:t>Microservicios, SaaS multioperador y persistencia</a:t>
            </a:r>
            <a:endParaRPr lang="en-US" sz="920" dirty="0"/>
          </a:p>
        </p:txBody>
      </p:sp>
      <p:sp>
        <p:nvSpPr>
          <p:cNvPr id="30" name="Shape 28"/>
          <p:cNvSpPr/>
          <p:nvPr/>
        </p:nvSpPr>
        <p:spPr>
          <a:xfrm>
            <a:off x="960120" y="4709160"/>
            <a:ext cx="10012680" cy="749808"/>
          </a:xfrm>
          <a:prstGeom prst="roundRect">
            <a:avLst>
              <a:gd name="adj" fmla="val 9756"/>
            </a:avLst>
          </a:prstGeom>
          <a:solidFill>
            <a:srgbClr val="FFF7ED"/>
          </a:solidFill>
          <a:ln w="15240">
            <a:solidFill>
              <a:srgbClr val="FDBA74"/>
            </a:solidFill>
            <a:prstDash val="solid"/>
          </a:ln>
        </p:spPr>
        <p:txBody>
          <a:bodyPr/>
          <a:lstStyle/>
          <a:p>
            <a:endParaRPr lang="en-US"/>
          </a:p>
        </p:txBody>
      </p:sp>
      <p:sp>
        <p:nvSpPr>
          <p:cNvPr id="31" name="Text 29"/>
          <p:cNvSpPr/>
          <p:nvPr/>
        </p:nvSpPr>
        <p:spPr>
          <a:xfrm>
            <a:off x="1143000" y="4901184"/>
            <a:ext cx="9646920" cy="274320"/>
          </a:xfrm>
          <a:prstGeom prst="rect">
            <a:avLst/>
          </a:prstGeom>
          <a:noFill/>
          <a:ln/>
        </p:spPr>
        <p:txBody>
          <a:bodyPr wrap="square" lIns="0" tIns="0" rIns="0" bIns="0" rtlCol="0" anchor="ctr"/>
          <a:lstStyle/>
          <a:p>
            <a:pPr marL="0" indent="0">
              <a:buNone/>
            </a:pPr>
            <a:r>
              <a:rPr lang="en-US" sz="1220" b="1" dirty="0">
                <a:solidFill>
                  <a:srgbClr val="8A4B10"/>
                </a:solidFill>
                <a:latin typeface="Aptos" pitchFamily="34" charset="0"/>
                <a:ea typeface="Aptos" pitchFamily="34" charset="-122"/>
                <a:cs typeface="Aptos" pitchFamily="34" charset="-120"/>
              </a:rPr>
              <a:t>Pendiente por completar en el documento: Vista de Ejecución, Vista de Despliegue, otros conceptos transversales y escenarios medibles de calidad.</a:t>
            </a:r>
            <a:endParaRPr lang="en-US" sz="1220" dirty="0"/>
          </a:p>
        </p:txBody>
      </p:sp>
      <p:sp>
        <p:nvSpPr>
          <p:cNvPr id="32"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5"/>
          </a:solidFill>
          <a:ln w="12700">
            <a:solidFill>
              <a:srgbClr val="2E75B5">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Problema de negocio que resuelve la arquitectura</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Movix coordina transporte asistido con seguridad, trazabilidad y operación continua</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negocio</a:t>
            </a:r>
            <a:endParaRPr lang="en-US" sz="800" dirty="0"/>
          </a:p>
        </p:txBody>
      </p:sp>
      <p:pic>
        <p:nvPicPr>
          <p:cNvPr id="6" name="Image 0" descr="/mnt/data/b02259b6-b78b-4a02-86e5-a38b42920a38.png"/>
          <p:cNvPicPr>
            <a:picLocks noChangeAspect="1"/>
          </p:cNvPicPr>
          <p:nvPr/>
        </p:nvPicPr>
        <p:blipFill>
          <a:blip r:embed="rId3"/>
          <a:srcRect t="2000" r="7430" b="26000"/>
          <a:stretch/>
        </p:blipFill>
        <p:spPr>
          <a:xfrm>
            <a:off x="640080" y="1417320"/>
            <a:ext cx="4754880" cy="3931920"/>
          </a:xfrm>
          <a:prstGeom prst="rect">
            <a:avLst/>
          </a:prstGeom>
        </p:spPr>
      </p:pic>
      <p:sp>
        <p:nvSpPr>
          <p:cNvPr id="7" name="Shape 4"/>
          <p:cNvSpPr/>
          <p:nvPr/>
        </p:nvSpPr>
        <p:spPr>
          <a:xfrm>
            <a:off x="5806440" y="1417320"/>
            <a:ext cx="5440680" cy="3977640"/>
          </a:xfrm>
          <a:prstGeom prst="roundRect">
            <a:avLst>
              <a:gd name="adj" fmla="val 1839"/>
            </a:avLst>
          </a:prstGeom>
          <a:solidFill>
            <a:srgbClr val="FFFFFF"/>
          </a:solidFill>
          <a:ln w="12700">
            <a:solidFill>
              <a:srgbClr val="D6E4F2"/>
            </a:solidFill>
            <a:prstDash val="solid"/>
          </a:ln>
        </p:spPr>
        <p:txBody>
          <a:bodyPr/>
          <a:lstStyle/>
          <a:p>
            <a:endParaRPr lang="en-US"/>
          </a:p>
        </p:txBody>
      </p:sp>
      <p:sp>
        <p:nvSpPr>
          <p:cNvPr id="8" name="Text 5"/>
          <p:cNvSpPr/>
          <p:nvPr/>
        </p:nvSpPr>
        <p:spPr>
          <a:xfrm>
            <a:off x="6172200" y="1810512"/>
            <a:ext cx="1417320" cy="411480"/>
          </a:xfrm>
          <a:prstGeom prst="rect">
            <a:avLst/>
          </a:prstGeom>
          <a:noFill/>
          <a:ln/>
        </p:spPr>
        <p:txBody>
          <a:bodyPr wrap="square" lIns="0" tIns="0" rIns="0" bIns="0" rtlCol="0" anchor="ctr"/>
          <a:lstStyle/>
          <a:p>
            <a:pPr marL="0" indent="0" algn="ctr">
              <a:buNone/>
            </a:pPr>
            <a:r>
              <a:rPr lang="en-US" sz="2400" b="1" dirty="0">
                <a:solidFill>
                  <a:srgbClr val="1E4E8C"/>
                </a:solidFill>
                <a:latin typeface="Aptos Display" pitchFamily="34" charset="0"/>
                <a:ea typeface="Aptos Display" pitchFamily="34" charset="-122"/>
                <a:cs typeface="Aptos Display" pitchFamily="34" charset="-120"/>
              </a:rPr>
              <a:t>3</a:t>
            </a:r>
            <a:endParaRPr lang="en-US" sz="2400" dirty="0"/>
          </a:p>
        </p:txBody>
      </p:sp>
      <p:sp>
        <p:nvSpPr>
          <p:cNvPr id="9" name="Text 6"/>
          <p:cNvSpPr/>
          <p:nvPr/>
        </p:nvSpPr>
        <p:spPr>
          <a:xfrm>
            <a:off x="6172200" y="2240280"/>
            <a:ext cx="1417320" cy="402336"/>
          </a:xfrm>
          <a:prstGeom prst="rect">
            <a:avLst/>
          </a:prstGeom>
          <a:noFill/>
          <a:ln/>
        </p:spPr>
        <p:txBody>
          <a:bodyPr wrap="square" lIns="254" tIns="254" rIns="254" bIns="254" rtlCol="0" anchor="ctr">
            <a:normAutofit/>
          </a:bodyPr>
          <a:lstStyle/>
          <a:p>
            <a:pPr marL="0" indent="0" algn="ctr">
              <a:buNone/>
            </a:pPr>
            <a:r>
              <a:rPr lang="en-US" sz="950" dirty="0">
                <a:solidFill>
                  <a:srgbClr val="586777"/>
                </a:solidFill>
                <a:latin typeface="Aptos" pitchFamily="34" charset="0"/>
                <a:ea typeface="Aptos" pitchFamily="34" charset="-122"/>
                <a:cs typeface="Aptos" pitchFamily="34" charset="-120"/>
              </a:rPr>
              <a:t>dominios: escolar, turismo y mascotas</a:t>
            </a:r>
            <a:endParaRPr lang="en-US" sz="950" dirty="0"/>
          </a:p>
        </p:txBody>
      </p:sp>
      <p:sp>
        <p:nvSpPr>
          <p:cNvPr id="10" name="Text 7"/>
          <p:cNvSpPr/>
          <p:nvPr/>
        </p:nvSpPr>
        <p:spPr>
          <a:xfrm>
            <a:off x="7818120" y="1810512"/>
            <a:ext cx="1508760" cy="411480"/>
          </a:xfrm>
          <a:prstGeom prst="rect">
            <a:avLst/>
          </a:prstGeom>
          <a:noFill/>
          <a:ln/>
        </p:spPr>
        <p:txBody>
          <a:bodyPr wrap="square" lIns="0" tIns="0" rIns="0" bIns="0" rtlCol="0" anchor="ctr"/>
          <a:lstStyle/>
          <a:p>
            <a:pPr marL="0" indent="0" algn="ctr">
              <a:buNone/>
            </a:pPr>
            <a:r>
              <a:rPr lang="en-US" sz="2400" b="1" dirty="0">
                <a:solidFill>
                  <a:srgbClr val="2E7D32"/>
                </a:solidFill>
                <a:latin typeface="Aptos Display" pitchFamily="34" charset="0"/>
                <a:ea typeface="Aptos Display" pitchFamily="34" charset="-122"/>
                <a:cs typeface="Aptos Display" pitchFamily="34" charset="-120"/>
              </a:rPr>
              <a:t>24/7</a:t>
            </a:r>
            <a:endParaRPr lang="en-US" sz="2400" dirty="0"/>
          </a:p>
        </p:txBody>
      </p:sp>
      <p:sp>
        <p:nvSpPr>
          <p:cNvPr id="11" name="Text 8"/>
          <p:cNvSpPr/>
          <p:nvPr/>
        </p:nvSpPr>
        <p:spPr>
          <a:xfrm>
            <a:off x="7818120" y="2240280"/>
            <a:ext cx="1508760" cy="402336"/>
          </a:xfrm>
          <a:prstGeom prst="rect">
            <a:avLst/>
          </a:prstGeom>
          <a:noFill/>
          <a:ln/>
        </p:spPr>
        <p:txBody>
          <a:bodyPr wrap="square" lIns="254" tIns="254" rIns="254" bIns="254" rtlCol="0" anchor="ctr">
            <a:normAutofit/>
          </a:bodyPr>
          <a:lstStyle/>
          <a:p>
            <a:pPr marL="0" indent="0" algn="ctr">
              <a:buNone/>
            </a:pPr>
            <a:r>
              <a:rPr lang="en-US" sz="950" dirty="0">
                <a:solidFill>
                  <a:srgbClr val="586777"/>
                </a:solidFill>
                <a:latin typeface="Aptos" pitchFamily="34" charset="0"/>
                <a:ea typeface="Aptos" pitchFamily="34" charset="-122"/>
                <a:cs typeface="Aptos" pitchFamily="34" charset="-120"/>
              </a:rPr>
              <a:t>operación esperada por zonas horarias</a:t>
            </a:r>
            <a:endParaRPr lang="en-US" sz="950" dirty="0"/>
          </a:p>
        </p:txBody>
      </p:sp>
      <p:sp>
        <p:nvSpPr>
          <p:cNvPr id="12" name="Text 9"/>
          <p:cNvSpPr/>
          <p:nvPr/>
        </p:nvSpPr>
        <p:spPr>
          <a:xfrm>
            <a:off x="9464040" y="1810512"/>
            <a:ext cx="1554480" cy="411480"/>
          </a:xfrm>
          <a:prstGeom prst="rect">
            <a:avLst/>
          </a:prstGeom>
          <a:noFill/>
          <a:ln/>
        </p:spPr>
        <p:txBody>
          <a:bodyPr wrap="square" lIns="0" tIns="0" rIns="0" bIns="0" rtlCol="0" anchor="ctr"/>
          <a:lstStyle/>
          <a:p>
            <a:pPr marL="0" indent="0" algn="ctr">
              <a:buNone/>
            </a:pPr>
            <a:r>
              <a:rPr lang="en-US" sz="2400" b="1" dirty="0">
                <a:solidFill>
                  <a:srgbClr val="6E4FA3"/>
                </a:solidFill>
                <a:latin typeface="Aptos Display" pitchFamily="34" charset="0"/>
                <a:ea typeface="Aptos Display" pitchFamily="34" charset="-122"/>
                <a:cs typeface="Aptos Display" pitchFamily="34" charset="-120"/>
              </a:rPr>
              <a:t>SaaS</a:t>
            </a:r>
            <a:endParaRPr lang="en-US" sz="2400" dirty="0"/>
          </a:p>
        </p:txBody>
      </p:sp>
      <p:sp>
        <p:nvSpPr>
          <p:cNvPr id="13" name="Text 10"/>
          <p:cNvSpPr/>
          <p:nvPr/>
        </p:nvSpPr>
        <p:spPr>
          <a:xfrm>
            <a:off x="9464040" y="2240280"/>
            <a:ext cx="1554480" cy="402336"/>
          </a:xfrm>
          <a:prstGeom prst="rect">
            <a:avLst/>
          </a:prstGeom>
          <a:noFill/>
          <a:ln/>
        </p:spPr>
        <p:txBody>
          <a:bodyPr wrap="square" lIns="254" tIns="254" rIns="254" bIns="254" rtlCol="0" anchor="ctr">
            <a:normAutofit/>
          </a:bodyPr>
          <a:lstStyle/>
          <a:p>
            <a:pPr marL="0" indent="0" algn="ctr">
              <a:buNone/>
            </a:pPr>
            <a:r>
              <a:rPr lang="en-US" sz="950" dirty="0">
                <a:solidFill>
                  <a:srgbClr val="586777"/>
                </a:solidFill>
                <a:latin typeface="Aptos" pitchFamily="34" charset="0"/>
                <a:ea typeface="Aptos" pitchFamily="34" charset="-122"/>
                <a:cs typeface="Aptos" pitchFamily="34" charset="-120"/>
              </a:rPr>
              <a:t>multioperador con aislamiento de datos</a:t>
            </a:r>
            <a:endParaRPr lang="en-US" sz="950" dirty="0"/>
          </a:p>
        </p:txBody>
      </p:sp>
      <p:sp>
        <p:nvSpPr>
          <p:cNvPr id="14" name="Text 11"/>
          <p:cNvSpPr/>
          <p:nvPr/>
        </p:nvSpPr>
        <p:spPr>
          <a:xfrm>
            <a:off x="6172200" y="3127248"/>
            <a:ext cx="4023360" cy="256032"/>
          </a:xfrm>
          <a:prstGeom prst="rect">
            <a:avLst/>
          </a:prstGeom>
          <a:noFill/>
          <a:ln/>
        </p:spPr>
        <p:txBody>
          <a:bodyPr wrap="square" lIns="0" tIns="0" rIns="0" bIns="0" rtlCol="0" anchor="ctr"/>
          <a:lstStyle/>
          <a:p>
            <a:pPr marL="0" indent="0">
              <a:buNone/>
            </a:pPr>
            <a:r>
              <a:rPr lang="en-US" sz="1500" b="1" dirty="0">
                <a:solidFill>
                  <a:srgbClr val="0B2545"/>
                </a:solidFill>
                <a:latin typeface="Aptos Display" pitchFamily="34" charset="0"/>
                <a:ea typeface="Aptos Display" pitchFamily="34" charset="-122"/>
                <a:cs typeface="Aptos Display" pitchFamily="34" charset="-120"/>
              </a:rPr>
              <a:t>Prioridades para la Junta Directiva</a:t>
            </a:r>
            <a:endParaRPr lang="en-US" sz="1500" dirty="0"/>
          </a:p>
        </p:txBody>
      </p:sp>
      <p:sp>
        <p:nvSpPr>
          <p:cNvPr id="15" name="Text 12"/>
          <p:cNvSpPr/>
          <p:nvPr/>
        </p:nvSpPr>
        <p:spPr>
          <a:xfrm>
            <a:off x="6236208" y="3584448"/>
            <a:ext cx="4754880" cy="1325880"/>
          </a:xfrm>
          <a:prstGeom prst="rect">
            <a:avLst/>
          </a:prstGeom>
          <a:noFill/>
          <a:ln/>
        </p:spPr>
        <p:txBody>
          <a:bodyPr wrap="square" lIns="254" tIns="254" rIns="254" bIns="254" rtlCol="0" anchor="t">
            <a:normAutofit/>
          </a:bodyPr>
          <a:lstStyle/>
          <a:p>
            <a:pPr marL="0" indent="0" algn="l">
              <a:buNone/>
            </a:pPr>
            <a:r>
              <a:rPr lang="en-US" sz="1120" dirty="0">
                <a:solidFill>
                  <a:srgbClr val="111827"/>
                </a:solidFill>
                <a:latin typeface="Aptos" pitchFamily="34" charset="0"/>
                <a:ea typeface="Aptos" pitchFamily="34" charset="-122"/>
                <a:cs typeface="Aptos" pitchFamily="34" charset="-120"/>
              </a:rPr>
              <a:t>• Seguridad de datos sensibles: menores, mascotas, ubicación y perfiles médicos.</a:t>
            </a:r>
            <a:endParaRPr lang="en-US" sz="1120" dirty="0"/>
          </a:p>
          <a:p>
            <a:pPr marL="0" indent="0" algn="l">
              <a:buNone/>
            </a:pPr>
            <a:r>
              <a:rPr lang="en-US" sz="1120" dirty="0">
                <a:solidFill>
                  <a:srgbClr val="111827"/>
                </a:solidFill>
                <a:latin typeface="Aptos" pitchFamily="34" charset="0"/>
                <a:ea typeface="Aptos" pitchFamily="34" charset="-122"/>
                <a:cs typeface="Aptos" pitchFamily="34" charset="-120"/>
              </a:rPr>
              <a:t>• Continuidad de la operación en rutas activas.</a:t>
            </a:r>
            <a:endParaRPr lang="en-US" sz="1120" dirty="0"/>
          </a:p>
          <a:p>
            <a:pPr marL="0" indent="0" algn="l">
              <a:buNone/>
            </a:pPr>
            <a:r>
              <a:rPr lang="en-US" sz="1120" dirty="0">
                <a:solidFill>
                  <a:srgbClr val="111827"/>
                </a:solidFill>
                <a:latin typeface="Aptos" pitchFamily="34" charset="0"/>
                <a:ea typeface="Aptos" pitchFamily="34" charset="-122"/>
                <a:cs typeface="Aptos" pitchFamily="34" charset="-120"/>
              </a:rPr>
              <a:t>• Escalabilidad por demanda: horas pico escolares y regiones.</a:t>
            </a:r>
            <a:endParaRPr lang="en-US" sz="1120" dirty="0"/>
          </a:p>
          <a:p>
            <a:pPr marL="0" indent="0" algn="l">
              <a:buNone/>
            </a:pPr>
            <a:r>
              <a:rPr lang="en-US" sz="1120" dirty="0">
                <a:solidFill>
                  <a:srgbClr val="111827"/>
                </a:solidFill>
                <a:latin typeface="Aptos" pitchFamily="34" charset="0"/>
                <a:ea typeface="Aptos" pitchFamily="34" charset="-122"/>
                <a:cs typeface="Aptos" pitchFamily="34" charset="-120"/>
              </a:rPr>
              <a:t>• Trazabilidad de abordajes, entregas, incidentes y cambios.</a:t>
            </a:r>
            <a:endParaRPr lang="en-US" sz="1120" dirty="0"/>
          </a:p>
        </p:txBody>
      </p:sp>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a:effectLst/>
      </p:bgPr>
    </p:bg>
    <p:spTree>
      <p:nvGrpSpPr>
        <p:cNvPr id="1" name=""/>
        <p:cNvGrpSpPr/>
        <p:nvPr/>
      </p:nvGrpSpPr>
      <p:grpSpPr>
        <a:xfrm>
          <a:off x="0" y="0"/>
          <a:ext cx="0" cy="0"/>
          <a:chOff x="0" y="0"/>
          <a:chExt cx="0" cy="0"/>
        </a:xfrm>
      </p:grpSpPr>
      <p:pic>
        <p:nvPicPr>
          <p:cNvPr id="6" name="Image 0" descr="/mnt/data/7904c632-f38a-49ad-98da-50d66b33bd19.png"/>
          <p:cNvPicPr>
            <a:picLocks noChangeAspect="1"/>
          </p:cNvPicPr>
          <p:nvPr/>
        </p:nvPicPr>
        <p:blipFill>
          <a:blip r:embed="rId3"/>
          <a:srcRect l="2000" t="816" r="-15" b="10973"/>
          <a:stretch>
            <a:fillRect/>
          </a:stretch>
        </p:blipFill>
        <p:spPr>
          <a:xfrm>
            <a:off x="566928" y="1025163"/>
            <a:ext cx="9672799" cy="5065728"/>
          </a:xfrm>
          <a:prstGeom prst="rect">
            <a:avLst/>
          </a:prstGeom>
        </p:spPr>
      </p:pic>
      <p:sp>
        <p:nvSpPr>
          <p:cNvPr id="2" name="Shape 0"/>
          <p:cNvSpPr/>
          <p:nvPr/>
        </p:nvSpPr>
        <p:spPr>
          <a:xfrm>
            <a:off x="0" y="0"/>
            <a:ext cx="12191695" cy="109728"/>
          </a:xfrm>
          <a:prstGeom prst="rect">
            <a:avLst/>
          </a:prstGeom>
          <a:solidFill>
            <a:srgbClr val="1E4E8C"/>
          </a:solidFill>
          <a:ln w="12700">
            <a:solidFill>
              <a:srgbClr val="1E4E8C">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Diseño de contenedores propuesto</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C4 Nivel 2: separación de experiencia, entrada, servicios de negocio, eventos y persistencia</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contenedores</a:t>
            </a:r>
            <a:endParaRPr lang="en-US" sz="800" dirty="0"/>
          </a:p>
        </p:txBody>
      </p:sp>
      <p:sp>
        <p:nvSpPr>
          <p:cNvPr id="7" name="Shape 4"/>
          <p:cNvSpPr/>
          <p:nvPr/>
        </p:nvSpPr>
        <p:spPr>
          <a:xfrm>
            <a:off x="484632" y="6069897"/>
            <a:ext cx="10744200" cy="384048"/>
          </a:xfrm>
          <a:prstGeom prst="roundRect">
            <a:avLst>
              <a:gd name="adj" fmla="val 19048"/>
            </a:avLst>
          </a:prstGeom>
          <a:solidFill>
            <a:srgbClr val="EAF4FF"/>
          </a:solidFill>
          <a:ln w="12700">
            <a:solidFill>
              <a:srgbClr val="BBD7F0"/>
            </a:solidFill>
            <a:prstDash val="solid"/>
          </a:ln>
        </p:spPr>
        <p:txBody>
          <a:bodyPr/>
          <a:lstStyle/>
          <a:p>
            <a:endParaRPr lang="en-US"/>
          </a:p>
        </p:txBody>
      </p:sp>
      <p:sp>
        <p:nvSpPr>
          <p:cNvPr id="8" name="Text 5"/>
          <p:cNvSpPr/>
          <p:nvPr/>
        </p:nvSpPr>
        <p:spPr>
          <a:xfrm>
            <a:off x="759125" y="6199266"/>
            <a:ext cx="10378440" cy="146304"/>
          </a:xfrm>
          <a:prstGeom prst="rect">
            <a:avLst/>
          </a:prstGeom>
          <a:noFill/>
          <a:ln/>
        </p:spPr>
        <p:txBody>
          <a:bodyPr wrap="square" lIns="0" tIns="0" rIns="0" bIns="0" rtlCol="0" anchor="ctr"/>
          <a:lstStyle/>
          <a:p>
            <a:r>
              <a:rPr lang="en-US" sz="900" b="1" dirty="0">
                <a:solidFill>
                  <a:srgbClr val="0B2545"/>
                </a:solidFill>
                <a:latin typeface="Aptos" pitchFamily="34" charset="0"/>
                <a:ea typeface="Aptos" pitchFamily="34" charset="-122"/>
                <a:cs typeface="Aptos" pitchFamily="34" charset="-120"/>
              </a:rPr>
              <a:t>Lectura ejecutiva: las apps no conocen la complejidad interna; el API Gateway centraliza el acceso; los microservicios </a:t>
            </a:r>
            <a:r>
              <a:rPr lang="en-US" sz="900" b="1" dirty="0" err="1">
                <a:solidFill>
                  <a:srgbClr val="0B2545"/>
                </a:solidFill>
                <a:latin typeface="Aptos" pitchFamily="34" charset="0"/>
                <a:ea typeface="Aptos" pitchFamily="34" charset="-122"/>
                <a:cs typeface="Aptos" pitchFamily="34" charset="-120"/>
              </a:rPr>
              <a:t>separan</a:t>
            </a:r>
            <a:r>
              <a:rPr lang="en-US" sz="900" b="1" dirty="0">
                <a:solidFill>
                  <a:srgbClr val="0B2545"/>
                </a:solidFill>
                <a:latin typeface="Aptos" pitchFamily="34" charset="0"/>
                <a:ea typeface="Aptos" pitchFamily="34" charset="-122"/>
                <a:cs typeface="Aptos" pitchFamily="34" charset="-120"/>
              </a:rPr>
              <a:t> </a:t>
            </a:r>
            <a:r>
              <a:rPr lang="es-ES" sz="900" b="1" dirty="0">
                <a:solidFill>
                  <a:srgbClr val="0B2545"/>
                </a:solidFill>
                <a:latin typeface="Aptos" pitchFamily="34" charset="0"/>
                <a:ea typeface="Aptos" pitchFamily="34" charset="-122"/>
                <a:cs typeface="Aptos" pitchFamily="34" charset="-120"/>
              </a:rPr>
              <a:t>las capacidades críticas; Kafka desacopla los</a:t>
            </a:r>
            <a:r>
              <a:rPr lang="en-US" sz="900" b="1" dirty="0">
                <a:solidFill>
                  <a:srgbClr val="0B2545"/>
                </a:solidFill>
                <a:latin typeface="Aptos" pitchFamily="34" charset="0"/>
                <a:ea typeface="Aptos" pitchFamily="34" charset="-122"/>
                <a:cs typeface="Aptos" pitchFamily="34" charset="-120"/>
              </a:rPr>
              <a:t> eventos operativos.</a:t>
            </a:r>
            <a:endParaRPr lang="en-US" sz="900" dirty="0"/>
          </a:p>
        </p:txBody>
      </p:sp>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D32"/>
          </a:solidFill>
          <a:ln w="12700">
            <a:solidFill>
              <a:srgbClr val="2E7D32">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Por qué estos contenedores sí se alinean al negocio</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Cada contenedor responde a una responsabilidad clara y evita acoplar procesos críticos</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alineación</a:t>
            </a:r>
            <a:endParaRPr lang="en-US" sz="800" dirty="0"/>
          </a:p>
        </p:txBody>
      </p:sp>
      <p:sp>
        <p:nvSpPr>
          <p:cNvPr id="6" name="Shape 4"/>
          <p:cNvSpPr/>
          <p:nvPr/>
        </p:nvSpPr>
        <p:spPr>
          <a:xfrm>
            <a:off x="594360" y="1417320"/>
            <a:ext cx="3246120" cy="1298448"/>
          </a:xfrm>
          <a:prstGeom prst="roundRect">
            <a:avLst>
              <a:gd name="adj" fmla="val 5634"/>
            </a:avLst>
          </a:prstGeom>
          <a:solidFill>
            <a:srgbClr val="FFFFFF"/>
          </a:solidFill>
          <a:ln w="12700">
            <a:solidFill>
              <a:srgbClr val="D7E3F2"/>
            </a:solidFill>
            <a:prstDash val="solid"/>
          </a:ln>
        </p:spPr>
        <p:txBody>
          <a:bodyPr/>
          <a:lstStyle/>
          <a:p>
            <a:endParaRPr lang="en-US"/>
          </a:p>
        </p:txBody>
      </p:sp>
      <p:sp>
        <p:nvSpPr>
          <p:cNvPr id="7" name="Shape 5"/>
          <p:cNvSpPr/>
          <p:nvPr/>
        </p:nvSpPr>
        <p:spPr>
          <a:xfrm>
            <a:off x="594360" y="1417320"/>
            <a:ext cx="146304" cy="1298448"/>
          </a:xfrm>
          <a:prstGeom prst="rect">
            <a:avLst/>
          </a:prstGeom>
          <a:solidFill>
            <a:srgbClr val="1E4E8C"/>
          </a:solidFill>
          <a:ln w="12700">
            <a:solidFill>
              <a:srgbClr val="1E4E8C">
                <a:alpha val="0"/>
              </a:srgbClr>
            </a:solidFill>
            <a:prstDash val="solid"/>
          </a:ln>
        </p:spPr>
        <p:txBody>
          <a:bodyPr/>
          <a:lstStyle/>
          <a:p>
            <a:endParaRPr lang="en-US"/>
          </a:p>
        </p:txBody>
      </p:sp>
      <p:sp>
        <p:nvSpPr>
          <p:cNvPr id="8" name="Text 6"/>
          <p:cNvSpPr/>
          <p:nvPr/>
        </p:nvSpPr>
        <p:spPr>
          <a:xfrm>
            <a:off x="886968" y="1563624"/>
            <a:ext cx="2560320" cy="228600"/>
          </a:xfrm>
          <a:prstGeom prst="rect">
            <a:avLst/>
          </a:prstGeom>
          <a:noFill/>
          <a:ln/>
        </p:spPr>
        <p:txBody>
          <a:bodyPr wrap="square" lIns="0" tIns="0" rIns="0" bIns="0" rtlCol="0" anchor="ctr"/>
          <a:lstStyle/>
          <a:p>
            <a:pPr marL="0" indent="0">
              <a:buNone/>
            </a:pPr>
            <a:r>
              <a:rPr lang="en-US" sz="1350" b="1" dirty="0">
                <a:solidFill>
                  <a:srgbClr val="0B2545"/>
                </a:solidFill>
                <a:latin typeface="Aptos Display" pitchFamily="34" charset="0"/>
                <a:ea typeface="Aptos Display" pitchFamily="34" charset="-122"/>
                <a:cs typeface="Aptos Display" pitchFamily="34" charset="-120"/>
              </a:rPr>
              <a:t>Aplicación Web</a:t>
            </a:r>
            <a:endParaRPr lang="en-US" sz="1350" dirty="0"/>
          </a:p>
        </p:txBody>
      </p:sp>
      <p:sp>
        <p:nvSpPr>
          <p:cNvPr id="9" name="Text 7"/>
          <p:cNvSpPr/>
          <p:nvPr/>
        </p:nvSpPr>
        <p:spPr>
          <a:xfrm>
            <a:off x="886968" y="1856232"/>
            <a:ext cx="2560320" cy="182880"/>
          </a:xfrm>
          <a:prstGeom prst="rect">
            <a:avLst/>
          </a:prstGeom>
          <a:noFill/>
          <a:ln/>
        </p:spPr>
        <p:txBody>
          <a:bodyPr wrap="square" lIns="0" tIns="0" rIns="0" bIns="0" rtlCol="0" anchor="ctr"/>
          <a:lstStyle/>
          <a:p>
            <a:pPr marL="0" indent="0">
              <a:buNone/>
            </a:pPr>
            <a:r>
              <a:rPr lang="en-US" sz="1020" b="1" dirty="0">
                <a:solidFill>
                  <a:srgbClr val="1E4E8C"/>
                </a:solidFill>
                <a:latin typeface="Aptos" pitchFamily="34" charset="0"/>
                <a:ea typeface="Aptos" pitchFamily="34" charset="-122"/>
                <a:cs typeface="Aptos" pitchFamily="34" charset="-120"/>
              </a:rPr>
              <a:t>Administración y monitoreo</a:t>
            </a:r>
            <a:endParaRPr lang="en-US" sz="1020" dirty="0"/>
          </a:p>
        </p:txBody>
      </p:sp>
      <p:sp>
        <p:nvSpPr>
          <p:cNvPr id="10" name="Text 8"/>
          <p:cNvSpPr/>
          <p:nvPr/>
        </p:nvSpPr>
        <p:spPr>
          <a:xfrm>
            <a:off x="886968" y="2130552"/>
            <a:ext cx="2724912" cy="420624"/>
          </a:xfrm>
          <a:prstGeom prst="rect">
            <a:avLst/>
          </a:prstGeom>
          <a:noFill/>
          <a:ln/>
        </p:spPr>
        <p:txBody>
          <a:bodyPr wrap="square" lIns="0" tIns="0" rIns="0" bIns="0" rtlCol="0" anchor="ctr">
            <a:normAutofit/>
          </a:bodyPr>
          <a:lstStyle/>
          <a:p>
            <a:pPr marL="0" indent="0">
              <a:buNone/>
            </a:pPr>
            <a:r>
              <a:rPr lang="en-US" sz="970" dirty="0">
                <a:solidFill>
                  <a:srgbClr val="111827"/>
                </a:solidFill>
                <a:latin typeface="Aptos" pitchFamily="34" charset="0"/>
                <a:ea typeface="Aptos" pitchFamily="34" charset="-122"/>
                <a:cs typeface="Aptos" pitchFamily="34" charset="-120"/>
              </a:rPr>
              <a:t>Configura rutas, usuarios, vehículos, choferes y seguimiento operativo.</a:t>
            </a:r>
            <a:endParaRPr lang="en-US" sz="970" dirty="0"/>
          </a:p>
        </p:txBody>
      </p:sp>
      <p:sp>
        <p:nvSpPr>
          <p:cNvPr id="11" name="Shape 9"/>
          <p:cNvSpPr/>
          <p:nvPr/>
        </p:nvSpPr>
        <p:spPr>
          <a:xfrm>
            <a:off x="4343400" y="1417320"/>
            <a:ext cx="3246120" cy="1298448"/>
          </a:xfrm>
          <a:prstGeom prst="roundRect">
            <a:avLst>
              <a:gd name="adj" fmla="val 5634"/>
            </a:avLst>
          </a:prstGeom>
          <a:solidFill>
            <a:srgbClr val="FFFFFF"/>
          </a:solidFill>
          <a:ln w="12700">
            <a:solidFill>
              <a:srgbClr val="D7E3F2"/>
            </a:solidFill>
            <a:prstDash val="solid"/>
          </a:ln>
        </p:spPr>
        <p:txBody>
          <a:bodyPr/>
          <a:lstStyle/>
          <a:p>
            <a:endParaRPr lang="en-US"/>
          </a:p>
        </p:txBody>
      </p:sp>
      <p:sp>
        <p:nvSpPr>
          <p:cNvPr id="12" name="Shape 10"/>
          <p:cNvSpPr/>
          <p:nvPr/>
        </p:nvSpPr>
        <p:spPr>
          <a:xfrm>
            <a:off x="4343400" y="1417320"/>
            <a:ext cx="146304" cy="1298448"/>
          </a:xfrm>
          <a:prstGeom prst="rect">
            <a:avLst/>
          </a:prstGeom>
          <a:solidFill>
            <a:srgbClr val="46A6FF"/>
          </a:solidFill>
          <a:ln w="12700">
            <a:solidFill>
              <a:srgbClr val="46A6FF">
                <a:alpha val="0"/>
              </a:srgbClr>
            </a:solidFill>
            <a:prstDash val="solid"/>
          </a:ln>
        </p:spPr>
        <p:txBody>
          <a:bodyPr/>
          <a:lstStyle/>
          <a:p>
            <a:endParaRPr lang="en-US"/>
          </a:p>
        </p:txBody>
      </p:sp>
      <p:sp>
        <p:nvSpPr>
          <p:cNvPr id="13" name="Text 11"/>
          <p:cNvSpPr/>
          <p:nvPr/>
        </p:nvSpPr>
        <p:spPr>
          <a:xfrm>
            <a:off x="4636008" y="1563624"/>
            <a:ext cx="2560320" cy="228600"/>
          </a:xfrm>
          <a:prstGeom prst="rect">
            <a:avLst/>
          </a:prstGeom>
          <a:noFill/>
          <a:ln/>
        </p:spPr>
        <p:txBody>
          <a:bodyPr wrap="square" lIns="0" tIns="0" rIns="0" bIns="0" rtlCol="0" anchor="ctr"/>
          <a:lstStyle/>
          <a:p>
            <a:pPr marL="0" indent="0">
              <a:buNone/>
            </a:pPr>
            <a:r>
              <a:rPr lang="en-US" sz="1350" b="1" dirty="0">
                <a:solidFill>
                  <a:srgbClr val="0B2545"/>
                </a:solidFill>
                <a:latin typeface="Aptos Display" pitchFamily="34" charset="0"/>
                <a:ea typeface="Aptos Display" pitchFamily="34" charset="-122"/>
                <a:cs typeface="Aptos Display" pitchFamily="34" charset="-120"/>
              </a:rPr>
              <a:t>Aplicación Móvil</a:t>
            </a:r>
            <a:endParaRPr lang="en-US" sz="1350" dirty="0"/>
          </a:p>
        </p:txBody>
      </p:sp>
      <p:sp>
        <p:nvSpPr>
          <p:cNvPr id="14" name="Text 12"/>
          <p:cNvSpPr/>
          <p:nvPr/>
        </p:nvSpPr>
        <p:spPr>
          <a:xfrm>
            <a:off x="4636008" y="1856232"/>
            <a:ext cx="2560320" cy="182880"/>
          </a:xfrm>
          <a:prstGeom prst="rect">
            <a:avLst/>
          </a:prstGeom>
          <a:noFill/>
          <a:ln/>
        </p:spPr>
        <p:txBody>
          <a:bodyPr wrap="square" lIns="0" tIns="0" rIns="0" bIns="0" rtlCol="0" anchor="ctr"/>
          <a:lstStyle/>
          <a:p>
            <a:pPr marL="0" indent="0">
              <a:buNone/>
            </a:pPr>
            <a:r>
              <a:rPr lang="en-US" sz="1020" b="1" dirty="0">
                <a:solidFill>
                  <a:srgbClr val="46A6FF"/>
                </a:solidFill>
                <a:latin typeface="Aptos" pitchFamily="34" charset="0"/>
                <a:ea typeface="Aptos" pitchFamily="34" charset="-122"/>
                <a:cs typeface="Aptos" pitchFamily="34" charset="-120"/>
              </a:rPr>
              <a:t>Operación en campo</a:t>
            </a:r>
            <a:endParaRPr lang="en-US" sz="1020" dirty="0"/>
          </a:p>
        </p:txBody>
      </p:sp>
      <p:sp>
        <p:nvSpPr>
          <p:cNvPr id="15" name="Text 13"/>
          <p:cNvSpPr/>
          <p:nvPr/>
        </p:nvSpPr>
        <p:spPr>
          <a:xfrm>
            <a:off x="4636008" y="2130552"/>
            <a:ext cx="2724912" cy="420624"/>
          </a:xfrm>
          <a:prstGeom prst="rect">
            <a:avLst/>
          </a:prstGeom>
          <a:noFill/>
          <a:ln/>
        </p:spPr>
        <p:txBody>
          <a:bodyPr wrap="square" lIns="0" tIns="0" rIns="0" bIns="0" rtlCol="0" anchor="ctr">
            <a:normAutofit/>
          </a:bodyPr>
          <a:lstStyle/>
          <a:p>
            <a:pPr marL="0" indent="0">
              <a:buNone/>
            </a:pPr>
            <a:r>
              <a:rPr lang="en-US" sz="970" dirty="0">
                <a:solidFill>
                  <a:srgbClr val="111827"/>
                </a:solidFill>
                <a:latin typeface="Aptos" pitchFamily="34" charset="0"/>
                <a:ea typeface="Aptos" pitchFamily="34" charset="-122"/>
                <a:cs typeface="Aptos" pitchFamily="34" charset="-120"/>
              </a:rPr>
              <a:t>Permite abordajes, entregas, incidentes, consultas y uso con conectividad limitada.</a:t>
            </a:r>
            <a:endParaRPr lang="en-US" sz="970" dirty="0"/>
          </a:p>
        </p:txBody>
      </p:sp>
      <p:sp>
        <p:nvSpPr>
          <p:cNvPr id="16" name="Shape 14"/>
          <p:cNvSpPr/>
          <p:nvPr/>
        </p:nvSpPr>
        <p:spPr>
          <a:xfrm>
            <a:off x="8092440" y="1417320"/>
            <a:ext cx="3246120" cy="1298448"/>
          </a:xfrm>
          <a:prstGeom prst="roundRect">
            <a:avLst>
              <a:gd name="adj" fmla="val 5634"/>
            </a:avLst>
          </a:prstGeom>
          <a:solidFill>
            <a:srgbClr val="FFFFFF"/>
          </a:solidFill>
          <a:ln w="12700">
            <a:solidFill>
              <a:srgbClr val="D7E3F2"/>
            </a:solidFill>
            <a:prstDash val="solid"/>
          </a:ln>
        </p:spPr>
        <p:txBody>
          <a:bodyPr/>
          <a:lstStyle/>
          <a:p>
            <a:endParaRPr lang="en-US"/>
          </a:p>
        </p:txBody>
      </p:sp>
      <p:sp>
        <p:nvSpPr>
          <p:cNvPr id="17" name="Shape 15"/>
          <p:cNvSpPr/>
          <p:nvPr/>
        </p:nvSpPr>
        <p:spPr>
          <a:xfrm>
            <a:off x="8092440" y="1417320"/>
            <a:ext cx="146304" cy="1298448"/>
          </a:xfrm>
          <a:prstGeom prst="rect">
            <a:avLst/>
          </a:prstGeom>
          <a:solidFill>
            <a:srgbClr val="F2A900"/>
          </a:solidFill>
          <a:ln w="12700">
            <a:solidFill>
              <a:srgbClr val="F2A900">
                <a:alpha val="0"/>
              </a:srgbClr>
            </a:solidFill>
            <a:prstDash val="solid"/>
          </a:ln>
        </p:spPr>
        <p:txBody>
          <a:bodyPr/>
          <a:lstStyle/>
          <a:p>
            <a:endParaRPr lang="en-US"/>
          </a:p>
        </p:txBody>
      </p:sp>
      <p:sp>
        <p:nvSpPr>
          <p:cNvPr id="18" name="Text 16"/>
          <p:cNvSpPr/>
          <p:nvPr/>
        </p:nvSpPr>
        <p:spPr>
          <a:xfrm>
            <a:off x="8385048" y="1563624"/>
            <a:ext cx="2560320" cy="228600"/>
          </a:xfrm>
          <a:prstGeom prst="rect">
            <a:avLst/>
          </a:prstGeom>
          <a:noFill/>
          <a:ln/>
        </p:spPr>
        <p:txBody>
          <a:bodyPr wrap="square" lIns="0" tIns="0" rIns="0" bIns="0" rtlCol="0" anchor="ctr"/>
          <a:lstStyle/>
          <a:p>
            <a:pPr marL="0" indent="0">
              <a:buNone/>
            </a:pPr>
            <a:r>
              <a:rPr lang="en-US" sz="1350" b="1" dirty="0">
                <a:solidFill>
                  <a:srgbClr val="0B2545"/>
                </a:solidFill>
                <a:latin typeface="Aptos Display" pitchFamily="34" charset="0"/>
                <a:ea typeface="Aptos Display" pitchFamily="34" charset="-122"/>
                <a:cs typeface="Aptos Display" pitchFamily="34" charset="-120"/>
              </a:rPr>
              <a:t>API Gateway</a:t>
            </a:r>
            <a:endParaRPr lang="en-US" sz="1350" dirty="0"/>
          </a:p>
        </p:txBody>
      </p:sp>
      <p:sp>
        <p:nvSpPr>
          <p:cNvPr id="19" name="Text 17"/>
          <p:cNvSpPr/>
          <p:nvPr/>
        </p:nvSpPr>
        <p:spPr>
          <a:xfrm>
            <a:off x="8385048" y="1856232"/>
            <a:ext cx="2560320" cy="182880"/>
          </a:xfrm>
          <a:prstGeom prst="rect">
            <a:avLst/>
          </a:prstGeom>
          <a:noFill/>
          <a:ln/>
        </p:spPr>
        <p:txBody>
          <a:bodyPr wrap="square" lIns="0" tIns="0" rIns="0" bIns="0" rtlCol="0" anchor="ctr"/>
          <a:lstStyle/>
          <a:p>
            <a:pPr marL="0" indent="0">
              <a:buNone/>
            </a:pPr>
            <a:r>
              <a:rPr lang="en-US" sz="1020" b="1" dirty="0">
                <a:solidFill>
                  <a:srgbClr val="F2A900"/>
                </a:solidFill>
                <a:latin typeface="Aptos" pitchFamily="34" charset="0"/>
                <a:ea typeface="Aptos" pitchFamily="34" charset="-122"/>
                <a:cs typeface="Aptos" pitchFamily="34" charset="-120"/>
              </a:rPr>
              <a:t>Entrada segura</a:t>
            </a:r>
            <a:endParaRPr lang="en-US" sz="1020" dirty="0"/>
          </a:p>
        </p:txBody>
      </p:sp>
      <p:sp>
        <p:nvSpPr>
          <p:cNvPr id="20" name="Text 18"/>
          <p:cNvSpPr/>
          <p:nvPr/>
        </p:nvSpPr>
        <p:spPr>
          <a:xfrm>
            <a:off x="8385048" y="2130552"/>
            <a:ext cx="2724912" cy="420624"/>
          </a:xfrm>
          <a:prstGeom prst="rect">
            <a:avLst/>
          </a:prstGeom>
          <a:noFill/>
          <a:ln/>
        </p:spPr>
        <p:txBody>
          <a:bodyPr wrap="square" lIns="0" tIns="0" rIns="0" bIns="0" rtlCol="0" anchor="ctr">
            <a:normAutofit/>
          </a:bodyPr>
          <a:lstStyle/>
          <a:p>
            <a:pPr marL="0" indent="0">
              <a:buNone/>
            </a:pPr>
            <a:r>
              <a:rPr lang="en-US" sz="970" dirty="0">
                <a:solidFill>
                  <a:srgbClr val="111827"/>
                </a:solidFill>
                <a:latin typeface="Aptos" pitchFamily="34" charset="0"/>
                <a:ea typeface="Aptos" pitchFamily="34" charset="-122"/>
                <a:cs typeface="Aptos" pitchFamily="34" charset="-120"/>
              </a:rPr>
              <a:t>Autenticación, autorización, control por operador, validación y enrutamiento.</a:t>
            </a:r>
            <a:endParaRPr lang="en-US" sz="970" dirty="0"/>
          </a:p>
        </p:txBody>
      </p:sp>
      <p:sp>
        <p:nvSpPr>
          <p:cNvPr id="21" name="Shape 19"/>
          <p:cNvSpPr/>
          <p:nvPr/>
        </p:nvSpPr>
        <p:spPr>
          <a:xfrm>
            <a:off x="594360" y="3767328"/>
            <a:ext cx="3246120" cy="1298448"/>
          </a:xfrm>
          <a:prstGeom prst="roundRect">
            <a:avLst>
              <a:gd name="adj" fmla="val 5634"/>
            </a:avLst>
          </a:prstGeom>
          <a:solidFill>
            <a:srgbClr val="FFFFFF"/>
          </a:solidFill>
          <a:ln w="12700">
            <a:solidFill>
              <a:srgbClr val="D7E3F2"/>
            </a:solidFill>
            <a:prstDash val="solid"/>
          </a:ln>
        </p:spPr>
        <p:txBody>
          <a:bodyPr/>
          <a:lstStyle/>
          <a:p>
            <a:endParaRPr lang="en-US"/>
          </a:p>
        </p:txBody>
      </p:sp>
      <p:sp>
        <p:nvSpPr>
          <p:cNvPr id="22" name="Shape 20"/>
          <p:cNvSpPr/>
          <p:nvPr/>
        </p:nvSpPr>
        <p:spPr>
          <a:xfrm>
            <a:off x="594360" y="3767328"/>
            <a:ext cx="146304" cy="1298448"/>
          </a:xfrm>
          <a:prstGeom prst="rect">
            <a:avLst/>
          </a:prstGeom>
          <a:solidFill>
            <a:srgbClr val="2E7D32"/>
          </a:solidFill>
          <a:ln w="12700">
            <a:solidFill>
              <a:srgbClr val="2E7D32">
                <a:alpha val="0"/>
              </a:srgbClr>
            </a:solidFill>
            <a:prstDash val="solid"/>
          </a:ln>
        </p:spPr>
        <p:txBody>
          <a:bodyPr/>
          <a:lstStyle/>
          <a:p>
            <a:endParaRPr lang="en-US"/>
          </a:p>
        </p:txBody>
      </p:sp>
      <p:sp>
        <p:nvSpPr>
          <p:cNvPr id="23" name="Text 21"/>
          <p:cNvSpPr/>
          <p:nvPr/>
        </p:nvSpPr>
        <p:spPr>
          <a:xfrm>
            <a:off x="886968" y="3913632"/>
            <a:ext cx="2560320" cy="228600"/>
          </a:xfrm>
          <a:prstGeom prst="rect">
            <a:avLst/>
          </a:prstGeom>
          <a:noFill/>
          <a:ln/>
        </p:spPr>
        <p:txBody>
          <a:bodyPr wrap="square" lIns="0" tIns="0" rIns="0" bIns="0" rtlCol="0" anchor="ctr"/>
          <a:lstStyle/>
          <a:p>
            <a:pPr marL="0" indent="0">
              <a:buNone/>
            </a:pPr>
            <a:r>
              <a:rPr lang="en-US" sz="1350" b="1" dirty="0">
                <a:solidFill>
                  <a:srgbClr val="0B2545"/>
                </a:solidFill>
                <a:latin typeface="Aptos Display" pitchFamily="34" charset="0"/>
                <a:ea typeface="Aptos Display" pitchFamily="34" charset="-122"/>
                <a:cs typeface="Aptos Display" pitchFamily="34" charset="-120"/>
              </a:rPr>
              <a:t>Servicio Principal</a:t>
            </a:r>
            <a:endParaRPr lang="en-US" sz="1350" dirty="0"/>
          </a:p>
        </p:txBody>
      </p:sp>
      <p:sp>
        <p:nvSpPr>
          <p:cNvPr id="24" name="Text 22"/>
          <p:cNvSpPr/>
          <p:nvPr/>
        </p:nvSpPr>
        <p:spPr>
          <a:xfrm>
            <a:off x="886968" y="4206240"/>
            <a:ext cx="2560320" cy="182880"/>
          </a:xfrm>
          <a:prstGeom prst="rect">
            <a:avLst/>
          </a:prstGeom>
          <a:noFill/>
          <a:ln/>
        </p:spPr>
        <p:txBody>
          <a:bodyPr wrap="square" lIns="0" tIns="0" rIns="0" bIns="0" rtlCol="0" anchor="ctr"/>
          <a:lstStyle/>
          <a:p>
            <a:pPr marL="0" indent="0">
              <a:buNone/>
            </a:pPr>
            <a:r>
              <a:rPr lang="en-US" sz="1020" b="1" dirty="0">
                <a:solidFill>
                  <a:srgbClr val="2E7D32"/>
                </a:solidFill>
                <a:latin typeface="Aptos" pitchFamily="34" charset="0"/>
                <a:ea typeface="Aptos" pitchFamily="34" charset="-122"/>
                <a:cs typeface="Aptos" pitchFamily="34" charset="-120"/>
              </a:rPr>
              <a:t>Datos maestros</a:t>
            </a:r>
            <a:endParaRPr lang="en-US" sz="1020" dirty="0"/>
          </a:p>
        </p:txBody>
      </p:sp>
      <p:sp>
        <p:nvSpPr>
          <p:cNvPr id="25" name="Text 23"/>
          <p:cNvSpPr/>
          <p:nvPr/>
        </p:nvSpPr>
        <p:spPr>
          <a:xfrm>
            <a:off x="886968" y="4480560"/>
            <a:ext cx="2724912" cy="420624"/>
          </a:xfrm>
          <a:prstGeom prst="rect">
            <a:avLst/>
          </a:prstGeom>
          <a:noFill/>
          <a:ln/>
        </p:spPr>
        <p:txBody>
          <a:bodyPr wrap="square" lIns="0" tIns="0" rIns="0" bIns="0" rtlCol="0" anchor="ctr">
            <a:normAutofit/>
          </a:bodyPr>
          <a:lstStyle/>
          <a:p>
            <a:pPr marL="0" indent="0">
              <a:buNone/>
            </a:pPr>
            <a:r>
              <a:rPr lang="en-US" sz="970" dirty="0">
                <a:solidFill>
                  <a:srgbClr val="111827"/>
                </a:solidFill>
                <a:latin typeface="Aptos" pitchFamily="34" charset="0"/>
                <a:ea typeface="Aptos" pitchFamily="34" charset="-122"/>
                <a:cs typeface="Aptos" pitchFamily="34" charset="-120"/>
              </a:rPr>
              <a:t>Operadores, usuarios, roles, pasajeros, perfiles médicos y configuración.</a:t>
            </a:r>
            <a:endParaRPr lang="en-US" sz="970" dirty="0"/>
          </a:p>
        </p:txBody>
      </p:sp>
      <p:sp>
        <p:nvSpPr>
          <p:cNvPr id="26" name="Shape 24"/>
          <p:cNvSpPr/>
          <p:nvPr/>
        </p:nvSpPr>
        <p:spPr>
          <a:xfrm>
            <a:off x="4343400" y="3767328"/>
            <a:ext cx="3246120" cy="1298448"/>
          </a:xfrm>
          <a:prstGeom prst="roundRect">
            <a:avLst>
              <a:gd name="adj" fmla="val 5634"/>
            </a:avLst>
          </a:prstGeom>
          <a:solidFill>
            <a:srgbClr val="FFFFFF"/>
          </a:solidFill>
          <a:ln w="12700">
            <a:solidFill>
              <a:srgbClr val="D7E3F2"/>
            </a:solidFill>
            <a:prstDash val="solid"/>
          </a:ln>
        </p:spPr>
        <p:txBody>
          <a:bodyPr/>
          <a:lstStyle/>
          <a:p>
            <a:endParaRPr lang="en-US"/>
          </a:p>
        </p:txBody>
      </p:sp>
      <p:sp>
        <p:nvSpPr>
          <p:cNvPr id="27" name="Shape 25"/>
          <p:cNvSpPr/>
          <p:nvPr/>
        </p:nvSpPr>
        <p:spPr>
          <a:xfrm>
            <a:off x="4343400" y="3767328"/>
            <a:ext cx="146304" cy="1298448"/>
          </a:xfrm>
          <a:prstGeom prst="rect">
            <a:avLst/>
          </a:prstGeom>
          <a:solidFill>
            <a:srgbClr val="2E75B5"/>
          </a:solidFill>
          <a:ln w="12700">
            <a:solidFill>
              <a:srgbClr val="2E75B5">
                <a:alpha val="0"/>
              </a:srgbClr>
            </a:solidFill>
            <a:prstDash val="solid"/>
          </a:ln>
        </p:spPr>
        <p:txBody>
          <a:bodyPr/>
          <a:lstStyle/>
          <a:p>
            <a:endParaRPr lang="en-US"/>
          </a:p>
        </p:txBody>
      </p:sp>
      <p:sp>
        <p:nvSpPr>
          <p:cNvPr id="28" name="Text 26"/>
          <p:cNvSpPr/>
          <p:nvPr/>
        </p:nvSpPr>
        <p:spPr>
          <a:xfrm>
            <a:off x="4636008" y="3913632"/>
            <a:ext cx="2560320" cy="228600"/>
          </a:xfrm>
          <a:prstGeom prst="rect">
            <a:avLst/>
          </a:prstGeom>
          <a:noFill/>
          <a:ln/>
        </p:spPr>
        <p:txBody>
          <a:bodyPr wrap="square" lIns="0" tIns="0" rIns="0" bIns="0" rtlCol="0" anchor="ctr"/>
          <a:lstStyle/>
          <a:p>
            <a:pPr marL="0" indent="0">
              <a:buNone/>
            </a:pPr>
            <a:r>
              <a:rPr lang="en-US" sz="1350" b="1" dirty="0">
                <a:solidFill>
                  <a:srgbClr val="0B2545"/>
                </a:solidFill>
                <a:latin typeface="Aptos Display" pitchFamily="34" charset="0"/>
                <a:ea typeface="Aptos Display" pitchFamily="34" charset="-122"/>
                <a:cs typeface="Aptos Display" pitchFamily="34" charset="-120"/>
              </a:rPr>
              <a:t>Servicio Operaciones</a:t>
            </a:r>
            <a:endParaRPr lang="en-US" sz="1350" dirty="0"/>
          </a:p>
        </p:txBody>
      </p:sp>
      <p:sp>
        <p:nvSpPr>
          <p:cNvPr id="29" name="Text 27"/>
          <p:cNvSpPr/>
          <p:nvPr/>
        </p:nvSpPr>
        <p:spPr>
          <a:xfrm>
            <a:off x="4636008" y="4206240"/>
            <a:ext cx="2560320" cy="182880"/>
          </a:xfrm>
          <a:prstGeom prst="rect">
            <a:avLst/>
          </a:prstGeom>
          <a:noFill/>
          <a:ln/>
        </p:spPr>
        <p:txBody>
          <a:bodyPr wrap="square" lIns="0" tIns="0" rIns="0" bIns="0" rtlCol="0" anchor="ctr"/>
          <a:lstStyle/>
          <a:p>
            <a:pPr marL="0" indent="0">
              <a:buNone/>
            </a:pPr>
            <a:r>
              <a:rPr lang="en-US" sz="1020" b="1" dirty="0">
                <a:solidFill>
                  <a:srgbClr val="2E75B5"/>
                </a:solidFill>
                <a:latin typeface="Aptos" pitchFamily="34" charset="0"/>
                <a:ea typeface="Aptos" pitchFamily="34" charset="-122"/>
                <a:cs typeface="Aptos" pitchFamily="34" charset="-120"/>
              </a:rPr>
              <a:t>Ruta activa</a:t>
            </a:r>
            <a:endParaRPr lang="en-US" sz="1020" dirty="0"/>
          </a:p>
        </p:txBody>
      </p:sp>
      <p:sp>
        <p:nvSpPr>
          <p:cNvPr id="30" name="Text 28"/>
          <p:cNvSpPr/>
          <p:nvPr/>
        </p:nvSpPr>
        <p:spPr>
          <a:xfrm>
            <a:off x="4636008" y="4480560"/>
            <a:ext cx="2724912" cy="420624"/>
          </a:xfrm>
          <a:prstGeom prst="rect">
            <a:avLst/>
          </a:prstGeom>
          <a:noFill/>
          <a:ln/>
        </p:spPr>
        <p:txBody>
          <a:bodyPr wrap="square" lIns="0" tIns="0" rIns="0" bIns="0" rtlCol="0" anchor="ctr">
            <a:normAutofit/>
          </a:bodyPr>
          <a:lstStyle/>
          <a:p>
            <a:pPr marL="0" indent="0">
              <a:buNone/>
            </a:pPr>
            <a:r>
              <a:rPr lang="en-US" sz="970" dirty="0">
                <a:solidFill>
                  <a:srgbClr val="111827"/>
                </a:solidFill>
                <a:latin typeface="Aptos" pitchFamily="34" charset="0"/>
                <a:ea typeface="Aptos" pitchFamily="34" charset="-122"/>
                <a:cs typeface="Aptos" pitchFamily="34" charset="-120"/>
              </a:rPr>
              <a:t>Rutas, GPS, abordajes, entregas, solicitudes e incidentes.</a:t>
            </a:r>
            <a:endParaRPr lang="en-US" sz="970" dirty="0"/>
          </a:p>
        </p:txBody>
      </p:sp>
      <p:sp>
        <p:nvSpPr>
          <p:cNvPr id="31" name="Shape 29"/>
          <p:cNvSpPr/>
          <p:nvPr/>
        </p:nvSpPr>
        <p:spPr>
          <a:xfrm>
            <a:off x="8092440" y="3767328"/>
            <a:ext cx="3246120" cy="1298448"/>
          </a:xfrm>
          <a:prstGeom prst="roundRect">
            <a:avLst>
              <a:gd name="adj" fmla="val 5634"/>
            </a:avLst>
          </a:prstGeom>
          <a:solidFill>
            <a:srgbClr val="FFFFFF"/>
          </a:solidFill>
          <a:ln w="12700">
            <a:solidFill>
              <a:srgbClr val="D7E3F2"/>
            </a:solidFill>
            <a:prstDash val="solid"/>
          </a:ln>
        </p:spPr>
        <p:txBody>
          <a:bodyPr/>
          <a:lstStyle/>
          <a:p>
            <a:endParaRPr lang="en-US"/>
          </a:p>
        </p:txBody>
      </p:sp>
      <p:sp>
        <p:nvSpPr>
          <p:cNvPr id="32" name="Shape 30"/>
          <p:cNvSpPr/>
          <p:nvPr/>
        </p:nvSpPr>
        <p:spPr>
          <a:xfrm>
            <a:off x="8092440" y="3767328"/>
            <a:ext cx="146304" cy="1298448"/>
          </a:xfrm>
          <a:prstGeom prst="rect">
            <a:avLst/>
          </a:prstGeom>
          <a:solidFill>
            <a:srgbClr val="6E4FA3"/>
          </a:solidFill>
          <a:ln w="12700">
            <a:solidFill>
              <a:srgbClr val="6E4FA3">
                <a:alpha val="0"/>
              </a:srgbClr>
            </a:solidFill>
            <a:prstDash val="solid"/>
          </a:ln>
        </p:spPr>
        <p:txBody>
          <a:bodyPr/>
          <a:lstStyle/>
          <a:p>
            <a:endParaRPr lang="en-US"/>
          </a:p>
        </p:txBody>
      </p:sp>
      <p:sp>
        <p:nvSpPr>
          <p:cNvPr id="33" name="Text 31"/>
          <p:cNvSpPr/>
          <p:nvPr/>
        </p:nvSpPr>
        <p:spPr>
          <a:xfrm>
            <a:off x="8385048" y="3913632"/>
            <a:ext cx="2560320" cy="228600"/>
          </a:xfrm>
          <a:prstGeom prst="rect">
            <a:avLst/>
          </a:prstGeom>
          <a:noFill/>
          <a:ln/>
        </p:spPr>
        <p:txBody>
          <a:bodyPr wrap="square" lIns="0" tIns="0" rIns="0" bIns="0" rtlCol="0" anchor="ctr"/>
          <a:lstStyle/>
          <a:p>
            <a:pPr marL="0" indent="0">
              <a:buNone/>
            </a:pPr>
            <a:r>
              <a:rPr lang="en-US" sz="1350" b="1" dirty="0">
                <a:solidFill>
                  <a:srgbClr val="0B2545"/>
                </a:solidFill>
                <a:latin typeface="Aptos Display" pitchFamily="34" charset="0"/>
                <a:ea typeface="Aptos Display" pitchFamily="34" charset="-122"/>
                <a:cs typeface="Aptos Display" pitchFamily="34" charset="-120"/>
              </a:rPr>
              <a:t>Servicio Interacción</a:t>
            </a:r>
            <a:endParaRPr lang="en-US" sz="1350" dirty="0"/>
          </a:p>
        </p:txBody>
      </p:sp>
      <p:sp>
        <p:nvSpPr>
          <p:cNvPr id="34" name="Text 32"/>
          <p:cNvSpPr/>
          <p:nvPr/>
        </p:nvSpPr>
        <p:spPr>
          <a:xfrm>
            <a:off x="8385048" y="4206240"/>
            <a:ext cx="2560320" cy="182880"/>
          </a:xfrm>
          <a:prstGeom prst="rect">
            <a:avLst/>
          </a:prstGeom>
          <a:noFill/>
          <a:ln/>
        </p:spPr>
        <p:txBody>
          <a:bodyPr wrap="square" lIns="0" tIns="0" rIns="0" bIns="0" rtlCol="0" anchor="ctr"/>
          <a:lstStyle/>
          <a:p>
            <a:pPr marL="0" indent="0">
              <a:buNone/>
            </a:pPr>
            <a:r>
              <a:rPr lang="en-US" sz="1020" b="1" dirty="0">
                <a:solidFill>
                  <a:srgbClr val="6E4FA3"/>
                </a:solidFill>
                <a:latin typeface="Aptos" pitchFamily="34" charset="0"/>
                <a:ea typeface="Aptos" pitchFamily="34" charset="-122"/>
                <a:cs typeface="Aptos" pitchFamily="34" charset="-120"/>
              </a:rPr>
              <a:t>Comunicación</a:t>
            </a:r>
            <a:endParaRPr lang="en-US" sz="1020" dirty="0"/>
          </a:p>
        </p:txBody>
      </p:sp>
      <p:sp>
        <p:nvSpPr>
          <p:cNvPr id="35" name="Text 33"/>
          <p:cNvSpPr/>
          <p:nvPr/>
        </p:nvSpPr>
        <p:spPr>
          <a:xfrm>
            <a:off x="8385048" y="4480560"/>
            <a:ext cx="2724912" cy="420624"/>
          </a:xfrm>
          <a:prstGeom prst="rect">
            <a:avLst/>
          </a:prstGeom>
          <a:noFill/>
          <a:ln/>
        </p:spPr>
        <p:txBody>
          <a:bodyPr wrap="square" lIns="0" tIns="0" rIns="0" bIns="0" rtlCol="0" anchor="ctr">
            <a:normAutofit/>
          </a:bodyPr>
          <a:lstStyle/>
          <a:p>
            <a:pPr marL="0" indent="0">
              <a:buNone/>
            </a:pPr>
            <a:r>
              <a:rPr lang="en-US" sz="970" dirty="0">
                <a:solidFill>
                  <a:srgbClr val="111827"/>
                </a:solidFill>
                <a:latin typeface="Aptos" pitchFamily="34" charset="0"/>
                <a:ea typeface="Aptos" pitchFamily="34" charset="-122"/>
                <a:cs typeface="Aptos" pitchFamily="34" charset="-120"/>
              </a:rPr>
              <a:t>Orquesta notificaciones y reduce dependencia del flujo operacional principal.</a:t>
            </a:r>
            <a:endParaRPr lang="en-US" sz="970" dirty="0"/>
          </a:p>
        </p:txBody>
      </p:sp>
      <p:sp>
        <p:nvSpPr>
          <p:cNvPr id="36" name="Text 34"/>
          <p:cNvSpPr/>
          <p:nvPr/>
        </p:nvSpPr>
        <p:spPr>
          <a:xfrm>
            <a:off x="1508760" y="5669280"/>
            <a:ext cx="9144000" cy="347472"/>
          </a:xfrm>
          <a:prstGeom prst="rect">
            <a:avLst/>
          </a:prstGeom>
          <a:noFill/>
          <a:ln/>
        </p:spPr>
        <p:txBody>
          <a:bodyPr wrap="square" lIns="0" tIns="0" rIns="0" bIns="0" rtlCol="0" anchor="ctr"/>
          <a:lstStyle/>
          <a:p>
            <a:pPr marL="0" indent="0" algn="ctr">
              <a:buNone/>
            </a:pPr>
            <a:r>
              <a:rPr lang="en-US" sz="1600" b="1" dirty="0">
                <a:solidFill>
                  <a:srgbClr val="1E4E8C"/>
                </a:solidFill>
                <a:latin typeface="Aptos Display" pitchFamily="34" charset="0"/>
                <a:ea typeface="Aptos Display" pitchFamily="34" charset="-122"/>
                <a:cs typeface="Aptos Display" pitchFamily="34" charset="-120"/>
              </a:rPr>
              <a:t>Criterio de diseño: separar lo que cambia a ritmos distintos y lo que escala por patrones distintos.</a:t>
            </a:r>
            <a:endParaRPr lang="en-US" sz="1600" dirty="0"/>
          </a:p>
        </p:txBody>
      </p:sp>
      <p:sp>
        <p:nvSpPr>
          <p:cNvPr id="37"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2A900"/>
          </a:solidFill>
          <a:ln w="12700">
            <a:solidFill>
              <a:srgbClr val="F2A900">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Respuesta a la preocupación de disponibilidad</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La arquitectura reduce el impacto de fallos y protege la continuidad de rutas activas</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disponibilidad</a:t>
            </a:r>
            <a:endParaRPr lang="en-US" sz="800" dirty="0"/>
          </a:p>
        </p:txBody>
      </p:sp>
      <p:sp>
        <p:nvSpPr>
          <p:cNvPr id="6" name="Shape 4"/>
          <p:cNvSpPr/>
          <p:nvPr/>
        </p:nvSpPr>
        <p:spPr>
          <a:xfrm>
            <a:off x="1417320" y="2286000"/>
            <a:ext cx="1234440" cy="0"/>
          </a:xfrm>
          <a:prstGeom prst="line">
            <a:avLst/>
          </a:prstGeom>
          <a:noFill/>
          <a:ln w="16510">
            <a:solidFill>
              <a:srgbClr val="A3B4C7"/>
            </a:solidFill>
            <a:prstDash val="solid"/>
            <a:headEnd type="none"/>
            <a:tailEnd type="triangle"/>
          </a:ln>
        </p:spPr>
        <p:txBody>
          <a:bodyPr/>
          <a:lstStyle/>
          <a:p>
            <a:endParaRPr lang="en-US"/>
          </a:p>
        </p:txBody>
      </p:sp>
      <p:sp>
        <p:nvSpPr>
          <p:cNvPr id="7" name="Shape 5"/>
          <p:cNvSpPr/>
          <p:nvPr/>
        </p:nvSpPr>
        <p:spPr>
          <a:xfrm>
            <a:off x="3611880" y="2286000"/>
            <a:ext cx="1234440" cy="0"/>
          </a:xfrm>
          <a:prstGeom prst="line">
            <a:avLst/>
          </a:prstGeom>
          <a:noFill/>
          <a:ln w="16510">
            <a:solidFill>
              <a:srgbClr val="A3B4C7"/>
            </a:solidFill>
            <a:prstDash val="solid"/>
            <a:headEnd type="none"/>
            <a:tailEnd type="triangle"/>
          </a:ln>
        </p:spPr>
        <p:txBody>
          <a:bodyPr/>
          <a:lstStyle/>
          <a:p>
            <a:endParaRPr lang="en-US"/>
          </a:p>
        </p:txBody>
      </p:sp>
      <p:sp>
        <p:nvSpPr>
          <p:cNvPr id="8" name="Shape 6"/>
          <p:cNvSpPr/>
          <p:nvPr/>
        </p:nvSpPr>
        <p:spPr>
          <a:xfrm>
            <a:off x="5806440" y="2286000"/>
            <a:ext cx="1234440" cy="0"/>
          </a:xfrm>
          <a:prstGeom prst="line">
            <a:avLst/>
          </a:prstGeom>
          <a:noFill/>
          <a:ln w="16510">
            <a:solidFill>
              <a:srgbClr val="A3B4C7"/>
            </a:solidFill>
            <a:prstDash val="solid"/>
            <a:headEnd type="none"/>
            <a:tailEnd type="triangle"/>
          </a:ln>
        </p:spPr>
        <p:txBody>
          <a:bodyPr/>
          <a:lstStyle/>
          <a:p>
            <a:endParaRPr lang="en-US"/>
          </a:p>
        </p:txBody>
      </p:sp>
      <p:sp>
        <p:nvSpPr>
          <p:cNvPr id="9" name="Shape 7"/>
          <p:cNvSpPr/>
          <p:nvPr/>
        </p:nvSpPr>
        <p:spPr>
          <a:xfrm>
            <a:off x="8001000" y="2286000"/>
            <a:ext cx="1234440" cy="0"/>
          </a:xfrm>
          <a:prstGeom prst="line">
            <a:avLst/>
          </a:prstGeom>
          <a:noFill/>
          <a:ln w="16510">
            <a:solidFill>
              <a:srgbClr val="A3B4C7"/>
            </a:solidFill>
            <a:prstDash val="solid"/>
            <a:headEnd type="none"/>
            <a:tailEnd type="triangle"/>
          </a:ln>
        </p:spPr>
        <p:txBody>
          <a:bodyPr/>
          <a:lstStyle/>
          <a:p>
            <a:endParaRPr lang="en-US"/>
          </a:p>
        </p:txBody>
      </p:sp>
      <p:sp>
        <p:nvSpPr>
          <p:cNvPr id="10" name="Text 8"/>
          <p:cNvSpPr/>
          <p:nvPr/>
        </p:nvSpPr>
        <p:spPr>
          <a:xfrm>
            <a:off x="594360" y="1874520"/>
            <a:ext cx="1417320" cy="384048"/>
          </a:xfrm>
          <a:prstGeom prst="roundRect">
            <a:avLst>
              <a:gd name="adj" fmla="val 14286"/>
            </a:avLst>
          </a:prstGeom>
          <a:solidFill>
            <a:srgbClr val="1E4E8C"/>
          </a:solidFill>
          <a:ln>
            <a:solidFill>
              <a:srgbClr val="1E4E8C"/>
            </a:solidFill>
          </a:ln>
        </p:spPr>
        <p:txBody>
          <a:bodyPr wrap="square" lIns="381" tIns="381" rIns="381" bIns="381" rtlCol="0" anchor="ctr"/>
          <a:lstStyle/>
          <a:p>
            <a:pPr marL="0" indent="0" algn="ctr">
              <a:buNone/>
            </a:pPr>
            <a:r>
              <a:rPr lang="en-US" sz="1400" b="1" dirty="0">
                <a:solidFill>
                  <a:srgbClr val="FFFFFF"/>
                </a:solidFill>
                <a:latin typeface="Aptos Display" pitchFamily="34" charset="0"/>
                <a:ea typeface="Aptos Display" pitchFamily="34" charset="-122"/>
                <a:cs typeface="Aptos Display" pitchFamily="34" charset="-120"/>
              </a:rPr>
              <a:t>Apps</a:t>
            </a:r>
            <a:endParaRPr lang="en-US" sz="1400" dirty="0"/>
          </a:p>
        </p:txBody>
      </p:sp>
      <p:sp>
        <p:nvSpPr>
          <p:cNvPr id="11" name="Text 9"/>
          <p:cNvSpPr/>
          <p:nvPr/>
        </p:nvSpPr>
        <p:spPr>
          <a:xfrm>
            <a:off x="548640" y="2386584"/>
            <a:ext cx="1508760" cy="475488"/>
          </a:xfrm>
          <a:prstGeom prst="rect">
            <a:avLst/>
          </a:prstGeom>
          <a:noFill/>
          <a:ln/>
        </p:spPr>
        <p:txBody>
          <a:bodyPr wrap="square" lIns="0" tIns="0" rIns="0" bIns="0" rtlCol="0" anchor="ctr">
            <a:normAutofit/>
          </a:bodyPr>
          <a:lstStyle/>
          <a:p>
            <a:pPr marL="0" indent="0" algn="ctr">
              <a:buNone/>
            </a:pPr>
            <a:r>
              <a:rPr lang="en-US" sz="960" dirty="0">
                <a:solidFill>
                  <a:srgbClr val="111827"/>
                </a:solidFill>
                <a:latin typeface="Aptos" pitchFamily="34" charset="0"/>
                <a:ea typeface="Aptos" pitchFamily="34" charset="-122"/>
                <a:cs typeface="Aptos" pitchFamily="34" charset="-120"/>
              </a:rPr>
              <a:t>Web/Mobile</a:t>
            </a:r>
            <a:endParaRPr lang="en-US" sz="960" dirty="0"/>
          </a:p>
          <a:p>
            <a:pPr marL="0" indent="0" algn="ctr">
              <a:buNone/>
            </a:pPr>
            <a:r>
              <a:rPr lang="en-US" sz="960" dirty="0">
                <a:solidFill>
                  <a:srgbClr val="111827"/>
                </a:solidFill>
                <a:latin typeface="Aptos" pitchFamily="34" charset="0"/>
                <a:ea typeface="Aptos" pitchFamily="34" charset="-122"/>
                <a:cs typeface="Aptos" pitchFamily="34" charset="-120"/>
              </a:rPr>
              <a:t>acceso de usuarios</a:t>
            </a:r>
            <a:endParaRPr lang="en-US" sz="960" dirty="0"/>
          </a:p>
        </p:txBody>
      </p:sp>
      <p:sp>
        <p:nvSpPr>
          <p:cNvPr id="12" name="Text 10"/>
          <p:cNvSpPr/>
          <p:nvPr/>
        </p:nvSpPr>
        <p:spPr>
          <a:xfrm>
            <a:off x="2788920" y="1874520"/>
            <a:ext cx="1417320" cy="384048"/>
          </a:xfrm>
          <a:prstGeom prst="roundRect">
            <a:avLst>
              <a:gd name="adj" fmla="val 14286"/>
            </a:avLst>
          </a:prstGeom>
          <a:solidFill>
            <a:srgbClr val="F2A900"/>
          </a:solidFill>
          <a:ln>
            <a:solidFill>
              <a:srgbClr val="F2A900"/>
            </a:solidFill>
          </a:ln>
        </p:spPr>
        <p:txBody>
          <a:bodyPr wrap="square" lIns="381" tIns="381" rIns="381" bIns="381" rtlCol="0" anchor="ctr"/>
          <a:lstStyle/>
          <a:p>
            <a:pPr marL="0" indent="0" algn="ctr">
              <a:buNone/>
            </a:pPr>
            <a:r>
              <a:rPr lang="en-US" sz="1400" b="1" dirty="0">
                <a:solidFill>
                  <a:srgbClr val="FFFFFF"/>
                </a:solidFill>
                <a:latin typeface="Aptos Display" pitchFamily="34" charset="0"/>
                <a:ea typeface="Aptos Display" pitchFamily="34" charset="-122"/>
                <a:cs typeface="Aptos Display" pitchFamily="34" charset="-120"/>
              </a:rPr>
              <a:t>Gateway</a:t>
            </a:r>
            <a:endParaRPr lang="en-US" sz="1400" dirty="0"/>
          </a:p>
        </p:txBody>
      </p:sp>
      <p:sp>
        <p:nvSpPr>
          <p:cNvPr id="13" name="Text 11"/>
          <p:cNvSpPr/>
          <p:nvPr/>
        </p:nvSpPr>
        <p:spPr>
          <a:xfrm>
            <a:off x="2743200" y="2386584"/>
            <a:ext cx="1508760" cy="475488"/>
          </a:xfrm>
          <a:prstGeom prst="rect">
            <a:avLst/>
          </a:prstGeom>
          <a:noFill/>
          <a:ln/>
        </p:spPr>
        <p:txBody>
          <a:bodyPr wrap="square" lIns="0" tIns="0" rIns="0" bIns="0" rtlCol="0" anchor="ctr">
            <a:normAutofit/>
          </a:bodyPr>
          <a:lstStyle/>
          <a:p>
            <a:pPr marL="0" indent="0" algn="ctr">
              <a:buNone/>
            </a:pPr>
            <a:r>
              <a:rPr lang="en-US" sz="960" dirty="0">
                <a:solidFill>
                  <a:srgbClr val="111827"/>
                </a:solidFill>
                <a:latin typeface="Aptos" pitchFamily="34" charset="0"/>
                <a:ea typeface="Aptos" pitchFamily="34" charset="-122"/>
                <a:cs typeface="Aptos" pitchFamily="34" charset="-120"/>
              </a:rPr>
              <a:t>entrada única</a:t>
            </a:r>
            <a:endParaRPr lang="en-US" sz="960" dirty="0"/>
          </a:p>
          <a:p>
            <a:pPr marL="0" indent="0" algn="ctr">
              <a:buNone/>
            </a:pPr>
            <a:r>
              <a:rPr lang="en-US" sz="960" dirty="0">
                <a:solidFill>
                  <a:srgbClr val="111827"/>
                </a:solidFill>
                <a:latin typeface="Aptos" pitchFamily="34" charset="0"/>
                <a:ea typeface="Aptos" pitchFamily="34" charset="-122"/>
                <a:cs typeface="Aptos" pitchFamily="34" charset="-120"/>
              </a:rPr>
              <a:t>seguridad y límites</a:t>
            </a:r>
            <a:endParaRPr lang="en-US" sz="960" dirty="0"/>
          </a:p>
        </p:txBody>
      </p:sp>
      <p:sp>
        <p:nvSpPr>
          <p:cNvPr id="14" name="Text 12"/>
          <p:cNvSpPr/>
          <p:nvPr/>
        </p:nvSpPr>
        <p:spPr>
          <a:xfrm>
            <a:off x="4983480" y="1874520"/>
            <a:ext cx="1417320" cy="384048"/>
          </a:xfrm>
          <a:prstGeom prst="roundRect">
            <a:avLst>
              <a:gd name="adj" fmla="val 14286"/>
            </a:avLst>
          </a:prstGeom>
          <a:solidFill>
            <a:srgbClr val="2E75B5"/>
          </a:solidFill>
          <a:ln>
            <a:solidFill>
              <a:srgbClr val="2E75B5"/>
            </a:solidFill>
          </a:ln>
        </p:spPr>
        <p:txBody>
          <a:bodyPr wrap="square" lIns="381" tIns="381" rIns="381" bIns="381" rtlCol="0" anchor="ctr"/>
          <a:lstStyle/>
          <a:p>
            <a:pPr marL="0" indent="0" algn="ctr">
              <a:buNone/>
            </a:pPr>
            <a:r>
              <a:rPr lang="en-US" sz="1400" b="1" dirty="0">
                <a:solidFill>
                  <a:srgbClr val="FFFFFF"/>
                </a:solidFill>
                <a:latin typeface="Aptos Display" pitchFamily="34" charset="0"/>
                <a:ea typeface="Aptos Display" pitchFamily="34" charset="-122"/>
                <a:cs typeface="Aptos Display" pitchFamily="34" charset="-120"/>
              </a:rPr>
              <a:t>Servicios</a:t>
            </a:r>
            <a:endParaRPr lang="en-US" sz="1400" dirty="0"/>
          </a:p>
        </p:txBody>
      </p:sp>
      <p:sp>
        <p:nvSpPr>
          <p:cNvPr id="15" name="Text 13"/>
          <p:cNvSpPr/>
          <p:nvPr/>
        </p:nvSpPr>
        <p:spPr>
          <a:xfrm>
            <a:off x="4937760" y="2386584"/>
            <a:ext cx="1508760" cy="475488"/>
          </a:xfrm>
          <a:prstGeom prst="rect">
            <a:avLst/>
          </a:prstGeom>
          <a:noFill/>
          <a:ln/>
        </p:spPr>
        <p:txBody>
          <a:bodyPr wrap="square" lIns="0" tIns="0" rIns="0" bIns="0" rtlCol="0" anchor="ctr">
            <a:normAutofit/>
          </a:bodyPr>
          <a:lstStyle/>
          <a:p>
            <a:pPr marL="0" indent="0" algn="ctr">
              <a:buNone/>
            </a:pPr>
            <a:r>
              <a:rPr lang="en-US" sz="960" dirty="0">
                <a:solidFill>
                  <a:srgbClr val="111827"/>
                </a:solidFill>
                <a:latin typeface="Aptos" pitchFamily="34" charset="0"/>
                <a:ea typeface="Aptos" pitchFamily="34" charset="-122"/>
                <a:cs typeface="Aptos" pitchFamily="34" charset="-120"/>
              </a:rPr>
              <a:t>fallos aislados</a:t>
            </a:r>
            <a:endParaRPr lang="en-US" sz="960" dirty="0"/>
          </a:p>
          <a:p>
            <a:pPr marL="0" indent="0" algn="ctr">
              <a:buNone/>
            </a:pPr>
            <a:r>
              <a:rPr lang="en-US" sz="960" dirty="0">
                <a:solidFill>
                  <a:srgbClr val="111827"/>
                </a:solidFill>
                <a:latin typeface="Aptos" pitchFamily="34" charset="0"/>
                <a:ea typeface="Aptos" pitchFamily="34" charset="-122"/>
                <a:cs typeface="Aptos" pitchFamily="34" charset="-120"/>
              </a:rPr>
              <a:t>por dominio</a:t>
            </a:r>
            <a:endParaRPr lang="en-US" sz="960" dirty="0"/>
          </a:p>
        </p:txBody>
      </p:sp>
      <p:sp>
        <p:nvSpPr>
          <p:cNvPr id="16" name="Text 14"/>
          <p:cNvSpPr/>
          <p:nvPr/>
        </p:nvSpPr>
        <p:spPr>
          <a:xfrm>
            <a:off x="7178040" y="1874520"/>
            <a:ext cx="1417320" cy="384048"/>
          </a:xfrm>
          <a:prstGeom prst="roundRect">
            <a:avLst>
              <a:gd name="adj" fmla="val 14286"/>
            </a:avLst>
          </a:prstGeom>
          <a:solidFill>
            <a:srgbClr val="6E4FA3"/>
          </a:solidFill>
          <a:ln>
            <a:solidFill>
              <a:srgbClr val="6E4FA3"/>
            </a:solidFill>
          </a:ln>
        </p:spPr>
        <p:txBody>
          <a:bodyPr wrap="square" lIns="381" tIns="381" rIns="381" bIns="381" rtlCol="0" anchor="ctr"/>
          <a:lstStyle/>
          <a:p>
            <a:pPr marL="0" indent="0" algn="ctr">
              <a:buNone/>
            </a:pPr>
            <a:r>
              <a:rPr lang="en-US" sz="1400" b="1" dirty="0">
                <a:solidFill>
                  <a:srgbClr val="FFFFFF"/>
                </a:solidFill>
                <a:latin typeface="Aptos Display" pitchFamily="34" charset="0"/>
                <a:ea typeface="Aptos Display" pitchFamily="34" charset="-122"/>
                <a:cs typeface="Aptos Display" pitchFamily="34" charset="-120"/>
              </a:rPr>
              <a:t>Eventos</a:t>
            </a:r>
            <a:endParaRPr lang="en-US" sz="1400" dirty="0"/>
          </a:p>
        </p:txBody>
      </p:sp>
      <p:sp>
        <p:nvSpPr>
          <p:cNvPr id="17" name="Text 15"/>
          <p:cNvSpPr/>
          <p:nvPr/>
        </p:nvSpPr>
        <p:spPr>
          <a:xfrm>
            <a:off x="7132320" y="2386584"/>
            <a:ext cx="1508760" cy="475488"/>
          </a:xfrm>
          <a:prstGeom prst="rect">
            <a:avLst/>
          </a:prstGeom>
          <a:noFill/>
          <a:ln/>
        </p:spPr>
        <p:txBody>
          <a:bodyPr wrap="square" lIns="0" tIns="0" rIns="0" bIns="0" rtlCol="0" anchor="ctr">
            <a:normAutofit/>
          </a:bodyPr>
          <a:lstStyle/>
          <a:p>
            <a:pPr marL="0" indent="0" algn="ctr">
              <a:buNone/>
            </a:pPr>
            <a:r>
              <a:rPr lang="en-US" sz="960" dirty="0">
                <a:solidFill>
                  <a:srgbClr val="111827"/>
                </a:solidFill>
                <a:latin typeface="Aptos" pitchFamily="34" charset="0"/>
                <a:ea typeface="Aptos" pitchFamily="34" charset="-122"/>
                <a:cs typeface="Aptos" pitchFamily="34" charset="-120"/>
              </a:rPr>
              <a:t>procesos async</a:t>
            </a:r>
            <a:endParaRPr lang="en-US" sz="960" dirty="0"/>
          </a:p>
          <a:p>
            <a:pPr marL="0" indent="0" algn="ctr">
              <a:buNone/>
            </a:pPr>
            <a:r>
              <a:rPr lang="en-US" sz="960" dirty="0">
                <a:solidFill>
                  <a:srgbClr val="111827"/>
                </a:solidFill>
                <a:latin typeface="Aptos" pitchFamily="34" charset="0"/>
                <a:ea typeface="Aptos" pitchFamily="34" charset="-122"/>
                <a:cs typeface="Aptos" pitchFamily="34" charset="-120"/>
              </a:rPr>
              <a:t>sin bloquear ruta</a:t>
            </a:r>
            <a:endParaRPr lang="en-US" sz="960" dirty="0"/>
          </a:p>
        </p:txBody>
      </p:sp>
      <p:sp>
        <p:nvSpPr>
          <p:cNvPr id="18" name="Text 16"/>
          <p:cNvSpPr/>
          <p:nvPr/>
        </p:nvSpPr>
        <p:spPr>
          <a:xfrm>
            <a:off x="9372600" y="1874520"/>
            <a:ext cx="1417320" cy="384048"/>
          </a:xfrm>
          <a:prstGeom prst="roundRect">
            <a:avLst>
              <a:gd name="adj" fmla="val 14286"/>
            </a:avLst>
          </a:prstGeom>
          <a:solidFill>
            <a:srgbClr val="2E7D32"/>
          </a:solidFill>
          <a:ln>
            <a:solidFill>
              <a:srgbClr val="2E7D32"/>
            </a:solidFill>
          </a:ln>
        </p:spPr>
        <p:txBody>
          <a:bodyPr wrap="square" lIns="381" tIns="381" rIns="381" bIns="381" rtlCol="0" anchor="ctr"/>
          <a:lstStyle/>
          <a:p>
            <a:pPr marL="0" indent="0" algn="ctr">
              <a:buNone/>
            </a:pPr>
            <a:r>
              <a:rPr lang="en-US" sz="1400" b="1" dirty="0">
                <a:solidFill>
                  <a:srgbClr val="FFFFFF"/>
                </a:solidFill>
                <a:latin typeface="Aptos Display" pitchFamily="34" charset="0"/>
                <a:ea typeface="Aptos Display" pitchFamily="34" charset="-122"/>
                <a:cs typeface="Aptos Display" pitchFamily="34" charset="-120"/>
              </a:rPr>
              <a:t>Offline</a:t>
            </a:r>
            <a:endParaRPr lang="en-US" sz="1400" dirty="0"/>
          </a:p>
        </p:txBody>
      </p:sp>
      <p:sp>
        <p:nvSpPr>
          <p:cNvPr id="19" name="Text 17"/>
          <p:cNvSpPr/>
          <p:nvPr/>
        </p:nvSpPr>
        <p:spPr>
          <a:xfrm>
            <a:off x="9326880" y="2386584"/>
            <a:ext cx="1508760" cy="475488"/>
          </a:xfrm>
          <a:prstGeom prst="rect">
            <a:avLst/>
          </a:prstGeom>
          <a:noFill/>
          <a:ln/>
        </p:spPr>
        <p:txBody>
          <a:bodyPr wrap="square" lIns="0" tIns="0" rIns="0" bIns="0" rtlCol="0" anchor="ctr">
            <a:normAutofit/>
          </a:bodyPr>
          <a:lstStyle/>
          <a:p>
            <a:pPr marL="0" indent="0" algn="ctr">
              <a:buNone/>
            </a:pPr>
            <a:r>
              <a:rPr lang="en-US" sz="960" dirty="0">
                <a:solidFill>
                  <a:srgbClr val="111827"/>
                </a:solidFill>
                <a:latin typeface="Aptos" pitchFamily="34" charset="0"/>
                <a:ea typeface="Aptos" pitchFamily="34" charset="-122"/>
                <a:cs typeface="Aptos" pitchFamily="34" charset="-120"/>
              </a:rPr>
              <a:t>registro local</a:t>
            </a:r>
            <a:endParaRPr lang="en-US" sz="960" dirty="0"/>
          </a:p>
          <a:p>
            <a:pPr marL="0" indent="0" algn="ctr">
              <a:buNone/>
            </a:pPr>
            <a:r>
              <a:rPr lang="en-US" sz="960" dirty="0">
                <a:solidFill>
                  <a:srgbClr val="111827"/>
                </a:solidFill>
                <a:latin typeface="Aptos" pitchFamily="34" charset="0"/>
                <a:ea typeface="Aptos" pitchFamily="34" charset="-122"/>
                <a:cs typeface="Aptos" pitchFamily="34" charset="-120"/>
              </a:rPr>
              <a:t>y sincronización</a:t>
            </a:r>
            <a:endParaRPr lang="en-US" sz="960" dirty="0"/>
          </a:p>
        </p:txBody>
      </p:sp>
      <p:sp>
        <p:nvSpPr>
          <p:cNvPr id="20" name="Shape 18"/>
          <p:cNvSpPr/>
          <p:nvPr/>
        </p:nvSpPr>
        <p:spPr>
          <a:xfrm>
            <a:off x="914400" y="3886200"/>
            <a:ext cx="10332720" cy="1325880"/>
          </a:xfrm>
          <a:prstGeom prst="roundRect">
            <a:avLst>
              <a:gd name="adj" fmla="val 5517"/>
            </a:avLst>
          </a:prstGeom>
          <a:solidFill>
            <a:srgbClr val="FFFFFF"/>
          </a:solidFill>
          <a:ln w="12700">
            <a:solidFill>
              <a:srgbClr val="D6E4F2"/>
            </a:solidFill>
            <a:prstDash val="solid"/>
          </a:ln>
        </p:spPr>
        <p:txBody>
          <a:bodyPr/>
          <a:lstStyle/>
          <a:p>
            <a:endParaRPr lang="en-US"/>
          </a:p>
        </p:txBody>
      </p:sp>
      <p:sp>
        <p:nvSpPr>
          <p:cNvPr id="21" name="Text 19"/>
          <p:cNvSpPr/>
          <p:nvPr/>
        </p:nvSpPr>
        <p:spPr>
          <a:xfrm>
            <a:off x="1143000" y="4160520"/>
            <a:ext cx="2103120" cy="201168"/>
          </a:xfrm>
          <a:prstGeom prst="rect">
            <a:avLst/>
          </a:prstGeom>
          <a:noFill/>
          <a:ln/>
        </p:spPr>
        <p:txBody>
          <a:bodyPr wrap="square" lIns="0" tIns="0" rIns="0" bIns="0" rtlCol="0" anchor="ctr"/>
          <a:lstStyle/>
          <a:p>
            <a:pPr marL="0" indent="0">
              <a:buNone/>
            </a:pPr>
            <a:r>
              <a:rPr lang="en-US" sz="1020" b="1" dirty="0">
                <a:solidFill>
                  <a:srgbClr val="0B2545"/>
                </a:solidFill>
                <a:latin typeface="Aptos" pitchFamily="34" charset="0"/>
                <a:ea typeface="Aptos" pitchFamily="34" charset="-122"/>
                <a:cs typeface="Aptos" pitchFamily="34" charset="-120"/>
              </a:rPr>
              <a:t>Despliegue independiente</a:t>
            </a:r>
            <a:endParaRPr lang="en-US" sz="1020" dirty="0"/>
          </a:p>
        </p:txBody>
      </p:sp>
      <p:sp>
        <p:nvSpPr>
          <p:cNvPr id="22" name="Text 20"/>
          <p:cNvSpPr/>
          <p:nvPr/>
        </p:nvSpPr>
        <p:spPr>
          <a:xfrm>
            <a:off x="1143000" y="4471416"/>
            <a:ext cx="2240280" cy="384048"/>
          </a:xfrm>
          <a:prstGeom prst="rect">
            <a:avLst/>
          </a:prstGeom>
          <a:noFill/>
          <a:ln/>
        </p:spPr>
        <p:txBody>
          <a:bodyPr wrap="square" lIns="0" tIns="0" rIns="0" bIns="0" rtlCol="0" anchor="ctr">
            <a:normAutofit/>
          </a:bodyPr>
          <a:lstStyle/>
          <a:p>
            <a:pPr marL="0" indent="0">
              <a:buNone/>
            </a:pPr>
            <a:r>
              <a:rPr lang="en-US" sz="870" dirty="0">
                <a:solidFill>
                  <a:srgbClr val="586777"/>
                </a:solidFill>
                <a:latin typeface="Aptos" pitchFamily="34" charset="0"/>
                <a:ea typeface="Aptos" pitchFamily="34" charset="-122"/>
                <a:cs typeface="Aptos" pitchFamily="34" charset="-120"/>
              </a:rPr>
              <a:t>Un cambio en notificaciones no debe detener abordajes y entregas.</a:t>
            </a:r>
            <a:endParaRPr lang="en-US" sz="870" dirty="0"/>
          </a:p>
        </p:txBody>
      </p:sp>
      <p:sp>
        <p:nvSpPr>
          <p:cNvPr id="23" name="Text 21"/>
          <p:cNvSpPr/>
          <p:nvPr/>
        </p:nvSpPr>
        <p:spPr>
          <a:xfrm>
            <a:off x="3657600" y="4160520"/>
            <a:ext cx="2103120" cy="201168"/>
          </a:xfrm>
          <a:prstGeom prst="rect">
            <a:avLst/>
          </a:prstGeom>
          <a:noFill/>
          <a:ln/>
        </p:spPr>
        <p:txBody>
          <a:bodyPr wrap="square" lIns="0" tIns="0" rIns="0" bIns="0" rtlCol="0" anchor="ctr"/>
          <a:lstStyle/>
          <a:p>
            <a:pPr marL="0" indent="0">
              <a:buNone/>
            </a:pPr>
            <a:r>
              <a:rPr lang="en-US" sz="1020" b="1" dirty="0">
                <a:solidFill>
                  <a:srgbClr val="0B2545"/>
                </a:solidFill>
                <a:latin typeface="Aptos" pitchFamily="34" charset="0"/>
                <a:ea typeface="Aptos" pitchFamily="34" charset="-122"/>
                <a:cs typeface="Aptos" pitchFamily="34" charset="-120"/>
              </a:rPr>
              <a:t>Persistencia por dominio</a:t>
            </a:r>
            <a:endParaRPr lang="en-US" sz="1020" dirty="0"/>
          </a:p>
        </p:txBody>
      </p:sp>
      <p:sp>
        <p:nvSpPr>
          <p:cNvPr id="24" name="Text 22"/>
          <p:cNvSpPr/>
          <p:nvPr/>
        </p:nvSpPr>
        <p:spPr>
          <a:xfrm>
            <a:off x="3657600" y="4471416"/>
            <a:ext cx="2240280" cy="384048"/>
          </a:xfrm>
          <a:prstGeom prst="rect">
            <a:avLst/>
          </a:prstGeom>
          <a:noFill/>
          <a:ln/>
        </p:spPr>
        <p:txBody>
          <a:bodyPr wrap="square" lIns="0" tIns="0" rIns="0" bIns="0" rtlCol="0" anchor="ctr">
            <a:normAutofit/>
          </a:bodyPr>
          <a:lstStyle/>
          <a:p>
            <a:pPr marL="0" indent="0">
              <a:buNone/>
            </a:pPr>
            <a:r>
              <a:rPr lang="en-US" sz="870" dirty="0">
                <a:solidFill>
                  <a:srgbClr val="586777"/>
                </a:solidFill>
                <a:latin typeface="Aptos" pitchFamily="34" charset="0"/>
                <a:ea typeface="Aptos" pitchFamily="34" charset="-122"/>
                <a:cs typeface="Aptos" pitchFamily="34" charset="-120"/>
              </a:rPr>
              <a:t>Un problema de consulta en reportes no compromete datos maestros.</a:t>
            </a:r>
            <a:endParaRPr lang="en-US" sz="870" dirty="0"/>
          </a:p>
        </p:txBody>
      </p:sp>
      <p:sp>
        <p:nvSpPr>
          <p:cNvPr id="25" name="Text 23"/>
          <p:cNvSpPr/>
          <p:nvPr/>
        </p:nvSpPr>
        <p:spPr>
          <a:xfrm>
            <a:off x="6172200" y="4160520"/>
            <a:ext cx="2103120" cy="201168"/>
          </a:xfrm>
          <a:prstGeom prst="rect">
            <a:avLst/>
          </a:prstGeom>
          <a:noFill/>
          <a:ln/>
        </p:spPr>
        <p:txBody>
          <a:bodyPr wrap="square" lIns="0" tIns="0" rIns="0" bIns="0" rtlCol="0" anchor="ctr"/>
          <a:lstStyle/>
          <a:p>
            <a:pPr marL="0" indent="0">
              <a:buNone/>
            </a:pPr>
            <a:r>
              <a:rPr lang="en-US" sz="1020" b="1" dirty="0">
                <a:solidFill>
                  <a:srgbClr val="0B2545"/>
                </a:solidFill>
                <a:latin typeface="Aptos" pitchFamily="34" charset="0"/>
                <a:ea typeface="Aptos" pitchFamily="34" charset="-122"/>
                <a:cs typeface="Aptos" pitchFamily="34" charset="-120"/>
              </a:rPr>
              <a:t>Operación offline parcial</a:t>
            </a:r>
            <a:endParaRPr lang="en-US" sz="1020" dirty="0"/>
          </a:p>
        </p:txBody>
      </p:sp>
      <p:sp>
        <p:nvSpPr>
          <p:cNvPr id="26" name="Text 24"/>
          <p:cNvSpPr/>
          <p:nvPr/>
        </p:nvSpPr>
        <p:spPr>
          <a:xfrm>
            <a:off x="6172200" y="4471416"/>
            <a:ext cx="2240280" cy="384048"/>
          </a:xfrm>
          <a:prstGeom prst="rect">
            <a:avLst/>
          </a:prstGeom>
          <a:noFill/>
          <a:ln/>
        </p:spPr>
        <p:txBody>
          <a:bodyPr wrap="square" lIns="0" tIns="0" rIns="0" bIns="0" rtlCol="0" anchor="ctr">
            <a:normAutofit/>
          </a:bodyPr>
          <a:lstStyle/>
          <a:p>
            <a:pPr marL="0" indent="0">
              <a:buNone/>
            </a:pPr>
            <a:r>
              <a:rPr lang="en-US" sz="870" dirty="0">
                <a:solidFill>
                  <a:srgbClr val="586777"/>
                </a:solidFill>
                <a:latin typeface="Aptos" pitchFamily="34" charset="0"/>
                <a:ea typeface="Aptos" pitchFamily="34" charset="-122"/>
                <a:cs typeface="Aptos" pitchFamily="34" charset="-120"/>
              </a:rPr>
              <a:t>El chofer registra eventos aunque pierda conexión temporalmente.</a:t>
            </a:r>
            <a:endParaRPr lang="en-US" sz="870" dirty="0"/>
          </a:p>
        </p:txBody>
      </p:sp>
      <p:sp>
        <p:nvSpPr>
          <p:cNvPr id="27" name="Text 25"/>
          <p:cNvSpPr/>
          <p:nvPr/>
        </p:nvSpPr>
        <p:spPr>
          <a:xfrm>
            <a:off x="8686800" y="4160520"/>
            <a:ext cx="2103120" cy="201168"/>
          </a:xfrm>
          <a:prstGeom prst="rect">
            <a:avLst/>
          </a:prstGeom>
          <a:noFill/>
          <a:ln/>
        </p:spPr>
        <p:txBody>
          <a:bodyPr wrap="square" lIns="0" tIns="0" rIns="0" bIns="0" rtlCol="0" anchor="ctr"/>
          <a:lstStyle/>
          <a:p>
            <a:pPr marL="0" indent="0">
              <a:buNone/>
            </a:pPr>
            <a:r>
              <a:rPr lang="en-US" sz="1020" b="1" dirty="0">
                <a:solidFill>
                  <a:srgbClr val="0B2545"/>
                </a:solidFill>
                <a:latin typeface="Aptos" pitchFamily="34" charset="0"/>
                <a:ea typeface="Aptos" pitchFamily="34" charset="-122"/>
                <a:cs typeface="Aptos" pitchFamily="34" charset="-120"/>
              </a:rPr>
              <a:t>Backups y recuperación</a:t>
            </a:r>
            <a:endParaRPr lang="en-US" sz="1020" dirty="0"/>
          </a:p>
        </p:txBody>
      </p:sp>
      <p:sp>
        <p:nvSpPr>
          <p:cNvPr id="28" name="Text 26"/>
          <p:cNvSpPr/>
          <p:nvPr/>
        </p:nvSpPr>
        <p:spPr>
          <a:xfrm>
            <a:off x="8686800" y="4471416"/>
            <a:ext cx="2240280" cy="384048"/>
          </a:xfrm>
          <a:prstGeom prst="rect">
            <a:avLst/>
          </a:prstGeom>
          <a:noFill/>
          <a:ln/>
        </p:spPr>
        <p:txBody>
          <a:bodyPr wrap="square" lIns="0" tIns="0" rIns="0" bIns="0" rtlCol="0" anchor="ctr">
            <a:normAutofit/>
          </a:bodyPr>
          <a:lstStyle/>
          <a:p>
            <a:pPr marL="0" indent="0">
              <a:buNone/>
            </a:pPr>
            <a:r>
              <a:rPr lang="en-US" sz="870" dirty="0">
                <a:solidFill>
                  <a:srgbClr val="586777"/>
                </a:solidFill>
                <a:latin typeface="Aptos" pitchFamily="34" charset="0"/>
                <a:ea typeface="Aptos" pitchFamily="34" charset="-122"/>
                <a:cs typeface="Aptos" pitchFamily="34" charset="-120"/>
              </a:rPr>
              <a:t>Respaldo, restauración y RPO/RTO deben volverse escenarios medibles.</a:t>
            </a:r>
            <a:endParaRPr lang="en-US" sz="870" dirty="0"/>
          </a:p>
        </p:txBody>
      </p:sp>
      <p:sp>
        <p:nvSpPr>
          <p:cNvPr id="29"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E4FA3"/>
          </a:solidFill>
          <a:ln w="12700">
            <a:solidFill>
              <a:srgbClr val="6E4FA3">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Respuesta a la preocupación de costos de infraestructura</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Diseño escalable sin obligar a sobredimensionar toda la plataforma desde el inicio</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costos</a:t>
            </a:r>
            <a:endParaRPr lang="en-US" sz="800" dirty="0"/>
          </a:p>
        </p:txBody>
      </p:sp>
      <p:sp>
        <p:nvSpPr>
          <p:cNvPr id="6" name="Text 4"/>
          <p:cNvSpPr/>
          <p:nvPr/>
        </p:nvSpPr>
        <p:spPr>
          <a:xfrm>
            <a:off x="777240" y="1389888"/>
            <a:ext cx="9875520" cy="320040"/>
          </a:xfrm>
          <a:prstGeom prst="rect">
            <a:avLst/>
          </a:prstGeom>
          <a:noFill/>
          <a:ln/>
        </p:spPr>
        <p:txBody>
          <a:bodyPr wrap="square" lIns="0" tIns="0" rIns="0" bIns="0" rtlCol="0" anchor="ctr"/>
          <a:lstStyle/>
          <a:p>
            <a:pPr marL="0" indent="0">
              <a:buNone/>
            </a:pPr>
            <a:r>
              <a:rPr lang="en-US" sz="1700" b="1" dirty="0">
                <a:solidFill>
                  <a:srgbClr val="0B2545"/>
                </a:solidFill>
                <a:latin typeface="Aptos Display" pitchFamily="34" charset="0"/>
                <a:ea typeface="Aptos Display" pitchFamily="34" charset="-122"/>
                <a:cs typeface="Aptos Display" pitchFamily="34" charset="-120"/>
              </a:rPr>
              <a:t>Estrategia: empezar con límites arquitectónicos claros y una infraestructura prudente.</a:t>
            </a:r>
            <a:endParaRPr lang="en-US" sz="1700" dirty="0"/>
          </a:p>
        </p:txBody>
      </p:sp>
      <p:sp>
        <p:nvSpPr>
          <p:cNvPr id="7" name="Shape 5"/>
          <p:cNvSpPr/>
          <p:nvPr/>
        </p:nvSpPr>
        <p:spPr>
          <a:xfrm>
            <a:off x="914400" y="4572000"/>
            <a:ext cx="10012680" cy="0"/>
          </a:xfrm>
          <a:prstGeom prst="line">
            <a:avLst/>
          </a:prstGeom>
          <a:noFill/>
          <a:ln w="38100">
            <a:solidFill>
              <a:srgbClr val="2E7D32"/>
            </a:solidFill>
            <a:prstDash val="solid"/>
            <a:headEnd type="none"/>
            <a:tailEnd type="triangle"/>
          </a:ln>
        </p:spPr>
        <p:txBody>
          <a:bodyPr/>
          <a:lstStyle/>
          <a:p>
            <a:endParaRPr lang="en-US"/>
          </a:p>
        </p:txBody>
      </p:sp>
      <p:sp>
        <p:nvSpPr>
          <p:cNvPr id="8" name="Shape 6"/>
          <p:cNvSpPr/>
          <p:nvPr/>
        </p:nvSpPr>
        <p:spPr>
          <a:xfrm>
            <a:off x="822960" y="3977640"/>
            <a:ext cx="457200" cy="457200"/>
          </a:xfrm>
          <a:prstGeom prst="ellipse">
            <a:avLst/>
          </a:prstGeom>
          <a:solidFill>
            <a:srgbClr val="2E7D32"/>
          </a:solidFill>
          <a:ln w="12700">
            <a:solidFill>
              <a:srgbClr val="2E7D32"/>
            </a:solidFill>
            <a:prstDash val="solid"/>
          </a:ln>
        </p:spPr>
        <p:txBody>
          <a:bodyPr/>
          <a:lstStyle/>
          <a:p>
            <a:endParaRPr lang="en-US"/>
          </a:p>
        </p:txBody>
      </p:sp>
      <p:sp>
        <p:nvSpPr>
          <p:cNvPr id="9" name="Text 7"/>
          <p:cNvSpPr/>
          <p:nvPr/>
        </p:nvSpPr>
        <p:spPr>
          <a:xfrm>
            <a:off x="822960" y="4069080"/>
            <a:ext cx="457200" cy="164592"/>
          </a:xfrm>
          <a:prstGeom prst="rect">
            <a:avLst/>
          </a:prstGeom>
          <a:noFill/>
          <a:ln/>
        </p:spPr>
        <p:txBody>
          <a:bodyPr wrap="square" lIns="0" tIns="0" rIns="0" bIns="0" rtlCol="0" anchor="ctr"/>
          <a:lstStyle/>
          <a:p>
            <a:pPr marL="0" indent="0" algn="ctr">
              <a:buNone/>
            </a:pPr>
            <a:r>
              <a:rPr lang="en-US" sz="1120" b="1" dirty="0">
                <a:solidFill>
                  <a:srgbClr val="FFFFFF"/>
                </a:solidFill>
                <a:latin typeface="Aptos" pitchFamily="34" charset="0"/>
                <a:ea typeface="Aptos" pitchFamily="34" charset="-122"/>
                <a:cs typeface="Aptos" pitchFamily="34" charset="-120"/>
              </a:rPr>
              <a:t>1</a:t>
            </a:r>
            <a:endParaRPr lang="en-US" sz="1120" dirty="0"/>
          </a:p>
        </p:txBody>
      </p:sp>
      <p:sp>
        <p:nvSpPr>
          <p:cNvPr id="10" name="Text 8"/>
          <p:cNvSpPr/>
          <p:nvPr/>
        </p:nvSpPr>
        <p:spPr>
          <a:xfrm>
            <a:off x="1417320" y="3931920"/>
            <a:ext cx="2057400" cy="201168"/>
          </a:xfrm>
          <a:prstGeom prst="rect">
            <a:avLst/>
          </a:prstGeom>
          <a:noFill/>
          <a:ln/>
        </p:spPr>
        <p:txBody>
          <a:bodyPr wrap="square" lIns="0" tIns="0" rIns="0" bIns="0" rtlCol="0" anchor="ctr"/>
          <a:lstStyle/>
          <a:p>
            <a:pPr marL="0" indent="0">
              <a:buNone/>
            </a:pPr>
            <a:r>
              <a:rPr lang="en-US" sz="1120" b="1" dirty="0">
                <a:solidFill>
                  <a:srgbClr val="0B2545"/>
                </a:solidFill>
                <a:latin typeface="Aptos" pitchFamily="34" charset="0"/>
                <a:ea typeface="Aptos" pitchFamily="34" charset="-122"/>
                <a:cs typeface="Aptos" pitchFamily="34" charset="-120"/>
              </a:rPr>
              <a:t>Inicio controlado</a:t>
            </a:r>
            <a:endParaRPr lang="en-US" sz="1120" dirty="0"/>
          </a:p>
        </p:txBody>
      </p:sp>
      <p:sp>
        <p:nvSpPr>
          <p:cNvPr id="11" name="Text 9"/>
          <p:cNvSpPr/>
          <p:nvPr/>
        </p:nvSpPr>
        <p:spPr>
          <a:xfrm>
            <a:off x="1417320" y="4215384"/>
            <a:ext cx="2176272" cy="429768"/>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Bases por servicio pueden convivir en un mismo clúster administrado.</a:t>
            </a:r>
            <a:endParaRPr lang="en-US" sz="880" dirty="0"/>
          </a:p>
        </p:txBody>
      </p:sp>
      <p:sp>
        <p:nvSpPr>
          <p:cNvPr id="12" name="Shape 10"/>
          <p:cNvSpPr/>
          <p:nvPr/>
        </p:nvSpPr>
        <p:spPr>
          <a:xfrm>
            <a:off x="3566160" y="3502152"/>
            <a:ext cx="457200" cy="457200"/>
          </a:xfrm>
          <a:prstGeom prst="ellipse">
            <a:avLst/>
          </a:prstGeom>
          <a:solidFill>
            <a:srgbClr val="2E7D32"/>
          </a:solidFill>
          <a:ln w="12700">
            <a:solidFill>
              <a:srgbClr val="2E7D32"/>
            </a:solidFill>
            <a:prstDash val="solid"/>
          </a:ln>
        </p:spPr>
        <p:txBody>
          <a:bodyPr/>
          <a:lstStyle/>
          <a:p>
            <a:endParaRPr lang="en-US"/>
          </a:p>
        </p:txBody>
      </p:sp>
      <p:sp>
        <p:nvSpPr>
          <p:cNvPr id="13" name="Text 11"/>
          <p:cNvSpPr/>
          <p:nvPr/>
        </p:nvSpPr>
        <p:spPr>
          <a:xfrm>
            <a:off x="3566160" y="3593592"/>
            <a:ext cx="457200" cy="164592"/>
          </a:xfrm>
          <a:prstGeom prst="rect">
            <a:avLst/>
          </a:prstGeom>
          <a:noFill/>
          <a:ln/>
        </p:spPr>
        <p:txBody>
          <a:bodyPr wrap="square" lIns="0" tIns="0" rIns="0" bIns="0" rtlCol="0" anchor="ctr"/>
          <a:lstStyle/>
          <a:p>
            <a:pPr marL="0" indent="0" algn="ctr">
              <a:buNone/>
            </a:pPr>
            <a:r>
              <a:rPr lang="en-US" sz="1120" b="1" dirty="0">
                <a:solidFill>
                  <a:srgbClr val="FFFFFF"/>
                </a:solidFill>
                <a:latin typeface="Aptos" pitchFamily="34" charset="0"/>
                <a:ea typeface="Aptos" pitchFamily="34" charset="-122"/>
                <a:cs typeface="Aptos" pitchFamily="34" charset="-120"/>
              </a:rPr>
              <a:t>2</a:t>
            </a:r>
            <a:endParaRPr lang="en-US" sz="1120" dirty="0"/>
          </a:p>
        </p:txBody>
      </p:sp>
      <p:sp>
        <p:nvSpPr>
          <p:cNvPr id="14" name="Text 12"/>
          <p:cNvSpPr/>
          <p:nvPr/>
        </p:nvSpPr>
        <p:spPr>
          <a:xfrm>
            <a:off x="4160520" y="3456432"/>
            <a:ext cx="2057400" cy="201168"/>
          </a:xfrm>
          <a:prstGeom prst="rect">
            <a:avLst/>
          </a:prstGeom>
          <a:noFill/>
          <a:ln/>
        </p:spPr>
        <p:txBody>
          <a:bodyPr wrap="square" lIns="0" tIns="0" rIns="0" bIns="0" rtlCol="0" anchor="ctr"/>
          <a:lstStyle/>
          <a:p>
            <a:pPr marL="0" indent="0">
              <a:buNone/>
            </a:pPr>
            <a:r>
              <a:rPr lang="en-US" sz="1120" b="1" dirty="0">
                <a:solidFill>
                  <a:srgbClr val="0B2545"/>
                </a:solidFill>
                <a:latin typeface="Aptos" pitchFamily="34" charset="0"/>
                <a:ea typeface="Aptos" pitchFamily="34" charset="-122"/>
                <a:cs typeface="Aptos" pitchFamily="34" charset="-120"/>
              </a:rPr>
              <a:t>Escalamiento selectivo</a:t>
            </a:r>
            <a:endParaRPr lang="en-US" sz="1120" dirty="0"/>
          </a:p>
        </p:txBody>
      </p:sp>
      <p:sp>
        <p:nvSpPr>
          <p:cNvPr id="15" name="Text 13"/>
          <p:cNvSpPr/>
          <p:nvPr/>
        </p:nvSpPr>
        <p:spPr>
          <a:xfrm>
            <a:off x="4160520" y="3739896"/>
            <a:ext cx="2176272" cy="429768"/>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Escalan Operaciones, Gateway o Kafka cuando la demanda lo exige.</a:t>
            </a:r>
            <a:endParaRPr lang="en-US" sz="880" dirty="0"/>
          </a:p>
        </p:txBody>
      </p:sp>
      <p:sp>
        <p:nvSpPr>
          <p:cNvPr id="16" name="Shape 14"/>
          <p:cNvSpPr/>
          <p:nvPr/>
        </p:nvSpPr>
        <p:spPr>
          <a:xfrm>
            <a:off x="6309360" y="3026664"/>
            <a:ext cx="457200" cy="457200"/>
          </a:xfrm>
          <a:prstGeom prst="ellipse">
            <a:avLst/>
          </a:prstGeom>
          <a:solidFill>
            <a:srgbClr val="2E7D32"/>
          </a:solidFill>
          <a:ln w="12700">
            <a:solidFill>
              <a:srgbClr val="2E7D32"/>
            </a:solidFill>
            <a:prstDash val="solid"/>
          </a:ln>
        </p:spPr>
        <p:txBody>
          <a:bodyPr/>
          <a:lstStyle/>
          <a:p>
            <a:endParaRPr lang="en-US"/>
          </a:p>
        </p:txBody>
      </p:sp>
      <p:sp>
        <p:nvSpPr>
          <p:cNvPr id="17" name="Text 15"/>
          <p:cNvSpPr/>
          <p:nvPr/>
        </p:nvSpPr>
        <p:spPr>
          <a:xfrm>
            <a:off x="6309360" y="3118104"/>
            <a:ext cx="457200" cy="164592"/>
          </a:xfrm>
          <a:prstGeom prst="rect">
            <a:avLst/>
          </a:prstGeom>
          <a:noFill/>
          <a:ln/>
        </p:spPr>
        <p:txBody>
          <a:bodyPr wrap="square" lIns="0" tIns="0" rIns="0" bIns="0" rtlCol="0" anchor="ctr"/>
          <a:lstStyle/>
          <a:p>
            <a:pPr marL="0" indent="0" algn="ctr">
              <a:buNone/>
            </a:pPr>
            <a:r>
              <a:rPr lang="en-US" sz="1120" b="1" dirty="0">
                <a:solidFill>
                  <a:srgbClr val="FFFFFF"/>
                </a:solidFill>
                <a:latin typeface="Aptos" pitchFamily="34" charset="0"/>
                <a:ea typeface="Aptos" pitchFamily="34" charset="-122"/>
                <a:cs typeface="Aptos" pitchFamily="34" charset="-120"/>
              </a:rPr>
              <a:t>3</a:t>
            </a:r>
            <a:endParaRPr lang="en-US" sz="1120" dirty="0"/>
          </a:p>
        </p:txBody>
      </p:sp>
      <p:sp>
        <p:nvSpPr>
          <p:cNvPr id="18" name="Text 16"/>
          <p:cNvSpPr/>
          <p:nvPr/>
        </p:nvSpPr>
        <p:spPr>
          <a:xfrm>
            <a:off x="6903720" y="2980944"/>
            <a:ext cx="2057400" cy="201168"/>
          </a:xfrm>
          <a:prstGeom prst="rect">
            <a:avLst/>
          </a:prstGeom>
          <a:noFill/>
          <a:ln/>
        </p:spPr>
        <p:txBody>
          <a:bodyPr wrap="square" lIns="0" tIns="0" rIns="0" bIns="0" rtlCol="0" anchor="ctr"/>
          <a:lstStyle/>
          <a:p>
            <a:pPr marL="0" indent="0">
              <a:buNone/>
            </a:pPr>
            <a:r>
              <a:rPr lang="en-US" sz="1120" b="1" dirty="0">
                <a:solidFill>
                  <a:srgbClr val="0B2545"/>
                </a:solidFill>
                <a:latin typeface="Aptos" pitchFamily="34" charset="0"/>
                <a:ea typeface="Aptos" pitchFamily="34" charset="-122"/>
                <a:cs typeface="Aptos" pitchFamily="34" charset="-120"/>
              </a:rPr>
              <a:t>Servicios externos</a:t>
            </a:r>
            <a:endParaRPr lang="en-US" sz="1120" dirty="0"/>
          </a:p>
        </p:txBody>
      </p:sp>
      <p:sp>
        <p:nvSpPr>
          <p:cNvPr id="19" name="Text 17"/>
          <p:cNvSpPr/>
          <p:nvPr/>
        </p:nvSpPr>
        <p:spPr>
          <a:xfrm>
            <a:off x="6903720" y="3264408"/>
            <a:ext cx="2176272" cy="429768"/>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Identidad, mapas y notificaciones reducen desarrollo propio.</a:t>
            </a:r>
            <a:endParaRPr lang="en-US" sz="880" dirty="0"/>
          </a:p>
        </p:txBody>
      </p:sp>
      <p:sp>
        <p:nvSpPr>
          <p:cNvPr id="20" name="Shape 18"/>
          <p:cNvSpPr/>
          <p:nvPr/>
        </p:nvSpPr>
        <p:spPr>
          <a:xfrm>
            <a:off x="9052560" y="2551176"/>
            <a:ext cx="457200" cy="457200"/>
          </a:xfrm>
          <a:prstGeom prst="ellipse">
            <a:avLst/>
          </a:prstGeom>
          <a:solidFill>
            <a:srgbClr val="2E7D32"/>
          </a:solidFill>
          <a:ln w="12700">
            <a:solidFill>
              <a:srgbClr val="2E7D32"/>
            </a:solidFill>
            <a:prstDash val="solid"/>
          </a:ln>
        </p:spPr>
        <p:txBody>
          <a:bodyPr/>
          <a:lstStyle/>
          <a:p>
            <a:endParaRPr lang="en-US"/>
          </a:p>
        </p:txBody>
      </p:sp>
      <p:sp>
        <p:nvSpPr>
          <p:cNvPr id="21" name="Text 19"/>
          <p:cNvSpPr/>
          <p:nvPr/>
        </p:nvSpPr>
        <p:spPr>
          <a:xfrm>
            <a:off x="9052560" y="2642616"/>
            <a:ext cx="457200" cy="164592"/>
          </a:xfrm>
          <a:prstGeom prst="rect">
            <a:avLst/>
          </a:prstGeom>
          <a:noFill/>
          <a:ln/>
        </p:spPr>
        <p:txBody>
          <a:bodyPr wrap="square" lIns="0" tIns="0" rIns="0" bIns="0" rtlCol="0" anchor="ctr"/>
          <a:lstStyle/>
          <a:p>
            <a:pPr marL="0" indent="0" algn="ctr">
              <a:buNone/>
            </a:pPr>
            <a:r>
              <a:rPr lang="en-US" sz="1120" b="1" dirty="0">
                <a:solidFill>
                  <a:srgbClr val="FFFFFF"/>
                </a:solidFill>
                <a:latin typeface="Aptos" pitchFamily="34" charset="0"/>
                <a:ea typeface="Aptos" pitchFamily="34" charset="-122"/>
                <a:cs typeface="Aptos" pitchFamily="34" charset="-120"/>
              </a:rPr>
              <a:t>4</a:t>
            </a:r>
            <a:endParaRPr lang="en-US" sz="1120" dirty="0"/>
          </a:p>
        </p:txBody>
      </p:sp>
      <p:sp>
        <p:nvSpPr>
          <p:cNvPr id="22" name="Text 20"/>
          <p:cNvSpPr/>
          <p:nvPr/>
        </p:nvSpPr>
        <p:spPr>
          <a:xfrm>
            <a:off x="9646920" y="2505456"/>
            <a:ext cx="2057400" cy="201168"/>
          </a:xfrm>
          <a:prstGeom prst="rect">
            <a:avLst/>
          </a:prstGeom>
          <a:noFill/>
          <a:ln/>
        </p:spPr>
        <p:txBody>
          <a:bodyPr wrap="square" lIns="0" tIns="0" rIns="0" bIns="0" rtlCol="0" anchor="ctr"/>
          <a:lstStyle/>
          <a:p>
            <a:pPr marL="0" indent="0">
              <a:buNone/>
            </a:pPr>
            <a:r>
              <a:rPr lang="en-US" sz="1120" b="1" dirty="0">
                <a:solidFill>
                  <a:srgbClr val="0B2545"/>
                </a:solidFill>
                <a:latin typeface="Aptos" pitchFamily="34" charset="0"/>
                <a:ea typeface="Aptos" pitchFamily="34" charset="-122"/>
                <a:cs typeface="Aptos" pitchFamily="34" charset="-120"/>
              </a:rPr>
              <a:t>Separación futura</a:t>
            </a:r>
            <a:endParaRPr lang="en-US" sz="1120" dirty="0"/>
          </a:p>
        </p:txBody>
      </p:sp>
      <p:sp>
        <p:nvSpPr>
          <p:cNvPr id="23" name="Text 21"/>
          <p:cNvSpPr/>
          <p:nvPr/>
        </p:nvSpPr>
        <p:spPr>
          <a:xfrm>
            <a:off x="9646920" y="2788920"/>
            <a:ext cx="2176272" cy="429768"/>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Dominios críticos pueden migrar a recursos dedicados sin rediseñar.</a:t>
            </a:r>
            <a:endParaRPr lang="en-US" sz="880" dirty="0"/>
          </a:p>
        </p:txBody>
      </p:sp>
      <p:sp>
        <p:nvSpPr>
          <p:cNvPr id="24" name="Shape 22"/>
          <p:cNvSpPr/>
          <p:nvPr/>
        </p:nvSpPr>
        <p:spPr>
          <a:xfrm>
            <a:off x="2286000" y="5321808"/>
            <a:ext cx="7589520" cy="420624"/>
          </a:xfrm>
          <a:prstGeom prst="roundRect">
            <a:avLst>
              <a:gd name="adj" fmla="val 17391"/>
            </a:avLst>
          </a:prstGeom>
          <a:solidFill>
            <a:srgbClr val="EEF7EF"/>
          </a:solidFill>
          <a:ln w="12700">
            <a:solidFill>
              <a:srgbClr val="B6D7B9"/>
            </a:solidFill>
            <a:prstDash val="solid"/>
          </a:ln>
        </p:spPr>
        <p:txBody>
          <a:bodyPr/>
          <a:lstStyle/>
          <a:p>
            <a:endParaRPr lang="en-US"/>
          </a:p>
        </p:txBody>
      </p:sp>
      <p:sp>
        <p:nvSpPr>
          <p:cNvPr id="25" name="Text 23"/>
          <p:cNvSpPr/>
          <p:nvPr/>
        </p:nvSpPr>
        <p:spPr>
          <a:xfrm>
            <a:off x="2487168" y="5458968"/>
            <a:ext cx="7178040" cy="146304"/>
          </a:xfrm>
          <a:prstGeom prst="rect">
            <a:avLst/>
          </a:prstGeom>
          <a:noFill/>
          <a:ln/>
        </p:spPr>
        <p:txBody>
          <a:bodyPr wrap="square" lIns="0" tIns="0" rIns="0" bIns="0" rtlCol="0" anchor="ctr"/>
          <a:lstStyle/>
          <a:p>
            <a:pPr marL="0" indent="0">
              <a:buNone/>
            </a:pPr>
            <a:r>
              <a:rPr lang="en-US" sz="970" b="1" dirty="0">
                <a:solidFill>
                  <a:srgbClr val="1B5E20"/>
                </a:solidFill>
                <a:latin typeface="Aptos" pitchFamily="34" charset="0"/>
                <a:ea typeface="Aptos" pitchFamily="34" charset="-122"/>
                <a:cs typeface="Aptos" pitchFamily="34" charset="-120"/>
              </a:rPr>
              <a:t>Mensaje para cliente: no se paga independencia física desde el día 1; se diseña para poder separarla cuando el negocio lo justifique.</a:t>
            </a:r>
            <a:endParaRPr lang="en-US" sz="970" dirty="0"/>
          </a:p>
        </p:txBody>
      </p:sp>
      <p:sp>
        <p:nvSpPr>
          <p:cNvPr id="26"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D32"/>
          </a:solidFill>
          <a:ln w="12700">
            <a:solidFill>
              <a:srgbClr val="2E7D32">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Persistencia y trazabilidad</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Datos separados por dominio, operación offline y auditoría independiente</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persistencia</a:t>
            </a:r>
            <a:endParaRPr lang="en-US" sz="800" dirty="0"/>
          </a:p>
        </p:txBody>
      </p:sp>
      <p:pic>
        <p:nvPicPr>
          <p:cNvPr id="6" name="Image 0" descr="/mnt/data/movix_images/image4.png"/>
          <p:cNvPicPr>
            <a:picLocks noChangeAspect="1"/>
          </p:cNvPicPr>
          <p:nvPr/>
        </p:nvPicPr>
        <p:blipFill>
          <a:blip r:embed="rId3"/>
          <a:srcRect t="-1" r="1481" b="141"/>
          <a:stretch>
            <a:fillRect/>
          </a:stretch>
        </p:blipFill>
        <p:spPr>
          <a:xfrm>
            <a:off x="438912" y="1408176"/>
            <a:ext cx="7082028" cy="4785590"/>
          </a:xfrm>
          <a:prstGeom prst="rect">
            <a:avLst/>
          </a:prstGeom>
        </p:spPr>
      </p:pic>
      <p:sp>
        <p:nvSpPr>
          <p:cNvPr id="7" name="Shape 4"/>
          <p:cNvSpPr/>
          <p:nvPr/>
        </p:nvSpPr>
        <p:spPr>
          <a:xfrm>
            <a:off x="7680960" y="1444752"/>
            <a:ext cx="3840480" cy="3730752"/>
          </a:xfrm>
          <a:prstGeom prst="roundRect">
            <a:avLst>
              <a:gd name="adj" fmla="val 1961"/>
            </a:avLst>
          </a:prstGeom>
          <a:solidFill>
            <a:srgbClr val="FFFFFF"/>
          </a:solidFill>
          <a:ln w="12700">
            <a:solidFill>
              <a:srgbClr val="D6E4F2"/>
            </a:solidFill>
            <a:prstDash val="solid"/>
          </a:ln>
        </p:spPr>
        <p:txBody>
          <a:bodyPr/>
          <a:lstStyle/>
          <a:p>
            <a:endParaRPr lang="en-US"/>
          </a:p>
        </p:txBody>
      </p:sp>
      <p:sp>
        <p:nvSpPr>
          <p:cNvPr id="9" name="Text 6"/>
          <p:cNvSpPr/>
          <p:nvPr/>
        </p:nvSpPr>
        <p:spPr>
          <a:xfrm>
            <a:off x="7886700" y="2112264"/>
            <a:ext cx="3474720" cy="201168"/>
          </a:xfrm>
          <a:prstGeom prst="rect">
            <a:avLst/>
          </a:prstGeom>
          <a:noFill/>
          <a:ln/>
        </p:spPr>
        <p:txBody>
          <a:bodyPr wrap="square" lIns="0" tIns="0" rIns="0" bIns="0" rtlCol="0" anchor="ctr"/>
          <a:lstStyle/>
          <a:p>
            <a:pPr marL="0" indent="0">
              <a:buNone/>
            </a:pPr>
            <a:r>
              <a:rPr lang="en-US" sz="1120" b="1" dirty="0">
                <a:solidFill>
                  <a:srgbClr val="2E7D32"/>
                </a:solidFill>
                <a:latin typeface="Aptos" pitchFamily="34" charset="0"/>
                <a:ea typeface="Aptos" pitchFamily="34" charset="-122"/>
                <a:cs typeface="Aptos" pitchFamily="34" charset="-120"/>
              </a:rPr>
              <a:t>Persistencia políglota distribuida</a:t>
            </a:r>
            <a:endParaRPr lang="en-US" sz="1120" dirty="0"/>
          </a:p>
        </p:txBody>
      </p:sp>
      <p:sp>
        <p:nvSpPr>
          <p:cNvPr id="10" name="Text 7"/>
          <p:cNvSpPr/>
          <p:nvPr/>
        </p:nvSpPr>
        <p:spPr>
          <a:xfrm>
            <a:off x="7886700" y="2542032"/>
            <a:ext cx="3429000" cy="1417320"/>
          </a:xfrm>
          <a:prstGeom prst="rect">
            <a:avLst/>
          </a:prstGeom>
          <a:noFill/>
          <a:ln/>
        </p:spPr>
        <p:txBody>
          <a:bodyPr wrap="square" lIns="127" tIns="127" rIns="127" bIns="127" rtlCol="0" anchor="t">
            <a:normAutofit/>
          </a:bodyPr>
          <a:lstStyle/>
          <a:p>
            <a:pPr marL="0" indent="0" algn="l">
              <a:buNone/>
            </a:pPr>
            <a:r>
              <a:rPr lang="en-US" sz="1060" dirty="0">
                <a:solidFill>
                  <a:srgbClr val="111827"/>
                </a:solidFill>
                <a:latin typeface="Aptos" pitchFamily="34" charset="0"/>
                <a:ea typeface="Aptos" pitchFamily="34" charset="-122"/>
                <a:cs typeface="Aptos" pitchFamily="34" charset="-120"/>
              </a:rPr>
              <a:t>• PostgreSQL por dominio transaccional.</a:t>
            </a:r>
            <a:endParaRPr lang="en-US" sz="1060" dirty="0"/>
          </a:p>
          <a:p>
            <a:pPr marL="0" indent="0" algn="l">
              <a:buNone/>
            </a:pPr>
            <a:r>
              <a:rPr lang="en-US" sz="1060" dirty="0">
                <a:solidFill>
                  <a:srgbClr val="111827"/>
                </a:solidFill>
                <a:latin typeface="Aptos" pitchFamily="34" charset="0"/>
                <a:ea typeface="Aptos" pitchFamily="34" charset="-122"/>
                <a:cs typeface="Aptos" pitchFamily="34" charset="-120"/>
              </a:rPr>
              <a:t>• Auditoría independiente y orientada a trazabilidad.</a:t>
            </a:r>
            <a:endParaRPr lang="en-US" sz="1060" dirty="0"/>
          </a:p>
          <a:p>
            <a:pPr marL="0" indent="0" algn="l">
              <a:buNone/>
            </a:pPr>
            <a:r>
              <a:rPr lang="en-US" sz="1060" dirty="0">
                <a:solidFill>
                  <a:srgbClr val="111827"/>
                </a:solidFill>
                <a:latin typeface="Aptos" pitchFamily="34" charset="0"/>
                <a:ea typeface="Aptos" pitchFamily="34" charset="-122"/>
                <a:cs typeface="Aptos" pitchFamily="34" charset="-120"/>
              </a:rPr>
              <a:t>• WatermelonDB para continuidad offline.</a:t>
            </a:r>
            <a:endParaRPr lang="en-US" sz="1060" dirty="0"/>
          </a:p>
          <a:p>
            <a:pPr marL="0" indent="0" algn="l">
              <a:buNone/>
            </a:pPr>
            <a:r>
              <a:rPr lang="en-US" sz="1060" dirty="0">
                <a:solidFill>
                  <a:srgbClr val="111827"/>
                </a:solidFill>
                <a:latin typeface="Aptos" pitchFamily="34" charset="0"/>
                <a:ea typeface="Aptos" pitchFamily="34" charset="-122"/>
                <a:cs typeface="Aptos" pitchFamily="34" charset="-120"/>
              </a:rPr>
              <a:t>• Kafka transporta eventos; no es fuente de verdad.</a:t>
            </a:r>
            <a:endParaRPr lang="en-US" sz="1060" dirty="0"/>
          </a:p>
          <a:p>
            <a:pPr marL="0" indent="0" algn="l">
              <a:buNone/>
            </a:pPr>
            <a:r>
              <a:rPr lang="en-US" sz="1060" dirty="0">
                <a:solidFill>
                  <a:srgbClr val="111827"/>
                </a:solidFill>
                <a:latin typeface="Aptos" pitchFamily="34" charset="0"/>
                <a:ea typeface="Aptos" pitchFamily="34" charset="-122"/>
                <a:cs typeface="Aptos" pitchFamily="34" charset="-120"/>
              </a:rPr>
              <a:t>• No hay base de datos compartida entre microservicios.</a:t>
            </a:r>
            <a:endParaRPr lang="en-US" sz="1060" dirty="0"/>
          </a:p>
        </p:txBody>
      </p:sp>
      <p:sp>
        <p:nvSpPr>
          <p:cNvPr id="11" name="Text 8"/>
          <p:cNvSpPr/>
          <p:nvPr/>
        </p:nvSpPr>
        <p:spPr>
          <a:xfrm>
            <a:off x="7886700" y="4187952"/>
            <a:ext cx="2743200" cy="210312"/>
          </a:xfrm>
          <a:prstGeom prst="rect">
            <a:avLst/>
          </a:prstGeom>
          <a:noFill/>
          <a:ln/>
        </p:spPr>
        <p:txBody>
          <a:bodyPr wrap="square" lIns="0" tIns="0" rIns="0" bIns="0" rtlCol="0" anchor="ctr"/>
          <a:lstStyle/>
          <a:p>
            <a:pPr marL="0" indent="0">
              <a:buNone/>
            </a:pPr>
            <a:r>
              <a:rPr lang="en-US" sz="1150" b="1" dirty="0">
                <a:solidFill>
                  <a:srgbClr val="0B2545"/>
                </a:solidFill>
                <a:latin typeface="Aptos" pitchFamily="34" charset="0"/>
                <a:ea typeface="Aptos" pitchFamily="34" charset="-122"/>
                <a:cs typeface="Aptos" pitchFamily="34" charset="-120"/>
              </a:rPr>
              <a:t>Efecto buscado</a:t>
            </a:r>
            <a:endParaRPr lang="en-US" sz="1150" dirty="0"/>
          </a:p>
        </p:txBody>
      </p:sp>
      <p:sp>
        <p:nvSpPr>
          <p:cNvPr id="12" name="Text 9"/>
          <p:cNvSpPr/>
          <p:nvPr/>
        </p:nvSpPr>
        <p:spPr>
          <a:xfrm>
            <a:off x="7886700" y="4462272"/>
            <a:ext cx="3383280" cy="411480"/>
          </a:xfrm>
          <a:prstGeom prst="rect">
            <a:avLst/>
          </a:prstGeom>
          <a:noFill/>
          <a:ln/>
        </p:spPr>
        <p:txBody>
          <a:bodyPr wrap="square" lIns="0" tIns="0" rIns="0" bIns="0" rtlCol="0" anchor="ctr">
            <a:normAutofit/>
          </a:bodyPr>
          <a:lstStyle/>
          <a:p>
            <a:pPr marL="0" indent="0">
              <a:buNone/>
            </a:pPr>
            <a:r>
              <a:rPr lang="en-US" sz="940" dirty="0">
                <a:solidFill>
                  <a:srgbClr val="586777"/>
                </a:solidFill>
                <a:latin typeface="Aptos" pitchFamily="34" charset="0"/>
                <a:ea typeface="Aptos" pitchFamily="34" charset="-122"/>
                <a:cs typeface="Aptos" pitchFamily="34" charset="-120"/>
              </a:rPr>
              <a:t>Aislamiento, evolución independiente y recuperación por dominio sin mezclar datos entre operadores.</a:t>
            </a:r>
            <a:endParaRPr lang="en-US" sz="940" dirty="0"/>
          </a:p>
        </p:txBody>
      </p:sp>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5"/>
          </a:solidFill>
          <a:ln w="12700">
            <a:solidFill>
              <a:srgbClr val="2E75B5">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Decisiones arquitectónicas listas para revisión</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Qué pedimos aprobar y qué riesgos ya reconocemos</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ADRs</a:t>
            </a:r>
            <a:endParaRPr lang="en-US" sz="800" dirty="0"/>
          </a:p>
        </p:txBody>
      </p:sp>
      <p:sp>
        <p:nvSpPr>
          <p:cNvPr id="6" name="Shape 4"/>
          <p:cNvSpPr/>
          <p:nvPr/>
        </p:nvSpPr>
        <p:spPr>
          <a:xfrm>
            <a:off x="777240" y="1417320"/>
            <a:ext cx="10652760" cy="960120"/>
          </a:xfrm>
          <a:prstGeom prst="roundRect">
            <a:avLst>
              <a:gd name="adj" fmla="val 7619"/>
            </a:avLst>
          </a:prstGeom>
          <a:solidFill>
            <a:srgbClr val="FFFFFF"/>
          </a:solidFill>
          <a:ln w="12700">
            <a:solidFill>
              <a:srgbClr val="D6E4F2"/>
            </a:solidFill>
            <a:prstDash val="solid"/>
          </a:ln>
        </p:spPr>
        <p:txBody>
          <a:bodyPr/>
          <a:lstStyle/>
          <a:p>
            <a:endParaRPr lang="en-US"/>
          </a:p>
        </p:txBody>
      </p:sp>
      <p:sp>
        <p:nvSpPr>
          <p:cNvPr id="7" name="Shape 5"/>
          <p:cNvSpPr/>
          <p:nvPr/>
        </p:nvSpPr>
        <p:spPr>
          <a:xfrm>
            <a:off x="777240" y="1417320"/>
            <a:ext cx="914400" cy="960120"/>
          </a:xfrm>
          <a:prstGeom prst="rect">
            <a:avLst/>
          </a:prstGeom>
          <a:solidFill>
            <a:srgbClr val="1E4E8C"/>
          </a:solidFill>
          <a:ln w="12700">
            <a:solidFill>
              <a:srgbClr val="333333">
                <a:alpha val="0"/>
              </a:srgbClr>
            </a:solidFill>
            <a:prstDash val="solid"/>
          </a:ln>
        </p:spPr>
        <p:txBody>
          <a:bodyPr/>
          <a:lstStyle/>
          <a:p>
            <a:endParaRPr lang="en-US"/>
          </a:p>
        </p:txBody>
      </p:sp>
      <p:sp>
        <p:nvSpPr>
          <p:cNvPr id="8" name="Text 6"/>
          <p:cNvSpPr/>
          <p:nvPr/>
        </p:nvSpPr>
        <p:spPr>
          <a:xfrm>
            <a:off x="932688" y="1746504"/>
            <a:ext cx="60350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ADR-001</a:t>
            </a:r>
            <a:endParaRPr lang="en-US" sz="950" dirty="0"/>
          </a:p>
        </p:txBody>
      </p:sp>
      <p:sp>
        <p:nvSpPr>
          <p:cNvPr id="9" name="Text 7"/>
          <p:cNvSpPr/>
          <p:nvPr/>
        </p:nvSpPr>
        <p:spPr>
          <a:xfrm>
            <a:off x="1938528" y="1554480"/>
            <a:ext cx="2148840" cy="228600"/>
          </a:xfrm>
          <a:prstGeom prst="rect">
            <a:avLst/>
          </a:prstGeom>
          <a:noFill/>
          <a:ln/>
        </p:spPr>
        <p:txBody>
          <a:bodyPr wrap="square" lIns="0" tIns="0" rIns="0" bIns="0" rtlCol="0" anchor="ctr"/>
          <a:lstStyle/>
          <a:p>
            <a:pPr marL="0" indent="0">
              <a:buNone/>
            </a:pPr>
            <a:r>
              <a:rPr lang="en-US" sz="1400" b="1" dirty="0">
                <a:solidFill>
                  <a:srgbClr val="0B2545"/>
                </a:solidFill>
                <a:latin typeface="Aptos Display" pitchFamily="34" charset="0"/>
                <a:ea typeface="Aptos Display" pitchFamily="34" charset="-122"/>
                <a:cs typeface="Aptos Display" pitchFamily="34" charset="-120"/>
              </a:rPr>
              <a:t>Microservicios</a:t>
            </a:r>
            <a:endParaRPr lang="en-US" sz="1400" dirty="0"/>
          </a:p>
        </p:txBody>
      </p:sp>
      <p:sp>
        <p:nvSpPr>
          <p:cNvPr id="10" name="Text 8"/>
          <p:cNvSpPr/>
          <p:nvPr/>
        </p:nvSpPr>
        <p:spPr>
          <a:xfrm>
            <a:off x="4370832" y="1563624"/>
            <a:ext cx="3154680" cy="274320"/>
          </a:xfrm>
          <a:prstGeom prst="rect">
            <a:avLst/>
          </a:prstGeom>
          <a:noFill/>
          <a:ln/>
        </p:spPr>
        <p:txBody>
          <a:bodyPr wrap="square" lIns="0" tIns="0" rIns="0" bIns="0" rtlCol="0" anchor="ctr">
            <a:normAutofit/>
          </a:bodyPr>
          <a:lstStyle/>
          <a:p>
            <a:pPr marL="0" indent="0">
              <a:buNone/>
            </a:pPr>
            <a:r>
              <a:rPr lang="en-US" sz="1030" dirty="0">
                <a:solidFill>
                  <a:srgbClr val="111827"/>
                </a:solidFill>
                <a:latin typeface="Aptos" pitchFamily="34" charset="0"/>
                <a:ea typeface="Aptos" pitchFamily="34" charset="-122"/>
                <a:cs typeface="Aptos" pitchFamily="34" charset="-120"/>
              </a:rPr>
              <a:t>Escalamiento y evolución por capacidades de negocio.</a:t>
            </a:r>
            <a:endParaRPr lang="en-US" sz="1030" dirty="0"/>
          </a:p>
        </p:txBody>
      </p:sp>
      <p:sp>
        <p:nvSpPr>
          <p:cNvPr id="11" name="Text 9"/>
          <p:cNvSpPr/>
          <p:nvPr/>
        </p:nvSpPr>
        <p:spPr>
          <a:xfrm>
            <a:off x="7863840" y="1563624"/>
            <a:ext cx="777240" cy="201168"/>
          </a:xfrm>
          <a:prstGeom prst="rect">
            <a:avLst/>
          </a:prstGeom>
          <a:noFill/>
          <a:ln/>
        </p:spPr>
        <p:txBody>
          <a:bodyPr wrap="square" lIns="0" tIns="0" rIns="0" bIns="0" rtlCol="0" anchor="ctr"/>
          <a:lstStyle/>
          <a:p>
            <a:pPr marL="0" indent="0">
              <a:buNone/>
            </a:pPr>
            <a:r>
              <a:rPr lang="en-US" sz="950" b="1" dirty="0">
                <a:solidFill>
                  <a:srgbClr val="B42318"/>
                </a:solidFill>
                <a:latin typeface="Aptos" pitchFamily="34" charset="0"/>
                <a:ea typeface="Aptos" pitchFamily="34" charset="-122"/>
                <a:cs typeface="Aptos" pitchFamily="34" charset="-120"/>
              </a:rPr>
              <a:t>Trade-off:</a:t>
            </a:r>
            <a:endParaRPr lang="en-US" sz="950" dirty="0"/>
          </a:p>
        </p:txBody>
      </p:sp>
      <p:sp>
        <p:nvSpPr>
          <p:cNvPr id="12" name="Text 10"/>
          <p:cNvSpPr/>
          <p:nvPr/>
        </p:nvSpPr>
        <p:spPr>
          <a:xfrm>
            <a:off x="8641080" y="1563624"/>
            <a:ext cx="2331720" cy="310896"/>
          </a:xfrm>
          <a:prstGeom prst="rect">
            <a:avLst/>
          </a:prstGeom>
          <a:noFill/>
          <a:ln/>
        </p:spPr>
        <p:txBody>
          <a:bodyPr wrap="square" lIns="0" tIns="0" rIns="0" bIns="0" rtlCol="0" anchor="ctr">
            <a:normAutofit/>
          </a:bodyPr>
          <a:lstStyle/>
          <a:p>
            <a:pPr marL="0" indent="0">
              <a:buNone/>
            </a:pPr>
            <a:r>
              <a:rPr lang="en-US" sz="950" dirty="0">
                <a:solidFill>
                  <a:srgbClr val="586777"/>
                </a:solidFill>
                <a:latin typeface="Aptos" pitchFamily="34" charset="0"/>
                <a:ea typeface="Aptos" pitchFamily="34" charset="-122"/>
                <a:cs typeface="Aptos" pitchFamily="34" charset="-120"/>
              </a:rPr>
              <a:t>Complejidad distribuida</a:t>
            </a:r>
            <a:endParaRPr lang="en-US" sz="950" dirty="0"/>
          </a:p>
        </p:txBody>
      </p:sp>
      <p:sp>
        <p:nvSpPr>
          <p:cNvPr id="13" name="Text 11"/>
          <p:cNvSpPr/>
          <p:nvPr/>
        </p:nvSpPr>
        <p:spPr>
          <a:xfrm>
            <a:off x="1938528" y="2002536"/>
            <a:ext cx="8823960" cy="228600"/>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Mitigación: APIs bien definidas, eventos, observabilidad, pruebas de seguridad, automatización y límites claros de servicio.</a:t>
            </a:r>
            <a:endParaRPr lang="en-US" sz="880" dirty="0"/>
          </a:p>
        </p:txBody>
      </p:sp>
      <p:sp>
        <p:nvSpPr>
          <p:cNvPr id="14" name="Shape 12"/>
          <p:cNvSpPr/>
          <p:nvPr/>
        </p:nvSpPr>
        <p:spPr>
          <a:xfrm>
            <a:off x="777240" y="2679192"/>
            <a:ext cx="10652760" cy="960120"/>
          </a:xfrm>
          <a:prstGeom prst="roundRect">
            <a:avLst>
              <a:gd name="adj" fmla="val 7619"/>
            </a:avLst>
          </a:prstGeom>
          <a:solidFill>
            <a:srgbClr val="FFFFFF"/>
          </a:solidFill>
          <a:ln w="12700">
            <a:solidFill>
              <a:srgbClr val="D6E4F2"/>
            </a:solidFill>
            <a:prstDash val="solid"/>
          </a:ln>
        </p:spPr>
        <p:txBody>
          <a:bodyPr/>
          <a:lstStyle/>
          <a:p>
            <a:endParaRPr lang="en-US"/>
          </a:p>
        </p:txBody>
      </p:sp>
      <p:sp>
        <p:nvSpPr>
          <p:cNvPr id="15" name="Shape 13"/>
          <p:cNvSpPr/>
          <p:nvPr/>
        </p:nvSpPr>
        <p:spPr>
          <a:xfrm>
            <a:off x="777240" y="2679192"/>
            <a:ext cx="914400" cy="960120"/>
          </a:xfrm>
          <a:prstGeom prst="rect">
            <a:avLst/>
          </a:prstGeom>
          <a:solidFill>
            <a:srgbClr val="2E7D32"/>
          </a:solidFill>
          <a:ln w="12700">
            <a:solidFill>
              <a:srgbClr val="333333">
                <a:alpha val="0"/>
              </a:srgbClr>
            </a:solidFill>
            <a:prstDash val="solid"/>
          </a:ln>
        </p:spPr>
        <p:txBody>
          <a:bodyPr/>
          <a:lstStyle/>
          <a:p>
            <a:endParaRPr lang="en-US"/>
          </a:p>
        </p:txBody>
      </p:sp>
      <p:sp>
        <p:nvSpPr>
          <p:cNvPr id="16" name="Text 14"/>
          <p:cNvSpPr/>
          <p:nvPr/>
        </p:nvSpPr>
        <p:spPr>
          <a:xfrm>
            <a:off x="932688" y="3008376"/>
            <a:ext cx="60350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ADR-002</a:t>
            </a:r>
            <a:endParaRPr lang="en-US" sz="950" dirty="0"/>
          </a:p>
        </p:txBody>
      </p:sp>
      <p:sp>
        <p:nvSpPr>
          <p:cNvPr id="17" name="Text 15"/>
          <p:cNvSpPr/>
          <p:nvPr/>
        </p:nvSpPr>
        <p:spPr>
          <a:xfrm>
            <a:off x="1938528" y="2816352"/>
            <a:ext cx="2148840" cy="228600"/>
          </a:xfrm>
          <a:prstGeom prst="rect">
            <a:avLst/>
          </a:prstGeom>
          <a:noFill/>
          <a:ln/>
        </p:spPr>
        <p:txBody>
          <a:bodyPr wrap="square" lIns="0" tIns="0" rIns="0" bIns="0" rtlCol="0" anchor="ctr"/>
          <a:lstStyle/>
          <a:p>
            <a:pPr marL="0" indent="0">
              <a:buNone/>
            </a:pPr>
            <a:r>
              <a:rPr lang="en-US" sz="1400" b="1" dirty="0">
                <a:solidFill>
                  <a:srgbClr val="0B2545"/>
                </a:solidFill>
                <a:latin typeface="Aptos Display" pitchFamily="34" charset="0"/>
                <a:ea typeface="Aptos Display" pitchFamily="34" charset="-122"/>
                <a:cs typeface="Aptos Display" pitchFamily="34" charset="-120"/>
              </a:rPr>
              <a:t>SaaS multioperador</a:t>
            </a:r>
            <a:endParaRPr lang="en-US" sz="1400" dirty="0"/>
          </a:p>
        </p:txBody>
      </p:sp>
      <p:sp>
        <p:nvSpPr>
          <p:cNvPr id="18" name="Text 16"/>
          <p:cNvSpPr/>
          <p:nvPr/>
        </p:nvSpPr>
        <p:spPr>
          <a:xfrm>
            <a:off x="4370832" y="2825496"/>
            <a:ext cx="3154680" cy="274320"/>
          </a:xfrm>
          <a:prstGeom prst="rect">
            <a:avLst/>
          </a:prstGeom>
          <a:noFill/>
          <a:ln/>
        </p:spPr>
        <p:txBody>
          <a:bodyPr wrap="square" lIns="0" tIns="0" rIns="0" bIns="0" rtlCol="0" anchor="ctr">
            <a:normAutofit/>
          </a:bodyPr>
          <a:lstStyle/>
          <a:p>
            <a:pPr marL="0" indent="0">
              <a:buNone/>
            </a:pPr>
            <a:r>
              <a:rPr lang="en-US" sz="1030" dirty="0">
                <a:solidFill>
                  <a:srgbClr val="111827"/>
                </a:solidFill>
                <a:latin typeface="Aptos" pitchFamily="34" charset="0"/>
                <a:ea typeface="Aptos" pitchFamily="34" charset="-122"/>
                <a:cs typeface="Aptos" pitchFamily="34" charset="-120"/>
              </a:rPr>
              <a:t>Aislamiento lógico y configuraciones por operador.</a:t>
            </a:r>
            <a:endParaRPr lang="en-US" sz="1030" dirty="0"/>
          </a:p>
        </p:txBody>
      </p:sp>
      <p:sp>
        <p:nvSpPr>
          <p:cNvPr id="19" name="Text 17"/>
          <p:cNvSpPr/>
          <p:nvPr/>
        </p:nvSpPr>
        <p:spPr>
          <a:xfrm>
            <a:off x="7863840" y="2825496"/>
            <a:ext cx="777240" cy="201168"/>
          </a:xfrm>
          <a:prstGeom prst="rect">
            <a:avLst/>
          </a:prstGeom>
          <a:noFill/>
          <a:ln/>
        </p:spPr>
        <p:txBody>
          <a:bodyPr wrap="square" lIns="0" tIns="0" rIns="0" bIns="0" rtlCol="0" anchor="ctr"/>
          <a:lstStyle/>
          <a:p>
            <a:pPr marL="0" indent="0">
              <a:buNone/>
            </a:pPr>
            <a:r>
              <a:rPr lang="en-US" sz="950" b="1" dirty="0">
                <a:solidFill>
                  <a:srgbClr val="B42318"/>
                </a:solidFill>
                <a:latin typeface="Aptos" pitchFamily="34" charset="0"/>
                <a:ea typeface="Aptos" pitchFamily="34" charset="-122"/>
                <a:cs typeface="Aptos" pitchFamily="34" charset="-120"/>
              </a:rPr>
              <a:t>Trade-off:</a:t>
            </a:r>
            <a:endParaRPr lang="en-US" sz="950" dirty="0"/>
          </a:p>
        </p:txBody>
      </p:sp>
      <p:sp>
        <p:nvSpPr>
          <p:cNvPr id="20" name="Text 18"/>
          <p:cNvSpPr/>
          <p:nvPr/>
        </p:nvSpPr>
        <p:spPr>
          <a:xfrm>
            <a:off x="8641080" y="2825496"/>
            <a:ext cx="2331720" cy="310896"/>
          </a:xfrm>
          <a:prstGeom prst="rect">
            <a:avLst/>
          </a:prstGeom>
          <a:noFill/>
          <a:ln/>
        </p:spPr>
        <p:txBody>
          <a:bodyPr wrap="square" lIns="0" tIns="0" rIns="0" bIns="0" rtlCol="0" anchor="ctr">
            <a:normAutofit/>
          </a:bodyPr>
          <a:lstStyle/>
          <a:p>
            <a:pPr marL="0" indent="0">
              <a:buNone/>
            </a:pPr>
            <a:r>
              <a:rPr lang="en-US" sz="950" dirty="0">
                <a:solidFill>
                  <a:srgbClr val="586777"/>
                </a:solidFill>
                <a:latin typeface="Aptos" pitchFamily="34" charset="0"/>
                <a:ea typeface="Aptos" pitchFamily="34" charset="-122"/>
                <a:cs typeface="Aptos" pitchFamily="34" charset="-120"/>
              </a:rPr>
              <a:t>Riesgo de fuga entre operadores</a:t>
            </a:r>
            <a:endParaRPr lang="en-US" sz="950" dirty="0"/>
          </a:p>
        </p:txBody>
      </p:sp>
      <p:sp>
        <p:nvSpPr>
          <p:cNvPr id="21" name="Text 19"/>
          <p:cNvSpPr/>
          <p:nvPr/>
        </p:nvSpPr>
        <p:spPr>
          <a:xfrm>
            <a:off x="1938528" y="3264408"/>
            <a:ext cx="8823960" cy="228600"/>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Mitigación: APIs bien definidas, eventos, observabilidad, pruebas de seguridad, automatización y límites claros de servicio.</a:t>
            </a:r>
            <a:endParaRPr lang="en-US" sz="880" dirty="0"/>
          </a:p>
        </p:txBody>
      </p:sp>
      <p:sp>
        <p:nvSpPr>
          <p:cNvPr id="22" name="Shape 20"/>
          <p:cNvSpPr/>
          <p:nvPr/>
        </p:nvSpPr>
        <p:spPr>
          <a:xfrm>
            <a:off x="777240" y="3941064"/>
            <a:ext cx="10652760" cy="960120"/>
          </a:xfrm>
          <a:prstGeom prst="roundRect">
            <a:avLst>
              <a:gd name="adj" fmla="val 7619"/>
            </a:avLst>
          </a:prstGeom>
          <a:solidFill>
            <a:srgbClr val="FFFFFF"/>
          </a:solidFill>
          <a:ln w="12700">
            <a:solidFill>
              <a:srgbClr val="D6E4F2"/>
            </a:solidFill>
            <a:prstDash val="solid"/>
          </a:ln>
        </p:spPr>
        <p:txBody>
          <a:bodyPr/>
          <a:lstStyle/>
          <a:p>
            <a:endParaRPr lang="en-US"/>
          </a:p>
        </p:txBody>
      </p:sp>
      <p:sp>
        <p:nvSpPr>
          <p:cNvPr id="23" name="Shape 21"/>
          <p:cNvSpPr/>
          <p:nvPr/>
        </p:nvSpPr>
        <p:spPr>
          <a:xfrm>
            <a:off x="777240" y="3941064"/>
            <a:ext cx="914400" cy="960120"/>
          </a:xfrm>
          <a:prstGeom prst="rect">
            <a:avLst/>
          </a:prstGeom>
          <a:solidFill>
            <a:srgbClr val="6E4FA3"/>
          </a:solidFill>
          <a:ln w="12700">
            <a:solidFill>
              <a:srgbClr val="333333">
                <a:alpha val="0"/>
              </a:srgbClr>
            </a:solidFill>
            <a:prstDash val="solid"/>
          </a:ln>
        </p:spPr>
        <p:txBody>
          <a:bodyPr/>
          <a:lstStyle/>
          <a:p>
            <a:endParaRPr lang="en-US"/>
          </a:p>
        </p:txBody>
      </p:sp>
      <p:sp>
        <p:nvSpPr>
          <p:cNvPr id="24" name="Text 22"/>
          <p:cNvSpPr/>
          <p:nvPr/>
        </p:nvSpPr>
        <p:spPr>
          <a:xfrm>
            <a:off x="932688" y="4270248"/>
            <a:ext cx="60350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ADR-003</a:t>
            </a:r>
            <a:endParaRPr lang="en-US" sz="950" dirty="0"/>
          </a:p>
        </p:txBody>
      </p:sp>
      <p:sp>
        <p:nvSpPr>
          <p:cNvPr id="25" name="Text 23"/>
          <p:cNvSpPr/>
          <p:nvPr/>
        </p:nvSpPr>
        <p:spPr>
          <a:xfrm>
            <a:off x="1938528" y="4078224"/>
            <a:ext cx="2148840" cy="228600"/>
          </a:xfrm>
          <a:prstGeom prst="rect">
            <a:avLst/>
          </a:prstGeom>
          <a:noFill/>
          <a:ln/>
        </p:spPr>
        <p:txBody>
          <a:bodyPr wrap="square" lIns="0" tIns="0" rIns="0" bIns="0" rtlCol="0" anchor="ctr"/>
          <a:lstStyle/>
          <a:p>
            <a:pPr marL="0" indent="0">
              <a:buNone/>
            </a:pPr>
            <a:r>
              <a:rPr lang="en-US" sz="1400" b="1" dirty="0">
                <a:solidFill>
                  <a:srgbClr val="0B2545"/>
                </a:solidFill>
                <a:latin typeface="Aptos Display" pitchFamily="34" charset="0"/>
                <a:ea typeface="Aptos Display" pitchFamily="34" charset="-122"/>
                <a:cs typeface="Aptos Display" pitchFamily="34" charset="-120"/>
              </a:rPr>
              <a:t>Persistencia políglota distribuida</a:t>
            </a:r>
            <a:endParaRPr lang="en-US" sz="1400" dirty="0"/>
          </a:p>
        </p:txBody>
      </p:sp>
      <p:sp>
        <p:nvSpPr>
          <p:cNvPr id="26" name="Text 24"/>
          <p:cNvSpPr/>
          <p:nvPr/>
        </p:nvSpPr>
        <p:spPr>
          <a:xfrm>
            <a:off x="4370832" y="4087368"/>
            <a:ext cx="3154680" cy="274320"/>
          </a:xfrm>
          <a:prstGeom prst="rect">
            <a:avLst/>
          </a:prstGeom>
          <a:noFill/>
          <a:ln/>
        </p:spPr>
        <p:txBody>
          <a:bodyPr wrap="square" lIns="0" tIns="0" rIns="0" bIns="0" rtlCol="0" anchor="ctr">
            <a:normAutofit/>
          </a:bodyPr>
          <a:lstStyle/>
          <a:p>
            <a:pPr marL="0" indent="0">
              <a:buNone/>
            </a:pPr>
            <a:r>
              <a:rPr lang="en-US" sz="1030" dirty="0">
                <a:solidFill>
                  <a:srgbClr val="111827"/>
                </a:solidFill>
                <a:latin typeface="Aptos" pitchFamily="34" charset="0"/>
                <a:ea typeface="Aptos" pitchFamily="34" charset="-122"/>
                <a:cs typeface="Aptos" pitchFamily="34" charset="-120"/>
              </a:rPr>
              <a:t>Base por servicio, offline móvil y auditoría separada.</a:t>
            </a:r>
            <a:endParaRPr lang="en-US" sz="1030" dirty="0"/>
          </a:p>
        </p:txBody>
      </p:sp>
      <p:sp>
        <p:nvSpPr>
          <p:cNvPr id="27" name="Text 25"/>
          <p:cNvSpPr/>
          <p:nvPr/>
        </p:nvSpPr>
        <p:spPr>
          <a:xfrm>
            <a:off x="7863840" y="4087368"/>
            <a:ext cx="777240" cy="201168"/>
          </a:xfrm>
          <a:prstGeom prst="rect">
            <a:avLst/>
          </a:prstGeom>
          <a:noFill/>
          <a:ln/>
        </p:spPr>
        <p:txBody>
          <a:bodyPr wrap="square" lIns="0" tIns="0" rIns="0" bIns="0" rtlCol="0" anchor="ctr"/>
          <a:lstStyle/>
          <a:p>
            <a:pPr marL="0" indent="0">
              <a:buNone/>
            </a:pPr>
            <a:r>
              <a:rPr lang="en-US" sz="950" b="1" dirty="0">
                <a:solidFill>
                  <a:srgbClr val="B42318"/>
                </a:solidFill>
                <a:latin typeface="Aptos" pitchFamily="34" charset="0"/>
                <a:ea typeface="Aptos" pitchFamily="34" charset="-122"/>
                <a:cs typeface="Aptos" pitchFamily="34" charset="-120"/>
              </a:rPr>
              <a:t>Trade-off:</a:t>
            </a:r>
            <a:endParaRPr lang="en-US" sz="950" dirty="0"/>
          </a:p>
        </p:txBody>
      </p:sp>
      <p:sp>
        <p:nvSpPr>
          <p:cNvPr id="28" name="Text 26"/>
          <p:cNvSpPr/>
          <p:nvPr/>
        </p:nvSpPr>
        <p:spPr>
          <a:xfrm>
            <a:off x="8641080" y="4087368"/>
            <a:ext cx="2331720" cy="310896"/>
          </a:xfrm>
          <a:prstGeom prst="rect">
            <a:avLst/>
          </a:prstGeom>
          <a:noFill/>
          <a:ln/>
        </p:spPr>
        <p:txBody>
          <a:bodyPr wrap="square" lIns="0" tIns="0" rIns="0" bIns="0" rtlCol="0" anchor="ctr">
            <a:normAutofit/>
          </a:bodyPr>
          <a:lstStyle/>
          <a:p>
            <a:pPr marL="0" indent="0">
              <a:buNone/>
            </a:pPr>
            <a:r>
              <a:rPr lang="en-US" sz="950" dirty="0">
                <a:solidFill>
                  <a:srgbClr val="586777"/>
                </a:solidFill>
                <a:latin typeface="Aptos" pitchFamily="34" charset="0"/>
                <a:ea typeface="Aptos" pitchFamily="34" charset="-122"/>
                <a:cs typeface="Aptos" pitchFamily="34" charset="-120"/>
              </a:rPr>
              <a:t>Consistencia eventual y operación más compleja</a:t>
            </a:r>
            <a:endParaRPr lang="en-US" sz="950" dirty="0"/>
          </a:p>
        </p:txBody>
      </p:sp>
      <p:sp>
        <p:nvSpPr>
          <p:cNvPr id="29" name="Text 27"/>
          <p:cNvSpPr/>
          <p:nvPr/>
        </p:nvSpPr>
        <p:spPr>
          <a:xfrm>
            <a:off x="1938528" y="4526280"/>
            <a:ext cx="8823960" cy="228600"/>
          </a:xfrm>
          <a:prstGeom prst="rect">
            <a:avLst/>
          </a:prstGeom>
          <a:noFill/>
          <a:ln/>
        </p:spPr>
        <p:txBody>
          <a:bodyPr wrap="square" lIns="0" tIns="0" rIns="0" bIns="0" rtlCol="0" anchor="ctr">
            <a:normAutofit/>
          </a:bodyPr>
          <a:lstStyle/>
          <a:p>
            <a:pPr marL="0" indent="0">
              <a:buNone/>
            </a:pPr>
            <a:r>
              <a:rPr lang="en-US" sz="880" dirty="0">
                <a:solidFill>
                  <a:srgbClr val="586777"/>
                </a:solidFill>
                <a:latin typeface="Aptos" pitchFamily="34" charset="0"/>
                <a:ea typeface="Aptos" pitchFamily="34" charset="-122"/>
                <a:cs typeface="Aptos" pitchFamily="34" charset="-120"/>
              </a:rPr>
              <a:t>Mitigación: APIs bien definidas, eventos, observabilidad, pruebas de seguridad, automatización y límites claros de servicio.</a:t>
            </a:r>
            <a:endParaRPr lang="en-US" sz="880" dirty="0"/>
          </a:p>
        </p:txBody>
      </p:sp>
      <p:sp>
        <p:nvSpPr>
          <p:cNvPr id="30" name="Text 28"/>
          <p:cNvSpPr/>
          <p:nvPr/>
        </p:nvSpPr>
        <p:spPr>
          <a:xfrm>
            <a:off x="822960" y="5413248"/>
            <a:ext cx="5486400" cy="274320"/>
          </a:xfrm>
          <a:prstGeom prst="rect">
            <a:avLst/>
          </a:prstGeom>
          <a:noFill/>
          <a:ln/>
        </p:spPr>
        <p:txBody>
          <a:bodyPr wrap="square" lIns="0" tIns="0" rIns="0" bIns="0" rtlCol="0" anchor="ctr"/>
          <a:lstStyle/>
          <a:p>
            <a:pPr marL="0" indent="0">
              <a:buNone/>
            </a:pPr>
            <a:r>
              <a:rPr lang="en-US" sz="1150" b="1" dirty="0">
                <a:solidFill>
                  <a:srgbClr val="0B2545"/>
                </a:solidFill>
                <a:latin typeface="Aptos" pitchFamily="34" charset="0"/>
                <a:ea typeface="Aptos" pitchFamily="34" charset="-122"/>
                <a:cs typeface="Aptos" pitchFamily="34" charset="-120"/>
              </a:rPr>
              <a:t>Estado de las decisiones: Pendientes de aprobar por Salchipapos.</a:t>
            </a:r>
            <a:endParaRPr lang="en-US" sz="1150" dirty="0"/>
          </a:p>
        </p:txBody>
      </p:sp>
      <p:sp>
        <p:nvSpPr>
          <p:cNvPr id="31"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E4E8C"/>
          </a:solidFill>
          <a:ln w="12700">
            <a:solidFill>
              <a:srgbClr val="1E4E8C">
                <a:alpha val="0"/>
              </a:srgbClr>
            </a:solidFill>
            <a:prstDash val="solid"/>
          </a:ln>
        </p:spPr>
        <p:txBody>
          <a:bodyPr/>
          <a:lstStyle/>
          <a:p>
            <a:endParaRPr lang="en-US"/>
          </a:p>
        </p:txBody>
      </p:sp>
      <p:sp>
        <p:nvSpPr>
          <p:cNvPr id="3" name="Text 1"/>
          <p:cNvSpPr/>
          <p:nvPr/>
        </p:nvSpPr>
        <p:spPr>
          <a:xfrm>
            <a:off x="548640" y="320040"/>
            <a:ext cx="7772400" cy="384048"/>
          </a:xfrm>
          <a:prstGeom prst="rect">
            <a:avLst/>
          </a:prstGeom>
          <a:noFill/>
          <a:ln/>
        </p:spPr>
        <p:txBody>
          <a:bodyPr wrap="square" lIns="0" tIns="0" rIns="0" bIns="0" rtlCol="0" anchor="ctr"/>
          <a:lstStyle/>
          <a:p>
            <a:pPr marL="0" indent="0">
              <a:buNone/>
            </a:pPr>
            <a:r>
              <a:rPr lang="en-US" sz="2500" b="1" dirty="0">
                <a:solidFill>
                  <a:srgbClr val="0B2545"/>
                </a:solidFill>
                <a:latin typeface="Aptos Display" pitchFamily="34" charset="0"/>
                <a:ea typeface="Aptos Display" pitchFamily="34" charset="-122"/>
                <a:cs typeface="Aptos Display" pitchFamily="34" charset="-120"/>
              </a:rPr>
              <a:t>Solicitud de feedback a la Junta Directiva</a:t>
            </a:r>
            <a:endParaRPr lang="en-US" sz="2500" dirty="0"/>
          </a:p>
        </p:txBody>
      </p:sp>
      <p:sp>
        <p:nvSpPr>
          <p:cNvPr id="4" name="Text 2"/>
          <p:cNvSpPr/>
          <p:nvPr/>
        </p:nvSpPr>
        <p:spPr>
          <a:xfrm>
            <a:off x="566928" y="768096"/>
            <a:ext cx="7680960" cy="237744"/>
          </a:xfrm>
          <a:prstGeom prst="rect">
            <a:avLst/>
          </a:prstGeom>
          <a:noFill/>
          <a:ln/>
        </p:spPr>
        <p:txBody>
          <a:bodyPr wrap="square" lIns="0" tIns="0" rIns="0" bIns="0" rtlCol="0" anchor="ctr"/>
          <a:lstStyle/>
          <a:p>
            <a:pPr marL="0" indent="0">
              <a:buNone/>
            </a:pPr>
            <a:r>
              <a:rPr lang="en-US" sz="1050" dirty="0">
                <a:solidFill>
                  <a:srgbClr val="586777"/>
                </a:solidFill>
                <a:latin typeface="Aptos" pitchFamily="34" charset="0"/>
                <a:ea typeface="Aptos" pitchFamily="34" charset="-122"/>
                <a:cs typeface="Aptos" pitchFamily="34" charset="-120"/>
              </a:rPr>
              <a:t>Validaciones necesarias para avanzar a las siguientes vistas arc42</a:t>
            </a:r>
            <a:endParaRPr lang="en-US" sz="1050" dirty="0"/>
          </a:p>
        </p:txBody>
      </p:sp>
      <p:sp>
        <p:nvSpPr>
          <p:cNvPr id="5" name="Text 3"/>
          <p:cNvSpPr/>
          <p:nvPr/>
        </p:nvSpPr>
        <p:spPr>
          <a:xfrm>
            <a:off x="566928" y="1060704"/>
            <a:ext cx="1417320" cy="219456"/>
          </a:xfrm>
          <a:prstGeom prst="roundRect">
            <a:avLst>
              <a:gd name="adj" fmla="val 20833"/>
            </a:avLst>
          </a:prstGeom>
          <a:solidFill>
            <a:srgbClr val="1E4E8C"/>
          </a:solidFill>
          <a:ln>
            <a:solidFill>
              <a:srgbClr val="1E4E8C">
                <a:alpha val="0"/>
              </a:srgbClr>
            </a:solidFill>
          </a:ln>
        </p:spPr>
        <p:txBody>
          <a:bodyPr wrap="square" lIns="0" tIns="0" rIns="0" bIns="0" rtlCol="0" anchor="ctr"/>
          <a:lstStyle/>
          <a:p>
            <a:pPr marL="0" indent="0" algn="ctr">
              <a:buNone/>
            </a:pPr>
            <a:r>
              <a:rPr lang="en-US" sz="800" b="1" dirty="0">
                <a:solidFill>
                  <a:srgbClr val="FFFFFF"/>
                </a:solidFill>
                <a:latin typeface="Aptos" pitchFamily="34" charset="0"/>
                <a:ea typeface="Aptos" pitchFamily="34" charset="-122"/>
                <a:cs typeface="Aptos" pitchFamily="34" charset="-120"/>
              </a:rPr>
              <a:t>feedback</a:t>
            </a:r>
            <a:endParaRPr lang="en-US" sz="800" dirty="0"/>
          </a:p>
        </p:txBody>
      </p:sp>
      <p:sp>
        <p:nvSpPr>
          <p:cNvPr id="6" name="Text 4"/>
          <p:cNvSpPr/>
          <p:nvPr/>
        </p:nvSpPr>
        <p:spPr>
          <a:xfrm>
            <a:off x="731520" y="1417320"/>
            <a:ext cx="4114800" cy="320040"/>
          </a:xfrm>
          <a:prstGeom prst="rect">
            <a:avLst/>
          </a:prstGeom>
          <a:noFill/>
          <a:ln/>
        </p:spPr>
        <p:txBody>
          <a:bodyPr wrap="square" lIns="0" tIns="0" rIns="0" bIns="0" rtlCol="0" anchor="ctr"/>
          <a:lstStyle/>
          <a:p>
            <a:pPr marL="0" indent="0">
              <a:buNone/>
            </a:pPr>
            <a:r>
              <a:rPr lang="en-US" sz="1800" b="1" dirty="0">
                <a:solidFill>
                  <a:srgbClr val="0B2545"/>
                </a:solidFill>
                <a:latin typeface="Aptos Display" pitchFamily="34" charset="0"/>
                <a:ea typeface="Aptos Display" pitchFamily="34" charset="-122"/>
                <a:cs typeface="Aptos Display" pitchFamily="34" charset="-120"/>
              </a:rPr>
              <a:t>Preguntas de revisión</a:t>
            </a:r>
            <a:endParaRPr lang="en-US" sz="1800" dirty="0"/>
          </a:p>
        </p:txBody>
      </p:sp>
      <p:sp>
        <p:nvSpPr>
          <p:cNvPr id="7" name="Shape 5"/>
          <p:cNvSpPr/>
          <p:nvPr/>
        </p:nvSpPr>
        <p:spPr>
          <a:xfrm>
            <a:off x="868680" y="1938528"/>
            <a:ext cx="347472" cy="347472"/>
          </a:xfrm>
          <a:prstGeom prst="ellipse">
            <a:avLst/>
          </a:prstGeom>
          <a:solidFill>
            <a:srgbClr val="2E7D32"/>
          </a:solidFill>
          <a:ln w="12700">
            <a:solidFill>
              <a:srgbClr val="333333">
                <a:alpha val="0"/>
              </a:srgbClr>
            </a:solidFill>
            <a:prstDash val="solid"/>
          </a:ln>
        </p:spPr>
        <p:txBody>
          <a:bodyPr/>
          <a:lstStyle/>
          <a:p>
            <a:endParaRPr lang="en-US"/>
          </a:p>
        </p:txBody>
      </p:sp>
      <p:sp>
        <p:nvSpPr>
          <p:cNvPr id="8" name="Text 6"/>
          <p:cNvSpPr/>
          <p:nvPr/>
        </p:nvSpPr>
        <p:spPr>
          <a:xfrm>
            <a:off x="1389888" y="1920240"/>
            <a:ext cx="1463040" cy="201168"/>
          </a:xfrm>
          <a:prstGeom prst="rect">
            <a:avLst/>
          </a:prstGeom>
          <a:noFill/>
          <a:ln/>
        </p:spPr>
        <p:txBody>
          <a:bodyPr wrap="square" lIns="0" tIns="0" rIns="0" bIns="0" rtlCol="0" anchor="ctr"/>
          <a:lstStyle/>
          <a:p>
            <a:pPr marL="0" indent="0">
              <a:buNone/>
            </a:pPr>
            <a:r>
              <a:rPr lang="en-US" sz="1100" b="1" dirty="0">
                <a:solidFill>
                  <a:srgbClr val="0B2545"/>
                </a:solidFill>
                <a:latin typeface="Aptos" pitchFamily="34" charset="0"/>
                <a:ea typeface="Aptos" pitchFamily="34" charset="-122"/>
                <a:cs typeface="Aptos" pitchFamily="34" charset="-120"/>
              </a:rPr>
              <a:t>Disponibilidad</a:t>
            </a:r>
            <a:endParaRPr lang="en-US" sz="1100" dirty="0"/>
          </a:p>
        </p:txBody>
      </p:sp>
      <p:sp>
        <p:nvSpPr>
          <p:cNvPr id="9" name="Text 7"/>
          <p:cNvSpPr/>
          <p:nvPr/>
        </p:nvSpPr>
        <p:spPr>
          <a:xfrm>
            <a:off x="2971800" y="1911096"/>
            <a:ext cx="4754880" cy="256032"/>
          </a:xfrm>
          <a:prstGeom prst="rect">
            <a:avLst/>
          </a:prstGeom>
          <a:noFill/>
          <a:ln/>
        </p:spPr>
        <p:txBody>
          <a:bodyPr wrap="square" lIns="0" tIns="0" rIns="0" bIns="0"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¿El nivel de continuidad esperado justifica la separación de servicios y eventos?</a:t>
            </a:r>
            <a:endParaRPr lang="en-US" sz="1050" dirty="0"/>
          </a:p>
        </p:txBody>
      </p:sp>
      <p:sp>
        <p:nvSpPr>
          <p:cNvPr id="10" name="Shape 8"/>
          <p:cNvSpPr/>
          <p:nvPr/>
        </p:nvSpPr>
        <p:spPr>
          <a:xfrm>
            <a:off x="868680" y="2688336"/>
            <a:ext cx="347472" cy="347472"/>
          </a:xfrm>
          <a:prstGeom prst="ellipse">
            <a:avLst/>
          </a:prstGeom>
          <a:solidFill>
            <a:srgbClr val="F2A900"/>
          </a:solidFill>
          <a:ln w="12700">
            <a:solidFill>
              <a:srgbClr val="333333">
                <a:alpha val="0"/>
              </a:srgbClr>
            </a:solidFill>
            <a:prstDash val="solid"/>
          </a:ln>
        </p:spPr>
        <p:txBody>
          <a:bodyPr/>
          <a:lstStyle/>
          <a:p>
            <a:endParaRPr lang="en-US"/>
          </a:p>
        </p:txBody>
      </p:sp>
      <p:sp>
        <p:nvSpPr>
          <p:cNvPr id="11" name="Text 9"/>
          <p:cNvSpPr/>
          <p:nvPr/>
        </p:nvSpPr>
        <p:spPr>
          <a:xfrm>
            <a:off x="1389888" y="2670048"/>
            <a:ext cx="1463040" cy="201168"/>
          </a:xfrm>
          <a:prstGeom prst="rect">
            <a:avLst/>
          </a:prstGeom>
          <a:noFill/>
          <a:ln/>
        </p:spPr>
        <p:txBody>
          <a:bodyPr wrap="square" lIns="0" tIns="0" rIns="0" bIns="0" rtlCol="0" anchor="ctr"/>
          <a:lstStyle/>
          <a:p>
            <a:pPr marL="0" indent="0">
              <a:buNone/>
            </a:pPr>
            <a:r>
              <a:rPr lang="en-US" sz="1100" b="1" dirty="0">
                <a:solidFill>
                  <a:srgbClr val="0B2545"/>
                </a:solidFill>
                <a:latin typeface="Aptos" pitchFamily="34" charset="0"/>
                <a:ea typeface="Aptos" pitchFamily="34" charset="-122"/>
                <a:cs typeface="Aptos" pitchFamily="34" charset="-120"/>
              </a:rPr>
              <a:t>Costos</a:t>
            </a:r>
            <a:endParaRPr lang="en-US" sz="1100" dirty="0"/>
          </a:p>
        </p:txBody>
      </p:sp>
      <p:sp>
        <p:nvSpPr>
          <p:cNvPr id="12" name="Text 10"/>
          <p:cNvSpPr/>
          <p:nvPr/>
        </p:nvSpPr>
        <p:spPr>
          <a:xfrm>
            <a:off x="2971800" y="2660904"/>
            <a:ext cx="4754880" cy="256032"/>
          </a:xfrm>
          <a:prstGeom prst="rect">
            <a:avLst/>
          </a:prstGeom>
          <a:noFill/>
          <a:ln/>
        </p:spPr>
        <p:txBody>
          <a:bodyPr wrap="square" lIns="0" tIns="0" rIns="0" bIns="0" rtlCol="0" anchor="ctr">
            <a:normAutofit fontScale="92500"/>
          </a:bodyPr>
          <a:lstStyle/>
          <a:p>
            <a:pPr marL="0" indent="0">
              <a:buNone/>
            </a:pPr>
            <a:r>
              <a:rPr lang="en-US" sz="1050" dirty="0">
                <a:solidFill>
                  <a:srgbClr val="111827"/>
                </a:solidFill>
                <a:latin typeface="Aptos" pitchFamily="34" charset="0"/>
                <a:ea typeface="Aptos" pitchFamily="34" charset="-122"/>
                <a:cs typeface="Aptos" pitchFamily="34" charset="-120"/>
              </a:rPr>
              <a:t>¿Aceptan iniciar con infraestructura compartida administrada y escalar por dominio?</a:t>
            </a:r>
            <a:endParaRPr lang="en-US" sz="1050" dirty="0"/>
          </a:p>
        </p:txBody>
      </p:sp>
      <p:sp>
        <p:nvSpPr>
          <p:cNvPr id="13" name="Shape 11"/>
          <p:cNvSpPr/>
          <p:nvPr/>
        </p:nvSpPr>
        <p:spPr>
          <a:xfrm>
            <a:off x="868680" y="3438144"/>
            <a:ext cx="347472" cy="347472"/>
          </a:xfrm>
          <a:prstGeom prst="ellipse">
            <a:avLst/>
          </a:prstGeom>
          <a:solidFill>
            <a:srgbClr val="2E75B5"/>
          </a:solidFill>
          <a:ln w="12700">
            <a:solidFill>
              <a:srgbClr val="333333">
                <a:alpha val="0"/>
              </a:srgbClr>
            </a:solidFill>
            <a:prstDash val="solid"/>
          </a:ln>
        </p:spPr>
        <p:txBody>
          <a:bodyPr/>
          <a:lstStyle/>
          <a:p>
            <a:endParaRPr lang="en-US"/>
          </a:p>
        </p:txBody>
      </p:sp>
      <p:sp>
        <p:nvSpPr>
          <p:cNvPr id="14" name="Text 12"/>
          <p:cNvSpPr/>
          <p:nvPr/>
        </p:nvSpPr>
        <p:spPr>
          <a:xfrm>
            <a:off x="1389888" y="3419856"/>
            <a:ext cx="1463040" cy="201168"/>
          </a:xfrm>
          <a:prstGeom prst="rect">
            <a:avLst/>
          </a:prstGeom>
          <a:noFill/>
          <a:ln/>
        </p:spPr>
        <p:txBody>
          <a:bodyPr wrap="square" lIns="0" tIns="0" rIns="0" bIns="0" rtlCol="0" anchor="ctr"/>
          <a:lstStyle/>
          <a:p>
            <a:pPr marL="0" indent="0">
              <a:buNone/>
            </a:pPr>
            <a:r>
              <a:rPr lang="en-US" sz="1100" b="1" dirty="0">
                <a:solidFill>
                  <a:srgbClr val="0B2545"/>
                </a:solidFill>
                <a:latin typeface="Aptos" pitchFamily="34" charset="0"/>
                <a:ea typeface="Aptos" pitchFamily="34" charset="-122"/>
                <a:cs typeface="Aptos" pitchFamily="34" charset="-120"/>
              </a:rPr>
              <a:t>Negocio</a:t>
            </a:r>
            <a:endParaRPr lang="en-US" sz="1100" dirty="0"/>
          </a:p>
        </p:txBody>
      </p:sp>
      <p:sp>
        <p:nvSpPr>
          <p:cNvPr id="15" name="Text 13"/>
          <p:cNvSpPr/>
          <p:nvPr/>
        </p:nvSpPr>
        <p:spPr>
          <a:xfrm>
            <a:off x="2971800" y="3410712"/>
            <a:ext cx="4754880" cy="256032"/>
          </a:xfrm>
          <a:prstGeom prst="rect">
            <a:avLst/>
          </a:prstGeom>
          <a:noFill/>
          <a:ln/>
        </p:spPr>
        <p:txBody>
          <a:bodyPr wrap="square" lIns="0" tIns="0" rIns="0" bIns="0"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¿Los límites de contenedores reflejan correctamente escolar, turismo y mascotas?</a:t>
            </a:r>
            <a:endParaRPr lang="en-US" sz="1050" dirty="0"/>
          </a:p>
        </p:txBody>
      </p:sp>
      <p:sp>
        <p:nvSpPr>
          <p:cNvPr id="16" name="Shape 14"/>
          <p:cNvSpPr/>
          <p:nvPr/>
        </p:nvSpPr>
        <p:spPr>
          <a:xfrm>
            <a:off x="868680" y="4187952"/>
            <a:ext cx="347472" cy="347472"/>
          </a:xfrm>
          <a:prstGeom prst="ellipse">
            <a:avLst/>
          </a:prstGeom>
          <a:solidFill>
            <a:srgbClr val="6E4FA3"/>
          </a:solidFill>
          <a:ln w="12700">
            <a:solidFill>
              <a:srgbClr val="333333">
                <a:alpha val="0"/>
              </a:srgbClr>
            </a:solidFill>
            <a:prstDash val="solid"/>
          </a:ln>
        </p:spPr>
        <p:txBody>
          <a:bodyPr/>
          <a:lstStyle/>
          <a:p>
            <a:endParaRPr lang="en-US"/>
          </a:p>
        </p:txBody>
      </p:sp>
      <p:sp>
        <p:nvSpPr>
          <p:cNvPr id="17" name="Text 15"/>
          <p:cNvSpPr/>
          <p:nvPr/>
        </p:nvSpPr>
        <p:spPr>
          <a:xfrm>
            <a:off x="1389888" y="4169664"/>
            <a:ext cx="1463040" cy="201168"/>
          </a:xfrm>
          <a:prstGeom prst="rect">
            <a:avLst/>
          </a:prstGeom>
          <a:noFill/>
          <a:ln/>
        </p:spPr>
        <p:txBody>
          <a:bodyPr wrap="square" lIns="0" tIns="0" rIns="0" bIns="0" rtlCol="0" anchor="ctr"/>
          <a:lstStyle/>
          <a:p>
            <a:pPr marL="0" indent="0">
              <a:buNone/>
            </a:pPr>
            <a:r>
              <a:rPr lang="en-US" sz="1100" b="1" dirty="0">
                <a:solidFill>
                  <a:srgbClr val="0B2545"/>
                </a:solidFill>
                <a:latin typeface="Aptos" pitchFamily="34" charset="0"/>
                <a:ea typeface="Aptos" pitchFamily="34" charset="-122"/>
                <a:cs typeface="Aptos" pitchFamily="34" charset="-120"/>
              </a:rPr>
              <a:t>Riesgo</a:t>
            </a:r>
            <a:endParaRPr lang="en-US" sz="1100" dirty="0"/>
          </a:p>
        </p:txBody>
      </p:sp>
      <p:sp>
        <p:nvSpPr>
          <p:cNvPr id="18" name="Text 16"/>
          <p:cNvSpPr/>
          <p:nvPr/>
        </p:nvSpPr>
        <p:spPr>
          <a:xfrm>
            <a:off x="2971800" y="4160520"/>
            <a:ext cx="4754880" cy="256032"/>
          </a:xfrm>
          <a:prstGeom prst="rect">
            <a:avLst/>
          </a:prstGeom>
          <a:noFill/>
          <a:ln/>
        </p:spPr>
        <p:txBody>
          <a:bodyPr wrap="square" lIns="0" tIns="0" rIns="0" bIns="0"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¿Qué procesos críticos requieren escenarios de recuperación medibles desde ya?</a:t>
            </a:r>
            <a:endParaRPr lang="en-US" sz="1050" dirty="0"/>
          </a:p>
        </p:txBody>
      </p:sp>
      <p:sp>
        <p:nvSpPr>
          <p:cNvPr id="22" name="Text 20"/>
          <p:cNvSpPr/>
          <p:nvPr/>
        </p:nvSpPr>
        <p:spPr>
          <a:xfrm>
            <a:off x="868680" y="5522976"/>
            <a:ext cx="2743200" cy="228600"/>
          </a:xfrm>
          <a:prstGeom prst="rect">
            <a:avLst/>
          </a:prstGeom>
          <a:noFill/>
          <a:ln/>
        </p:spPr>
        <p:txBody>
          <a:bodyPr wrap="square" lIns="0" tIns="0" rIns="0" bIns="0" rtlCol="0" anchor="ctr"/>
          <a:lstStyle/>
          <a:p>
            <a:pPr marL="0" indent="0">
              <a:buNone/>
            </a:pPr>
            <a:r>
              <a:rPr lang="en-US" sz="1450" b="1" dirty="0">
                <a:solidFill>
                  <a:srgbClr val="0B2545"/>
                </a:solidFill>
                <a:latin typeface="Aptos Display" pitchFamily="34" charset="0"/>
                <a:ea typeface="Aptos Display" pitchFamily="34" charset="-122"/>
                <a:cs typeface="Aptos Display" pitchFamily="34" charset="-120"/>
              </a:rPr>
              <a:t>Decisión solicitada hoy</a:t>
            </a:r>
            <a:endParaRPr lang="en-US" sz="1450" dirty="0"/>
          </a:p>
        </p:txBody>
      </p:sp>
      <p:sp>
        <p:nvSpPr>
          <p:cNvPr id="23" name="Text 21"/>
          <p:cNvSpPr/>
          <p:nvPr/>
        </p:nvSpPr>
        <p:spPr>
          <a:xfrm>
            <a:off x="4069080" y="5541264"/>
            <a:ext cx="6492240" cy="201168"/>
          </a:xfrm>
          <a:prstGeom prst="rect">
            <a:avLst/>
          </a:prstGeom>
          <a:noFill/>
          <a:ln/>
        </p:spPr>
        <p:txBody>
          <a:bodyPr wrap="square" lIns="0" tIns="0" rIns="0" bIns="0" rtlCol="0" anchor="ctr">
            <a:normAutofit fontScale="85000" lnSpcReduction="10000"/>
          </a:bodyPr>
          <a:lstStyle/>
          <a:p>
            <a:pPr marL="0" indent="0">
              <a:buNone/>
            </a:pPr>
            <a:r>
              <a:rPr lang="en-US" sz="1060" b="1" dirty="0">
                <a:solidFill>
                  <a:srgbClr val="1E4E8C"/>
                </a:solidFill>
                <a:latin typeface="Aptos" pitchFamily="34" charset="0"/>
                <a:ea typeface="Aptos" pitchFamily="34" charset="-122"/>
                <a:cs typeface="Aptos" pitchFamily="34" charset="-120"/>
              </a:rPr>
              <a:t>Aprobar el enfoque de contenedores como base para completar ejecución, despliegue y escenarios medibles de calidad.</a:t>
            </a:r>
            <a:endParaRPr lang="en-US" sz="1060" dirty="0"/>
          </a:p>
        </p:txBody>
      </p:sp>
      <p:sp>
        <p:nvSpPr>
          <p:cNvPr id="25" name="Slide Number Placeholder 0"/>
          <p:cNvSpPr>
            <a:spLocks noGrp="1"/>
          </p:cNvSpPr>
          <p:nvPr>
            <p:ph type="sldNum" sz="quarter" idx="4294967295"/>
          </p:nvPr>
        </p:nvSpPr>
        <p:spPr>
          <a:xfrm>
            <a:off x="1122883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D6D7E"/>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1346</Words>
  <Application>Microsoft Office PowerPoint</Application>
  <PresentationFormat>Widescreen</PresentationFormat>
  <Paragraphs>192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Universidad CENFOTEC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Movix - Presentación Architecture Review Board</dc:title>
  <dc:subject>Architecture Review Board - Movix</dc:subject>
  <dc:creator>Design Nexus</dc:creator>
  <cp:lastModifiedBy>Tomás Azofeifa</cp:lastModifiedBy>
  <cp:revision>2</cp:revision>
  <dcterms:created xsi:type="dcterms:W3CDTF">2026-07-11T05:12:33Z</dcterms:created>
  <dcterms:modified xsi:type="dcterms:W3CDTF">2026-07-11T05:24:13Z</dcterms:modified>
</cp:coreProperties>
</file>